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Sourav and Riyad, and our project is GoDrip, a fashion e-commerce platform. The interface lets people shop, but the real coordination happens in the database. In seven minutes, we will show how the system connects products, variants, stock, orders, fulfilment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started with one problem: consistency. Customers need the right item, size, color, price and availability. Managers need reliable product, stock, order and fulfilment information. If those facts are stored separately or repeated, the interface can show conflicting answers. GoDrip therefore uses one relational core to support two journeys: a customer journey from discovery to review, and a manager journey from catalog control to operational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separates responsibility. React and Vite handle the customer and manager interfaces. Axios attaches the bearer token and calls FastAPI. FastAPI validates requests with Pydantic, applies authentication and role checks, and delegates data access through CRUD and SQLAlchemy. PostgreSQL stores the relational facts. Supabase Auth provides identity and JWT validation, while FastAPI also serves product media. This separation makes each layer easier to test, replace and debug.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target schema contains forty-five tables, but it remains understandable because each table has one business responsibility. Lookup and administration define controlled values and permissions. Catalog and product tables describe what is sold. Customer tables support identity and shopping state. Inventory tables locate and audit stock. Sales tables preserve the order lifecycle, and feedback closes the loop. The migrations also define sixty-five indexes, twelve functions, eleven triggers and seventeen views. Importantly, the active API currently maps only a ten-table core; the full target is the next deployment stage.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ER view explains the most important catalog decision. A product stores shared information such as name, brand, supplier and category. A product variant represents the actual purchasable SKU, with one color, size and material. Inventory then records that variant at a specific warehouse, so stock is never attached vaguely to the product. The generated available-stock value prevents derived-data inconsistency, while inventory movements form an audit ledger. Product collections and lookup tables resolve the remaining many-to-many and controlled-value relationships.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customer and sales model is centered on the order. A customer owns a profile, addresses, cart and wishlist, then places many orders. Each order contains line items, and every line item points to the exact purchased variant. Payment, shipment and invoice use one-to-one order links. Status history preserves change over time, while return requests and refunds continue the transaction without overwriting it. Reviews link customer, order and variant, which supports verified feedback. This structure keeps the journey connected while avoiding repeated customer, product or fulfilment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design is good because each business fact has one correct home. First normal form keeps values atomic through lookup and junction tables. Second normal form separates general products from purchasable variants and warehouse stock. Third normal form removes transitive facts such as brand, supplier, profile and address details. BCNF is supported through composite keys and alternate keys such as SKU, barcode and variant-plus-warehouse. Integrity continues beyond normalization: generated columns prevent derived-data anomalies, constraints reject invalid states, ledgers preserve history, and indexes and views keep queries 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technology stack follows the same separation. React, Router, Axios and Context manage the user experience. FastAPI, Pydantic and SQLAlchemy handle API contracts, validation and data access. Supabase provides authentication and hosted PostgreSQL, while JWT validation and role dependencies protect manager actions. At database level, ER modelling and normalization define the structure, then migrations, constraints, indexes, functions, triggers, views and seed data turn that structure into an operational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divided ownership by layer. I, Sourav, focused on FastAPI, routers, CRUD and query handling, SQLAlchemy integration, validation and protected backend endpoints. Riyad focused on the React interface, customer and manager routes, authentication flows, route guards and frontend service integration. We both worked on database design and query handling, then tested the integration together. The project taught us how to translate business requirements into keys and relationships, connect protected frontend and backend flows, integrate Supabase identity, balance normalization with performance, and debug schema-to-API mismatches.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strongest limitation is also our clearest roadmap. The repository contains a complete forty-five-table target, but the active ORM and API still use a ten-table core, so some extended routers are disabled. Production payments, delivery integration, stronger session handling, testing and monitoring also remain future work. Our first priority is one canonical schema aligned across migrations, models and routes. Then we can safely enable the remaining modules, add integrations and testing, and build smarter search and analytics. The database is not behind GoDrip; it is the coordination layer that makes the product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reference: complete list of the forty-five target tables grouped by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reference: the target database includes twelve functions, eleven triggers and seventeen views, including three materialized views.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reference: comparison between the forty-five-table normalized target and the ten-model active API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ODRIP">
    <p:bg>
      <p:bgPr>
        <a:solidFill>
          <a:srgbClr val="09090D"/>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9090D"/>
        </a:solidFill>
      </p:bgPr>
    </p:bg>
    <p:spTree>
      <p:nvGrpSpPr>
        <p:cNvPr id="1" name=""/>
        <p:cNvGrpSpPr/>
        <p:nvPr/>
      </p:nvGrpSpPr>
      <p:grpSpPr>
        <a:xfrm>
          <a:off x="0" y="0"/>
          <a:ext cx="0" cy="0"/>
          <a:chOff x="0" y="0"/>
          <a:chExt cx="0" cy="0"/>
        </a:xfrm>
      </p:grpSpPr>
      <p:sp>
        <p:nvSpPr>
          <p:cNvPr id="2" name="Shape 0"/>
          <p:cNvSpPr/>
          <p:nvPr/>
        </p:nvSpPr>
        <p:spPr>
          <a:xfrm>
            <a:off x="7452360" y="0"/>
            <a:ext cx="4736592" cy="6858000"/>
          </a:xfrm>
          <a:prstGeom prst="rect">
            <a:avLst/>
          </a:prstGeom>
          <a:solidFill>
            <a:srgbClr val="15151C"/>
          </a:solidFill>
          <a:ln w="12700">
            <a:solidFill>
              <a:srgbClr val="15151C">
                <a:alpha val="0"/>
              </a:srgbClr>
            </a:solidFill>
            <a:prstDash val="solid"/>
          </a:ln>
        </p:spPr>
      </p:sp>
      <p:sp>
        <p:nvSpPr>
          <p:cNvPr id="3" name="Shape 1"/>
          <p:cNvSpPr/>
          <p:nvPr/>
        </p:nvSpPr>
        <p:spPr>
          <a:xfrm>
            <a:off x="7818120" y="658368"/>
            <a:ext cx="658368" cy="2423160"/>
          </a:xfrm>
          <a:prstGeom prst="roundRect">
            <a:avLst>
              <a:gd name="adj" fmla="val 16667"/>
            </a:avLst>
          </a:prstGeom>
          <a:solidFill>
            <a:srgbClr val="C9A96E">
              <a:alpha val="82000"/>
            </a:srgbClr>
          </a:solidFill>
          <a:ln w="12700">
            <a:solidFill>
              <a:srgbClr val="C9A96E"/>
            </a:solidFill>
            <a:prstDash val="solid"/>
          </a:ln>
        </p:spPr>
      </p:sp>
      <p:sp>
        <p:nvSpPr>
          <p:cNvPr id="4" name="Shape 2"/>
          <p:cNvSpPr/>
          <p:nvPr/>
        </p:nvSpPr>
        <p:spPr>
          <a:xfrm>
            <a:off x="8823960" y="658368"/>
            <a:ext cx="658368" cy="2423160"/>
          </a:xfrm>
          <a:prstGeom prst="roundRect">
            <a:avLst>
              <a:gd name="adj" fmla="val 16667"/>
            </a:avLst>
          </a:prstGeom>
          <a:solidFill>
            <a:srgbClr val="1D1D26"/>
          </a:solidFill>
          <a:ln w="12700">
            <a:solidFill>
              <a:srgbClr val="34343E"/>
            </a:solidFill>
            <a:prstDash val="solid"/>
          </a:ln>
        </p:spPr>
      </p:sp>
      <p:sp>
        <p:nvSpPr>
          <p:cNvPr id="5" name="Shape 3"/>
          <p:cNvSpPr/>
          <p:nvPr/>
        </p:nvSpPr>
        <p:spPr>
          <a:xfrm>
            <a:off x="9829800" y="658368"/>
            <a:ext cx="658368" cy="2423160"/>
          </a:xfrm>
          <a:prstGeom prst="roundRect">
            <a:avLst>
              <a:gd name="adj" fmla="val 16667"/>
            </a:avLst>
          </a:prstGeom>
          <a:solidFill>
            <a:srgbClr val="1D1D26"/>
          </a:solidFill>
          <a:ln w="12700">
            <a:solidFill>
              <a:srgbClr val="34343E"/>
            </a:solidFill>
            <a:prstDash val="solid"/>
          </a:ln>
        </p:spPr>
      </p:sp>
      <p:sp>
        <p:nvSpPr>
          <p:cNvPr id="6" name="Shape 4"/>
          <p:cNvSpPr/>
          <p:nvPr/>
        </p:nvSpPr>
        <p:spPr>
          <a:xfrm>
            <a:off x="10835640" y="658368"/>
            <a:ext cx="658368" cy="2423160"/>
          </a:xfrm>
          <a:prstGeom prst="roundRect">
            <a:avLst>
              <a:gd name="adj" fmla="val 16667"/>
            </a:avLst>
          </a:prstGeom>
          <a:solidFill>
            <a:srgbClr val="C9A96E">
              <a:alpha val="82000"/>
            </a:srgbClr>
          </a:solidFill>
          <a:ln w="12700">
            <a:solidFill>
              <a:srgbClr val="C9A96E"/>
            </a:solidFill>
            <a:prstDash val="solid"/>
          </a:ln>
        </p:spPr>
      </p:sp>
      <p:sp>
        <p:nvSpPr>
          <p:cNvPr id="7" name="Shape 5"/>
          <p:cNvSpPr/>
          <p:nvPr/>
        </p:nvSpPr>
        <p:spPr>
          <a:xfrm>
            <a:off x="7818120" y="3630168"/>
            <a:ext cx="658368" cy="2423160"/>
          </a:xfrm>
          <a:prstGeom prst="roundRect">
            <a:avLst>
              <a:gd name="adj" fmla="val 16667"/>
            </a:avLst>
          </a:prstGeom>
          <a:solidFill>
            <a:srgbClr val="1D1D26"/>
          </a:solidFill>
          <a:ln w="12700">
            <a:solidFill>
              <a:srgbClr val="34343E"/>
            </a:solidFill>
            <a:prstDash val="solid"/>
          </a:ln>
        </p:spPr>
      </p:sp>
      <p:sp>
        <p:nvSpPr>
          <p:cNvPr id="8" name="Shape 6"/>
          <p:cNvSpPr/>
          <p:nvPr/>
        </p:nvSpPr>
        <p:spPr>
          <a:xfrm>
            <a:off x="8823960" y="3630168"/>
            <a:ext cx="658368" cy="2423160"/>
          </a:xfrm>
          <a:prstGeom prst="roundRect">
            <a:avLst>
              <a:gd name="adj" fmla="val 16667"/>
            </a:avLst>
          </a:prstGeom>
          <a:solidFill>
            <a:srgbClr val="1D1D26"/>
          </a:solidFill>
          <a:ln w="12700">
            <a:solidFill>
              <a:srgbClr val="34343E"/>
            </a:solidFill>
            <a:prstDash val="solid"/>
          </a:ln>
        </p:spPr>
      </p:sp>
      <p:sp>
        <p:nvSpPr>
          <p:cNvPr id="9" name="Shape 7"/>
          <p:cNvSpPr/>
          <p:nvPr/>
        </p:nvSpPr>
        <p:spPr>
          <a:xfrm>
            <a:off x="9829800" y="3630168"/>
            <a:ext cx="658368" cy="2423160"/>
          </a:xfrm>
          <a:prstGeom prst="roundRect">
            <a:avLst>
              <a:gd name="adj" fmla="val 16667"/>
            </a:avLst>
          </a:prstGeom>
          <a:solidFill>
            <a:srgbClr val="C9A96E">
              <a:alpha val="82000"/>
            </a:srgbClr>
          </a:solidFill>
          <a:ln w="12700">
            <a:solidFill>
              <a:srgbClr val="C9A96E"/>
            </a:solidFill>
            <a:prstDash val="solid"/>
          </a:ln>
        </p:spPr>
      </p:sp>
      <p:sp>
        <p:nvSpPr>
          <p:cNvPr id="10" name="Shape 8"/>
          <p:cNvSpPr/>
          <p:nvPr/>
        </p:nvSpPr>
        <p:spPr>
          <a:xfrm>
            <a:off x="10835640" y="3630168"/>
            <a:ext cx="658368" cy="2423160"/>
          </a:xfrm>
          <a:prstGeom prst="roundRect">
            <a:avLst>
              <a:gd name="adj" fmla="val 16667"/>
            </a:avLst>
          </a:prstGeom>
          <a:solidFill>
            <a:srgbClr val="1D1D26"/>
          </a:solidFill>
          <a:ln w="12700">
            <a:solidFill>
              <a:srgbClr val="34343E"/>
            </a:solidFill>
            <a:prstDash val="solid"/>
          </a:ln>
        </p:spPr>
      </p:sp>
      <p:sp>
        <p:nvSpPr>
          <p:cNvPr id="11" name="Shape 9"/>
          <p:cNvSpPr/>
          <p:nvPr/>
        </p:nvSpPr>
        <p:spPr>
          <a:xfrm>
            <a:off x="7589520" y="3291840"/>
            <a:ext cx="4160520" cy="0"/>
          </a:xfrm>
          <a:prstGeom prst="line">
            <a:avLst/>
          </a:prstGeom>
          <a:noFill/>
          <a:ln w="15240">
            <a:solidFill>
              <a:srgbClr val="C9A96E"/>
            </a:solidFill>
            <a:prstDash val="solid"/>
            <a:headEnd type="none"/>
            <a:tailEnd type="none"/>
          </a:ln>
        </p:spPr>
      </p:sp>
      <p:sp>
        <p:nvSpPr>
          <p:cNvPr id="12" name="Text 10"/>
          <p:cNvSpPr/>
          <p:nvPr/>
        </p:nvSpPr>
        <p:spPr>
          <a:xfrm>
            <a:off x="7699248" y="3346704"/>
            <a:ext cx="3977640" cy="219456"/>
          </a:xfrm>
          <a:prstGeom prst="rect">
            <a:avLst/>
          </a:prstGeom>
          <a:noFill/>
          <a:ln/>
        </p:spPr>
        <p:txBody>
          <a:bodyPr wrap="square" lIns="0" tIns="0" rIns="0" bIns="0" rtlCol="0" anchor="t">
            <a:normAutofit/>
          </a:bodyPr>
          <a:lstStyle/>
          <a:p>
            <a:pPr algn="ctr" indent="0" marL="0">
              <a:lnSpc>
                <a:spcPct val="100000"/>
              </a:lnSpc>
              <a:buNone/>
            </a:pPr>
            <a:r>
              <a:rPr lang="en-US" sz="950" b="1" spc="100" kern="0" dirty="0">
                <a:solidFill>
                  <a:srgbClr val="E8D7B4"/>
                </a:solidFill>
                <a:latin typeface="Aptos" pitchFamily="34" charset="0"/>
                <a:ea typeface="Aptos" pitchFamily="34" charset="-122"/>
                <a:cs typeface="Aptos" pitchFamily="34" charset="-120"/>
              </a:rPr>
              <a:t>PRODUCT  /  VARIANT  /  STOCK  /  ORDER</a:t>
            </a:r>
            <a:endParaRPr lang="en-US" sz="950" dirty="0"/>
          </a:p>
        </p:txBody>
      </p:sp>
      <p:sp>
        <p:nvSpPr>
          <p:cNvPr id="13" name="Shape 11"/>
          <p:cNvSpPr/>
          <p:nvPr/>
        </p:nvSpPr>
        <p:spPr>
          <a:xfrm>
            <a:off x="658368" y="758952"/>
            <a:ext cx="658368" cy="0"/>
          </a:xfrm>
          <a:prstGeom prst="line">
            <a:avLst/>
          </a:prstGeom>
          <a:noFill/>
          <a:ln w="29210">
            <a:solidFill>
              <a:srgbClr val="C9A96E"/>
            </a:solidFill>
            <a:prstDash val="solid"/>
            <a:headEnd type="none"/>
            <a:tailEnd type="none"/>
          </a:ln>
        </p:spPr>
      </p:sp>
      <p:sp>
        <p:nvSpPr>
          <p:cNvPr id="14" name="Text 12"/>
          <p:cNvSpPr/>
          <p:nvPr/>
        </p:nvSpPr>
        <p:spPr>
          <a:xfrm>
            <a:off x="658368" y="960120"/>
            <a:ext cx="5120640" cy="256032"/>
          </a:xfrm>
          <a:prstGeom prst="rect">
            <a:avLst/>
          </a:prstGeom>
          <a:noFill/>
          <a:ln/>
        </p:spPr>
        <p:txBody>
          <a:bodyPr wrap="square" lIns="0" tIns="0" rIns="0" bIns="0" rtlCol="0" anchor="t">
            <a:normAutofit/>
          </a:bodyPr>
          <a:lstStyle/>
          <a:p>
            <a:pPr algn="l" indent="0" marL="0">
              <a:lnSpc>
                <a:spcPct val="100000"/>
              </a:lnSpc>
              <a:buNone/>
            </a:pPr>
            <a:r>
              <a:rPr lang="en-US" sz="1150" b="1" spc="150" kern="0" dirty="0">
                <a:solidFill>
                  <a:srgbClr val="C9A96E"/>
                </a:solidFill>
                <a:latin typeface="Aptos" pitchFamily="34" charset="0"/>
                <a:ea typeface="Aptos" pitchFamily="34" charset="-122"/>
                <a:cs typeface="Aptos" pitchFamily="34" charset="-120"/>
              </a:rPr>
              <a:t>DATABASE-DRIVEN FASHION COMMERCE</a:t>
            </a:r>
            <a:endParaRPr lang="en-US" sz="1150" dirty="0"/>
          </a:p>
        </p:txBody>
      </p:sp>
      <p:sp>
        <p:nvSpPr>
          <p:cNvPr id="15" name="Text 13"/>
          <p:cNvSpPr/>
          <p:nvPr/>
        </p:nvSpPr>
        <p:spPr>
          <a:xfrm>
            <a:off x="621792" y="1444752"/>
            <a:ext cx="5989320" cy="2212848"/>
          </a:xfrm>
          <a:prstGeom prst="rect">
            <a:avLst/>
          </a:prstGeom>
          <a:noFill/>
          <a:ln/>
        </p:spPr>
        <p:txBody>
          <a:bodyPr wrap="square" lIns="0" tIns="0" rIns="0" bIns="0" rtlCol="0" anchor="t">
            <a:normAutofit/>
          </a:bodyPr>
          <a:lstStyle/>
          <a:p>
            <a:pPr algn="l" indent="0" marL="0">
              <a:lnSpc>
                <a:spcPct val="100000"/>
              </a:lnSpc>
              <a:buNone/>
            </a:pPr>
            <a:r>
              <a:rPr lang="en-US" sz="6200" b="1" dirty="0">
                <a:solidFill>
                  <a:srgbClr val="F4F0E8"/>
                </a:solidFill>
                <a:latin typeface="Georgia" pitchFamily="34" charset="0"/>
                <a:ea typeface="Georgia" pitchFamily="34" charset="-122"/>
                <a:cs typeface="Georgia" pitchFamily="34" charset="-120"/>
              </a:rPr>
              <a:t>GO</a:t>
            </a:r>
            <a:endParaRPr lang="en-US" sz="6200" dirty="0"/>
          </a:p>
          <a:p>
            <a:pPr algn="l" indent="0" marL="0">
              <a:lnSpc>
                <a:spcPct val="100000"/>
              </a:lnSpc>
              <a:buNone/>
            </a:pPr>
            <a:r>
              <a:rPr lang="en-US" sz="6200" b="1" dirty="0">
                <a:solidFill>
                  <a:srgbClr val="F4F0E8"/>
                </a:solidFill>
                <a:latin typeface="Georgia" pitchFamily="34" charset="0"/>
                <a:ea typeface="Georgia" pitchFamily="34" charset="-122"/>
                <a:cs typeface="Georgia" pitchFamily="34" charset="-120"/>
              </a:rPr>
              <a:t>DRIP</a:t>
            </a:r>
            <a:endParaRPr lang="en-US" sz="6200" dirty="0"/>
          </a:p>
        </p:txBody>
      </p:sp>
      <p:sp>
        <p:nvSpPr>
          <p:cNvPr id="16" name="Text 14"/>
          <p:cNvSpPr/>
          <p:nvPr/>
        </p:nvSpPr>
        <p:spPr>
          <a:xfrm>
            <a:off x="685800" y="3977640"/>
            <a:ext cx="5897880" cy="713232"/>
          </a:xfrm>
          <a:prstGeom prst="rect">
            <a:avLst/>
          </a:prstGeom>
          <a:noFill/>
          <a:ln/>
        </p:spPr>
        <p:txBody>
          <a:bodyPr wrap="square" lIns="0" tIns="0" rIns="0" bIns="0" rtlCol="0" anchor="t">
            <a:normAutofit/>
          </a:bodyPr>
          <a:lstStyle/>
          <a:p>
            <a:pPr algn="l" indent="0" marL="0">
              <a:lnSpc>
                <a:spcPct val="100000"/>
              </a:lnSpc>
              <a:buNone/>
            </a:pPr>
            <a:r>
              <a:rPr lang="en-US" sz="2100" dirty="0">
                <a:solidFill>
                  <a:srgbClr val="E8D7B4"/>
                </a:solidFill>
                <a:latin typeface="Aptos" pitchFamily="34" charset="0"/>
                <a:ea typeface="Aptos" pitchFamily="34" charset="-122"/>
                <a:cs typeface="Aptos" pitchFamily="34" charset="-120"/>
              </a:rPr>
              <a:t>A relational core for product discovery, inventory, checkout, fulfilment and feedback.</a:t>
            </a:r>
            <a:endParaRPr lang="en-US" sz="2100" dirty="0"/>
          </a:p>
        </p:txBody>
      </p:sp>
      <p:sp>
        <p:nvSpPr>
          <p:cNvPr id="17" name="Text 15"/>
          <p:cNvSpPr/>
          <p:nvPr/>
        </p:nvSpPr>
        <p:spPr>
          <a:xfrm>
            <a:off x="685800" y="5148072"/>
            <a:ext cx="6400800" cy="310896"/>
          </a:xfrm>
          <a:prstGeom prst="rect">
            <a:avLst/>
          </a:prstGeom>
          <a:noFill/>
          <a:ln/>
        </p:spPr>
        <p:txBody>
          <a:bodyPr wrap="square" lIns="0" tIns="0" rIns="0" bIns="0" rtlCol="0" anchor="ctr">
            <a:normAutofit/>
          </a:bodyPr>
          <a:lstStyle/>
          <a:p>
            <a:pPr algn="l" indent="0" marL="0">
              <a:buNone/>
            </a:pPr>
            <a:r>
              <a:rPr lang="en-US" sz="1350" b="1" dirty="0">
                <a:solidFill>
                  <a:srgbClr val="F4F0E8"/>
                </a:solidFill>
                <a:latin typeface="Aptos" pitchFamily="34" charset="0"/>
                <a:ea typeface="Aptos" pitchFamily="34" charset="-122"/>
                <a:cs typeface="Aptos" pitchFamily="34" charset="-120"/>
              </a:rPr>
              <a:t>SOURAV</a:t>
            </a:r>
            <a:pPr algn="l" indent="0" marL="0">
              <a:buNone/>
            </a:pPr>
            <a:r>
              <a:rPr lang="en-US" sz="1350" dirty="0">
                <a:solidFill>
                  <a:srgbClr val="A8A39A"/>
                </a:solidFill>
                <a:latin typeface="Aptos" pitchFamily="34" charset="0"/>
                <a:ea typeface="Aptos" pitchFamily="34" charset="-122"/>
                <a:cs typeface="Aptos" pitchFamily="34" charset="-120"/>
              </a:rPr>
              <a:t>  Backend &amp; FastAPI</a:t>
            </a:r>
            <a:pPr algn="l" indent="0" marL="0">
              <a:buNone/>
            </a:pPr>
            <a:r>
              <a:rPr lang="en-US" sz="1350" dirty="0">
                <a:solidFill>
                  <a:srgbClr val="C9A96E"/>
                </a:solidFill>
                <a:latin typeface="Aptos" pitchFamily="34" charset="0"/>
                <a:ea typeface="Aptos" pitchFamily="34" charset="-122"/>
                <a:cs typeface="Aptos" pitchFamily="34" charset="-120"/>
              </a:rPr>
              <a:t>    |    </a:t>
            </a:r>
            <a:pPr algn="l" indent="0" marL="0">
              <a:buNone/>
            </a:pPr>
            <a:r>
              <a:rPr lang="en-US" sz="1350" b="1" dirty="0">
                <a:solidFill>
                  <a:srgbClr val="F4F0E8"/>
                </a:solidFill>
                <a:latin typeface="Aptos" pitchFamily="34" charset="0"/>
                <a:ea typeface="Aptos" pitchFamily="34" charset="-122"/>
                <a:cs typeface="Aptos" pitchFamily="34" charset="-120"/>
              </a:rPr>
              <a:t>RIYAD</a:t>
            </a:r>
            <a:pPr algn="l" indent="0" marL="0">
              <a:buNone/>
            </a:pPr>
            <a:r>
              <a:rPr lang="en-US" sz="1350" dirty="0">
                <a:solidFill>
                  <a:srgbClr val="A8A39A"/>
                </a:solidFill>
                <a:latin typeface="Aptos" pitchFamily="34" charset="0"/>
                <a:ea typeface="Aptos" pitchFamily="34" charset="-122"/>
                <a:cs typeface="Aptos" pitchFamily="34" charset="-120"/>
              </a:rPr>
              <a:t>  Frontend &amp; Authentication</a:t>
            </a:r>
            <a:endParaRPr lang="en-US" sz="1350" dirty="0"/>
          </a:p>
        </p:txBody>
      </p:sp>
      <p:sp>
        <p:nvSpPr>
          <p:cNvPr id="18" name="Text 16"/>
          <p:cNvSpPr/>
          <p:nvPr/>
        </p:nvSpPr>
        <p:spPr>
          <a:xfrm>
            <a:off x="685800" y="5687568"/>
            <a:ext cx="5166360" cy="228600"/>
          </a:xfrm>
          <a:prstGeom prst="rect">
            <a:avLst/>
          </a:prstGeom>
          <a:noFill/>
          <a:ln/>
        </p:spPr>
        <p:txBody>
          <a:bodyPr wrap="square" lIns="0" tIns="0" rIns="0" bIns="0" rtlCol="0" anchor="t">
            <a:normAutofit/>
          </a:bodyPr>
          <a:lstStyle/>
          <a:p>
            <a:pPr algn="l" indent="0" marL="0">
              <a:lnSpc>
                <a:spcPct val="100000"/>
              </a:lnSpc>
              <a:buNone/>
            </a:pPr>
            <a:r>
              <a:rPr lang="en-US" sz="1000" b="1" spc="110" kern="0" dirty="0">
                <a:solidFill>
                  <a:srgbClr val="C9A96E"/>
                </a:solidFill>
                <a:latin typeface="Aptos" pitchFamily="34" charset="0"/>
                <a:ea typeface="Aptos" pitchFamily="34" charset="-122"/>
                <a:cs typeface="Aptos" pitchFamily="34" charset="-120"/>
              </a:rPr>
              <a:t>SHARED  /  DATABASE DESIGN + QUERY HANDLING</a:t>
            </a:r>
            <a:endParaRPr lang="en-US" sz="1000" dirty="0"/>
          </a:p>
        </p:txBody>
      </p:sp>
      <p:sp>
        <p:nvSpPr>
          <p:cNvPr id="19" name="Text 17"/>
          <p:cNvSpPr/>
          <p:nvPr/>
        </p:nvSpPr>
        <p:spPr>
          <a:xfrm>
            <a:off x="685800" y="6419088"/>
            <a:ext cx="2971800" cy="164592"/>
          </a:xfrm>
          <a:prstGeom prst="rect">
            <a:avLst/>
          </a:prstGeom>
          <a:noFill/>
          <a:ln/>
        </p:spPr>
        <p:txBody>
          <a:bodyPr wrap="square" lIns="0" tIns="0" rIns="0" bIns="0" rtlCol="0" anchor="t">
            <a:normAutofit/>
          </a:bodyPr>
          <a:lstStyle/>
          <a:p>
            <a:pPr algn="l" indent="0" marL="0">
              <a:lnSpc>
                <a:spcPct val="100000"/>
              </a:lnSpc>
              <a:buNone/>
            </a:pPr>
            <a:r>
              <a:rPr lang="en-US" sz="870" b="1" spc="100" kern="0" dirty="0">
                <a:solidFill>
                  <a:srgbClr val="6F6B66"/>
                </a:solidFill>
                <a:latin typeface="Aptos" pitchFamily="34" charset="0"/>
                <a:ea typeface="Aptos" pitchFamily="34" charset="-122"/>
                <a:cs typeface="Aptos" pitchFamily="34" charset="-120"/>
              </a:rPr>
              <a:t>DBMS PROJECT PRESENTATION</a:t>
            </a:r>
            <a:endParaRPr lang="en-US" sz="870" dirty="0"/>
          </a:p>
        </p:txBody>
      </p:sp>
    </p:spTree>
  </p:cSld>
  <p:clrMapOvr>
    <a:masterClrMapping/>
  </p:clrMapOvr>
  <p:transition spd="med" advClick="1">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PROJECT STORYLINE</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3000" b="1" dirty="0">
                <a:solidFill>
                  <a:srgbClr val="F4F0E8"/>
                </a:solidFill>
                <a:latin typeface="Georgia" pitchFamily="34" charset="0"/>
                <a:ea typeface="Georgia" pitchFamily="34" charset="-122"/>
                <a:cs typeface="Georgia" pitchFamily="34" charset="-120"/>
              </a:rPr>
              <a:t>The project began with one consistency problem</a:t>
            </a:r>
            <a:endParaRPr lang="en-US" sz="30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Customers and managers act differently, but both depend on the same facts.</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02</a:t>
            </a:r>
            <a:endParaRPr lang="en-US" sz="950" dirty="0"/>
          </a:p>
        </p:txBody>
      </p:sp>
      <p:sp>
        <p:nvSpPr>
          <p:cNvPr id="8" name="Shape 6"/>
          <p:cNvSpPr/>
          <p:nvPr/>
        </p:nvSpPr>
        <p:spPr>
          <a:xfrm>
            <a:off x="3218688" y="3182112"/>
            <a:ext cx="484632" cy="0"/>
          </a:xfrm>
          <a:prstGeom prst="line">
            <a:avLst/>
          </a:prstGeom>
          <a:noFill/>
          <a:ln w="25400">
            <a:solidFill>
              <a:srgbClr val="C9A96E"/>
            </a:solidFill>
            <a:prstDash val="solid"/>
            <a:headEnd type="none"/>
            <a:tailEnd type="triangle"/>
          </a:ln>
        </p:spPr>
      </p:sp>
      <p:sp>
        <p:nvSpPr>
          <p:cNvPr id="9" name="Shape 7"/>
          <p:cNvSpPr/>
          <p:nvPr/>
        </p:nvSpPr>
        <p:spPr>
          <a:xfrm>
            <a:off x="6400800" y="3182112"/>
            <a:ext cx="2176272" cy="-713232"/>
          </a:xfrm>
          <a:prstGeom prst="line">
            <a:avLst/>
          </a:prstGeom>
          <a:noFill/>
          <a:ln w="20320">
            <a:solidFill>
              <a:srgbClr val="79A7D8"/>
            </a:solidFill>
            <a:prstDash val="solid"/>
            <a:headEnd type="none"/>
            <a:tailEnd type="triangle"/>
          </a:ln>
        </p:spPr>
      </p:sp>
      <p:sp>
        <p:nvSpPr>
          <p:cNvPr id="10" name="Shape 8"/>
          <p:cNvSpPr/>
          <p:nvPr/>
        </p:nvSpPr>
        <p:spPr>
          <a:xfrm>
            <a:off x="6400800" y="3182112"/>
            <a:ext cx="2176272" cy="795528"/>
          </a:xfrm>
          <a:prstGeom prst="line">
            <a:avLst/>
          </a:prstGeom>
          <a:noFill/>
          <a:ln w="20320">
            <a:solidFill>
              <a:srgbClr val="65B88A"/>
            </a:solidFill>
            <a:prstDash val="solid"/>
            <a:headEnd type="none"/>
            <a:tailEnd type="triangle"/>
          </a:ln>
        </p:spPr>
      </p:sp>
      <p:sp>
        <p:nvSpPr>
          <p:cNvPr id="11" name="Text 9"/>
          <p:cNvSpPr/>
          <p:nvPr/>
        </p:nvSpPr>
        <p:spPr>
          <a:xfrm>
            <a:off x="777240" y="1874520"/>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D9796D"/>
                </a:solidFill>
                <a:latin typeface="Aptos" pitchFamily="34" charset="0"/>
                <a:ea typeface="Aptos" pitchFamily="34" charset="-122"/>
                <a:cs typeface="Aptos" pitchFamily="34" charset="-120"/>
              </a:rPr>
              <a:t>THE FRICTION</a:t>
            </a:r>
            <a:endParaRPr lang="en-US" sz="1000" dirty="0"/>
          </a:p>
        </p:txBody>
      </p:sp>
      <p:sp>
        <p:nvSpPr>
          <p:cNvPr id="12" name="Text 10"/>
          <p:cNvSpPr/>
          <p:nvPr/>
        </p:nvSpPr>
        <p:spPr>
          <a:xfrm>
            <a:off x="777240" y="2221992"/>
            <a:ext cx="2331720" cy="420624"/>
          </a:xfrm>
          <a:prstGeom prst="rect">
            <a:avLst/>
          </a:prstGeom>
          <a:noFill/>
          <a:ln/>
        </p:spPr>
        <p:txBody>
          <a:bodyPr wrap="square" lIns="0" tIns="0" rIns="0" bIns="0" rtlCol="0" anchor="t">
            <a:normAutofit/>
          </a:bodyPr>
          <a:lstStyle/>
          <a:p>
            <a:pPr algn="l" indent="0" marL="0">
              <a:lnSpc>
                <a:spcPct val="100000"/>
              </a:lnSpc>
              <a:buNone/>
            </a:pPr>
            <a:r>
              <a:rPr lang="en-US" sz="2400" b="1" dirty="0">
                <a:solidFill>
                  <a:srgbClr val="F4F0E8"/>
                </a:solidFill>
                <a:latin typeface="Georgia" pitchFamily="34" charset="0"/>
                <a:ea typeface="Georgia" pitchFamily="34" charset="-122"/>
                <a:cs typeface="Georgia" pitchFamily="34" charset="-120"/>
              </a:rPr>
              <a:t>Scattered facts</a:t>
            </a:r>
            <a:endParaRPr lang="en-US" sz="2400" dirty="0"/>
          </a:p>
        </p:txBody>
      </p:sp>
      <p:sp>
        <p:nvSpPr>
          <p:cNvPr id="13" name="Text 11"/>
          <p:cNvSpPr/>
          <p:nvPr/>
        </p:nvSpPr>
        <p:spPr>
          <a:xfrm>
            <a:off x="777240" y="2816352"/>
            <a:ext cx="2331720" cy="960120"/>
          </a:xfrm>
          <a:prstGeom prst="rect">
            <a:avLst/>
          </a:prstGeom>
          <a:noFill/>
          <a:ln/>
        </p:spPr>
        <p:txBody>
          <a:bodyPr wrap="square" lIns="0" tIns="0" rIns="0" bIns="0" rtlCol="0" anchor="t">
            <a:normAutofit/>
          </a:bodyPr>
          <a:lstStyle/>
          <a:p>
            <a:pPr algn="l" indent="0" marL="0">
              <a:lnSpc>
                <a:spcPct val="100000"/>
              </a:lnSpc>
              <a:buNone/>
            </a:pPr>
            <a:r>
              <a:rPr lang="en-US" sz="1650" dirty="0">
                <a:solidFill>
                  <a:srgbClr val="A8A39A"/>
                </a:solidFill>
                <a:latin typeface="Aptos" pitchFamily="34" charset="0"/>
                <a:ea typeface="Aptos" pitchFamily="34" charset="-122"/>
                <a:cs typeface="Aptos" pitchFamily="34" charset="-120"/>
              </a:rPr>
              <a:t>A product page can look correct while stock, order status or customer data is already inconsistent.</a:t>
            </a:r>
            <a:endParaRPr lang="en-US" sz="1650" dirty="0"/>
          </a:p>
        </p:txBody>
      </p:sp>
      <p:sp>
        <p:nvSpPr>
          <p:cNvPr id="14" name="Text 12"/>
          <p:cNvSpPr/>
          <p:nvPr/>
        </p:nvSpPr>
        <p:spPr>
          <a:xfrm>
            <a:off x="777240" y="4224528"/>
            <a:ext cx="2423160" cy="694944"/>
          </a:xfrm>
          <a:prstGeom prst="rect">
            <a:avLst/>
          </a:prstGeom>
          <a:noFill/>
          <a:ln/>
        </p:spPr>
        <p:txBody>
          <a:bodyPr wrap="square" lIns="0" tIns="0" rIns="0" bIns="0" rtlCol="0" anchor="t">
            <a:normAutofit/>
          </a:bodyPr>
          <a:lstStyle/>
          <a:p>
            <a:pPr algn="l" indent="0" marL="0">
              <a:lnSpc>
                <a:spcPct val="100000"/>
              </a:lnSpc>
              <a:buNone/>
            </a:pPr>
            <a:r>
              <a:rPr lang="en-US" sz="1750" b="1" dirty="0">
                <a:solidFill>
                  <a:srgbClr val="D9796D"/>
                </a:solidFill>
                <a:latin typeface="Aptos" pitchFamily="34" charset="0"/>
                <a:ea typeface="Aptos" pitchFamily="34" charset="-122"/>
                <a:cs typeface="Aptos" pitchFamily="34" charset="-120"/>
              </a:rPr>
              <a:t>The issue is coordination—not only interface design.</a:t>
            </a:r>
            <a:endParaRPr lang="en-US" sz="1750" dirty="0"/>
          </a:p>
        </p:txBody>
      </p:sp>
      <p:sp>
        <p:nvSpPr>
          <p:cNvPr id="15" name="Shape 13"/>
          <p:cNvSpPr/>
          <p:nvPr/>
        </p:nvSpPr>
        <p:spPr>
          <a:xfrm>
            <a:off x="3749040" y="2148840"/>
            <a:ext cx="2651760" cy="2103120"/>
          </a:xfrm>
          <a:prstGeom prst="roundRect">
            <a:avLst>
              <a:gd name="adj" fmla="val 5217"/>
            </a:avLst>
          </a:prstGeom>
          <a:solidFill>
            <a:srgbClr val="1D1D26"/>
          </a:solidFill>
          <a:ln w="17780">
            <a:solidFill>
              <a:srgbClr val="C9A96E"/>
            </a:solidFill>
            <a:prstDash val="solid"/>
          </a:ln>
        </p:spPr>
      </p:sp>
      <p:sp>
        <p:nvSpPr>
          <p:cNvPr id="16" name="Text 14"/>
          <p:cNvSpPr/>
          <p:nvPr/>
        </p:nvSpPr>
        <p:spPr>
          <a:xfrm>
            <a:off x="4041648" y="2478024"/>
            <a:ext cx="2084832" cy="1051560"/>
          </a:xfrm>
          <a:prstGeom prst="rect">
            <a:avLst/>
          </a:prstGeom>
          <a:noFill/>
          <a:ln/>
        </p:spPr>
        <p:txBody>
          <a:bodyPr wrap="square" lIns="0" tIns="0" rIns="0" bIns="0" rtlCol="0" anchor="ctr">
            <a:normAutofit/>
          </a:bodyPr>
          <a:lstStyle/>
          <a:p>
            <a:pPr algn="ctr" indent="0" marL="0">
              <a:lnSpc>
                <a:spcPct val="100000"/>
              </a:lnSpc>
              <a:buNone/>
            </a:pPr>
            <a:r>
              <a:rPr lang="en-US" sz="2600" b="1" dirty="0">
                <a:solidFill>
                  <a:srgbClr val="E8D7B4"/>
                </a:solidFill>
                <a:latin typeface="Georgia" pitchFamily="34" charset="0"/>
                <a:ea typeface="Georgia" pitchFamily="34" charset="-122"/>
                <a:cs typeface="Georgia" pitchFamily="34" charset="-120"/>
              </a:rPr>
              <a:t>ONE</a:t>
            </a:r>
            <a:endParaRPr lang="en-US" sz="2600" dirty="0"/>
          </a:p>
          <a:p>
            <a:pPr algn="ctr" indent="0" marL="0">
              <a:lnSpc>
                <a:spcPct val="100000"/>
              </a:lnSpc>
              <a:buNone/>
            </a:pPr>
            <a:r>
              <a:rPr lang="en-US" sz="2600" b="1" dirty="0">
                <a:solidFill>
                  <a:srgbClr val="E8D7B4"/>
                </a:solidFill>
                <a:latin typeface="Georgia" pitchFamily="34" charset="0"/>
                <a:ea typeface="Georgia" pitchFamily="34" charset="-122"/>
                <a:cs typeface="Georgia" pitchFamily="34" charset="-120"/>
              </a:rPr>
              <a:t>RELATIONAL</a:t>
            </a:r>
            <a:endParaRPr lang="en-US" sz="2600" dirty="0"/>
          </a:p>
          <a:p>
            <a:pPr algn="ctr" indent="0" marL="0">
              <a:lnSpc>
                <a:spcPct val="100000"/>
              </a:lnSpc>
              <a:buNone/>
            </a:pPr>
            <a:r>
              <a:rPr lang="en-US" sz="2600" b="1" dirty="0">
                <a:solidFill>
                  <a:srgbClr val="E8D7B4"/>
                </a:solidFill>
                <a:latin typeface="Georgia" pitchFamily="34" charset="0"/>
                <a:ea typeface="Georgia" pitchFamily="34" charset="-122"/>
                <a:cs typeface="Georgia" pitchFamily="34" charset="-120"/>
              </a:rPr>
              <a:t>CORE</a:t>
            </a:r>
            <a:endParaRPr lang="en-US" sz="2600" dirty="0"/>
          </a:p>
        </p:txBody>
      </p:sp>
      <p:sp>
        <p:nvSpPr>
          <p:cNvPr id="17" name="Text 15"/>
          <p:cNvSpPr/>
          <p:nvPr/>
        </p:nvSpPr>
        <p:spPr>
          <a:xfrm>
            <a:off x="4005072" y="3749040"/>
            <a:ext cx="2148840" cy="237744"/>
          </a:xfrm>
          <a:prstGeom prst="rect">
            <a:avLst/>
          </a:prstGeom>
          <a:noFill/>
          <a:ln/>
        </p:spPr>
        <p:txBody>
          <a:bodyPr wrap="square" lIns="0" tIns="0" rIns="0" bIns="0" rtlCol="0" anchor="t">
            <a:normAutofit/>
          </a:bodyPr>
          <a:lstStyle/>
          <a:p>
            <a:pPr algn="ctr" indent="0" marL="0">
              <a:lnSpc>
                <a:spcPct val="100000"/>
              </a:lnSpc>
              <a:buNone/>
            </a:pPr>
            <a:r>
              <a:rPr lang="en-US" sz="1050" dirty="0">
                <a:solidFill>
                  <a:srgbClr val="A8A39A"/>
                </a:solidFill>
                <a:latin typeface="Aptos" pitchFamily="34" charset="0"/>
                <a:ea typeface="Aptos" pitchFamily="34" charset="-122"/>
                <a:cs typeface="Aptos" pitchFamily="34" charset="-120"/>
              </a:rPr>
              <a:t>identity • catalog • stock • sales</a:t>
            </a:r>
            <a:endParaRPr lang="en-US" sz="1050" dirty="0"/>
          </a:p>
        </p:txBody>
      </p:sp>
      <p:sp>
        <p:nvSpPr>
          <p:cNvPr id="18" name="Text 16"/>
          <p:cNvSpPr/>
          <p:nvPr/>
        </p:nvSpPr>
        <p:spPr>
          <a:xfrm>
            <a:off x="8549640" y="1847088"/>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79A7D8"/>
                </a:solidFill>
                <a:latin typeface="Aptos" pitchFamily="34" charset="0"/>
                <a:ea typeface="Aptos" pitchFamily="34" charset="-122"/>
                <a:cs typeface="Aptos" pitchFamily="34" charset="-120"/>
              </a:rPr>
              <a:t>CUSTOMER JOURNEY</a:t>
            </a:r>
            <a:endParaRPr lang="en-US" sz="1000" dirty="0"/>
          </a:p>
        </p:txBody>
      </p:sp>
      <p:sp>
        <p:nvSpPr>
          <p:cNvPr id="19" name="Text 17"/>
          <p:cNvSpPr/>
          <p:nvPr/>
        </p:nvSpPr>
        <p:spPr>
          <a:xfrm>
            <a:off x="8549640" y="2203704"/>
            <a:ext cx="2834640" cy="713232"/>
          </a:xfrm>
          <a:prstGeom prst="rect">
            <a:avLst/>
          </a:prstGeom>
          <a:noFill/>
          <a:ln/>
        </p:spPr>
        <p:txBody>
          <a:bodyPr wrap="square" lIns="0" tIns="0" rIns="0" bIns="0" rtlCol="0" anchor="t">
            <a:normAutofit/>
          </a:bodyPr>
          <a:lstStyle/>
          <a:p>
            <a:pPr algn="l" indent="0" marL="0">
              <a:lnSpc>
                <a:spcPct val="100000"/>
              </a:lnSpc>
              <a:buNone/>
            </a:pPr>
            <a:r>
              <a:rPr lang="en-US" sz="1650" b="1" dirty="0">
                <a:solidFill>
                  <a:srgbClr val="F4F0E8"/>
                </a:solidFill>
                <a:latin typeface="Aptos" pitchFamily="34" charset="0"/>
                <a:ea typeface="Aptos" pitchFamily="34" charset="-122"/>
                <a:cs typeface="Aptos" pitchFamily="34" charset="-120"/>
              </a:rPr>
              <a:t>Discover → choose variant → cart → checkout → track → review</a:t>
            </a:r>
            <a:endParaRPr lang="en-US" sz="1650" dirty="0"/>
          </a:p>
        </p:txBody>
      </p:sp>
      <p:sp>
        <p:nvSpPr>
          <p:cNvPr id="20" name="Text 18"/>
          <p:cNvSpPr/>
          <p:nvPr/>
        </p:nvSpPr>
        <p:spPr>
          <a:xfrm>
            <a:off x="8549640" y="3447288"/>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65B88A"/>
                </a:solidFill>
                <a:latin typeface="Aptos" pitchFamily="34" charset="0"/>
                <a:ea typeface="Aptos" pitchFamily="34" charset="-122"/>
                <a:cs typeface="Aptos" pitchFamily="34" charset="-120"/>
              </a:rPr>
              <a:t>MANAGER JOURNEY</a:t>
            </a:r>
            <a:endParaRPr lang="en-US" sz="1000" dirty="0"/>
          </a:p>
        </p:txBody>
      </p:sp>
      <p:sp>
        <p:nvSpPr>
          <p:cNvPr id="21" name="Text 19"/>
          <p:cNvSpPr/>
          <p:nvPr/>
        </p:nvSpPr>
        <p:spPr>
          <a:xfrm>
            <a:off x="8549640" y="3803904"/>
            <a:ext cx="2834640" cy="749808"/>
          </a:xfrm>
          <a:prstGeom prst="rect">
            <a:avLst/>
          </a:prstGeom>
          <a:noFill/>
          <a:ln/>
        </p:spPr>
        <p:txBody>
          <a:bodyPr wrap="square" lIns="0" tIns="0" rIns="0" bIns="0" rtlCol="0" anchor="t">
            <a:normAutofit/>
          </a:bodyPr>
          <a:lstStyle/>
          <a:p>
            <a:pPr algn="l" indent="0" marL="0">
              <a:lnSpc>
                <a:spcPct val="100000"/>
              </a:lnSpc>
              <a:buNone/>
            </a:pPr>
            <a:r>
              <a:rPr lang="en-US" sz="1650" b="1" dirty="0">
                <a:solidFill>
                  <a:srgbClr val="F4F0E8"/>
                </a:solidFill>
                <a:latin typeface="Aptos" pitchFamily="34" charset="0"/>
                <a:ea typeface="Aptos" pitchFamily="34" charset="-122"/>
                <a:cs typeface="Aptos" pitchFamily="34" charset="-120"/>
              </a:rPr>
              <a:t>Control catalog → manage stock → fulfil orders → monitor outcomes</a:t>
            </a:r>
            <a:endParaRPr lang="en-US" sz="1650" dirty="0"/>
          </a:p>
        </p:txBody>
      </p:sp>
      <p:sp>
        <p:nvSpPr>
          <p:cNvPr id="22" name="Shape 20"/>
          <p:cNvSpPr/>
          <p:nvPr/>
        </p:nvSpPr>
        <p:spPr>
          <a:xfrm>
            <a:off x="777240" y="5358384"/>
            <a:ext cx="10561320" cy="0"/>
          </a:xfrm>
          <a:prstGeom prst="line">
            <a:avLst/>
          </a:prstGeom>
          <a:noFill/>
          <a:ln w="10160">
            <a:solidFill>
              <a:srgbClr val="34343E"/>
            </a:solidFill>
            <a:prstDash val="solid"/>
            <a:headEnd type="none"/>
            <a:tailEnd type="none"/>
          </a:ln>
        </p:spPr>
      </p:sp>
      <p:sp>
        <p:nvSpPr>
          <p:cNvPr id="23" name="Text 21"/>
          <p:cNvSpPr/>
          <p:nvPr/>
        </p:nvSpPr>
        <p:spPr>
          <a:xfrm>
            <a:off x="1280160" y="5568696"/>
            <a:ext cx="9555480" cy="411480"/>
          </a:xfrm>
          <a:prstGeom prst="rect">
            <a:avLst/>
          </a:prstGeom>
          <a:noFill/>
          <a:ln/>
        </p:spPr>
        <p:txBody>
          <a:bodyPr wrap="square" lIns="0" tIns="0" rIns="0" bIns="0" rtlCol="0" anchor="t">
            <a:normAutofit/>
          </a:bodyPr>
          <a:lstStyle/>
          <a:p>
            <a:pPr algn="ctr" indent="0" marL="0">
              <a:lnSpc>
                <a:spcPct val="100000"/>
              </a:lnSpc>
              <a:buNone/>
            </a:pPr>
            <a:r>
              <a:rPr lang="en-US" sz="2300" b="1" dirty="0">
                <a:solidFill>
                  <a:srgbClr val="E8D7B4"/>
                </a:solidFill>
                <a:latin typeface="Georgia" pitchFamily="34" charset="0"/>
                <a:ea typeface="Georgia" pitchFamily="34" charset="-122"/>
                <a:cs typeface="Georgia" pitchFamily="34" charset="-120"/>
              </a:rPr>
              <a:t>GoDrip converts separate retail actions into one traceable data story.</a:t>
            </a:r>
            <a:endParaRPr lang="en-US" sz="2300" dirty="0"/>
          </a:p>
        </p:txBody>
      </p:sp>
    </p:spTree>
  </p:cSld>
  <p:clrMapOvr>
    <a:masterClrMapping/>
  </p:clrMapOvr>
  <p:transition spd="med" advClick="1">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SYSTEM ARCHITECTURE</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3000" b="1" dirty="0">
                <a:solidFill>
                  <a:srgbClr val="F4F0E8"/>
                </a:solidFill>
                <a:latin typeface="Georgia" pitchFamily="34" charset="0"/>
                <a:ea typeface="Georgia" pitchFamily="34" charset="-122"/>
                <a:cs typeface="Georgia" pitchFamily="34" charset="-120"/>
              </a:rPr>
              <a:t>Each layer owns one responsibility</a:t>
            </a:r>
            <a:endParaRPr lang="en-US" sz="30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A thin client, protected API and relational data layer keep the system understandable.</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03</a:t>
            </a:r>
            <a:endParaRPr lang="en-US" sz="950" dirty="0"/>
          </a:p>
        </p:txBody>
      </p:sp>
      <p:sp>
        <p:nvSpPr>
          <p:cNvPr id="8" name="Shape 6"/>
          <p:cNvSpPr/>
          <p:nvPr/>
        </p:nvSpPr>
        <p:spPr>
          <a:xfrm>
            <a:off x="2093976" y="3108960"/>
            <a:ext cx="923544" cy="0"/>
          </a:xfrm>
          <a:prstGeom prst="line">
            <a:avLst/>
          </a:prstGeom>
          <a:noFill/>
          <a:ln w="21590">
            <a:solidFill>
              <a:srgbClr val="C9A96E"/>
            </a:solidFill>
            <a:prstDash val="solid"/>
            <a:headEnd type="none"/>
            <a:tailEnd type="triangle"/>
          </a:ln>
        </p:spPr>
      </p:sp>
      <p:sp>
        <p:nvSpPr>
          <p:cNvPr id="9" name="Shape 7"/>
          <p:cNvSpPr/>
          <p:nvPr/>
        </p:nvSpPr>
        <p:spPr>
          <a:xfrm>
            <a:off x="4425696" y="3108960"/>
            <a:ext cx="859536" cy="0"/>
          </a:xfrm>
          <a:prstGeom prst="line">
            <a:avLst/>
          </a:prstGeom>
          <a:noFill/>
          <a:ln w="21590">
            <a:solidFill>
              <a:srgbClr val="C9A96E"/>
            </a:solidFill>
            <a:prstDash val="solid"/>
            <a:headEnd type="none"/>
            <a:tailEnd type="triangle"/>
          </a:ln>
        </p:spPr>
      </p:sp>
      <p:sp>
        <p:nvSpPr>
          <p:cNvPr id="10" name="Shape 8"/>
          <p:cNvSpPr/>
          <p:nvPr/>
        </p:nvSpPr>
        <p:spPr>
          <a:xfrm>
            <a:off x="6739128" y="3108960"/>
            <a:ext cx="886968" cy="0"/>
          </a:xfrm>
          <a:prstGeom prst="line">
            <a:avLst/>
          </a:prstGeom>
          <a:noFill/>
          <a:ln w="21590">
            <a:solidFill>
              <a:srgbClr val="C9A96E"/>
            </a:solidFill>
            <a:prstDash val="solid"/>
            <a:headEnd type="none"/>
            <a:tailEnd type="triangle"/>
          </a:ln>
        </p:spPr>
      </p:sp>
      <p:sp>
        <p:nvSpPr>
          <p:cNvPr id="11" name="Shape 9"/>
          <p:cNvSpPr/>
          <p:nvPr/>
        </p:nvSpPr>
        <p:spPr>
          <a:xfrm>
            <a:off x="8988552" y="3108960"/>
            <a:ext cx="896112" cy="0"/>
          </a:xfrm>
          <a:prstGeom prst="line">
            <a:avLst/>
          </a:prstGeom>
          <a:noFill/>
          <a:ln w="21590">
            <a:solidFill>
              <a:srgbClr val="C9A96E"/>
            </a:solidFill>
            <a:prstDash val="solid"/>
            <a:headEnd type="none"/>
            <a:tailEnd type="triangle"/>
          </a:ln>
        </p:spPr>
      </p:sp>
      <p:sp>
        <p:nvSpPr>
          <p:cNvPr id="12" name="Shape 10"/>
          <p:cNvSpPr/>
          <p:nvPr/>
        </p:nvSpPr>
        <p:spPr>
          <a:xfrm>
            <a:off x="749808" y="2441448"/>
            <a:ext cx="1508760" cy="1325880"/>
          </a:xfrm>
          <a:prstGeom prst="roundRect">
            <a:avLst>
              <a:gd name="adj" fmla="val 8276"/>
            </a:avLst>
          </a:prstGeom>
          <a:solidFill>
            <a:srgbClr val="15151C"/>
          </a:solidFill>
          <a:ln w="12700">
            <a:solidFill>
              <a:srgbClr val="79A7D8"/>
            </a:solidFill>
            <a:prstDash val="solid"/>
          </a:ln>
        </p:spPr>
      </p:sp>
      <p:sp>
        <p:nvSpPr>
          <p:cNvPr id="13" name="Text 11"/>
          <p:cNvSpPr/>
          <p:nvPr/>
        </p:nvSpPr>
        <p:spPr>
          <a:xfrm>
            <a:off x="841248" y="2651760"/>
            <a:ext cx="1325880" cy="475488"/>
          </a:xfrm>
          <a:prstGeom prst="rect">
            <a:avLst/>
          </a:prstGeom>
          <a:noFill/>
          <a:ln/>
        </p:spPr>
        <p:txBody>
          <a:bodyPr wrap="square" lIns="0" tIns="0" rIns="0" bIns="0" rtlCol="0" anchor="ctr">
            <a:normAutofit/>
          </a:bodyPr>
          <a:lstStyle/>
          <a:p>
            <a:pPr algn="ctr" indent="0" marL="0">
              <a:lnSpc>
                <a:spcPct val="100000"/>
              </a:lnSpc>
              <a:buNone/>
            </a:pPr>
            <a:r>
              <a:rPr lang="en-US" sz="1350" b="1" dirty="0">
                <a:solidFill>
                  <a:srgbClr val="F4F0E8"/>
                </a:solidFill>
                <a:latin typeface="Georgia" pitchFamily="34" charset="0"/>
                <a:ea typeface="Georgia" pitchFamily="34" charset="-122"/>
                <a:cs typeface="Georgia" pitchFamily="34" charset="-120"/>
              </a:rPr>
              <a:t>CUSTOMER +</a:t>
            </a:r>
            <a:endParaRPr lang="en-US" sz="1350" dirty="0"/>
          </a:p>
          <a:p>
            <a:pPr algn="ctr" indent="0" marL="0">
              <a:lnSpc>
                <a:spcPct val="100000"/>
              </a:lnSpc>
              <a:buNone/>
            </a:pPr>
            <a:r>
              <a:rPr lang="en-US" sz="1350" b="1" dirty="0">
                <a:solidFill>
                  <a:srgbClr val="F4F0E8"/>
                </a:solidFill>
                <a:latin typeface="Georgia" pitchFamily="34" charset="0"/>
                <a:ea typeface="Georgia" pitchFamily="34" charset="-122"/>
                <a:cs typeface="Georgia" pitchFamily="34" charset="-120"/>
              </a:rPr>
              <a:t>MANAGER</a:t>
            </a:r>
            <a:endParaRPr lang="en-US" sz="1350" dirty="0"/>
          </a:p>
        </p:txBody>
      </p:sp>
      <p:sp>
        <p:nvSpPr>
          <p:cNvPr id="14" name="Text 12"/>
          <p:cNvSpPr/>
          <p:nvPr/>
        </p:nvSpPr>
        <p:spPr>
          <a:xfrm>
            <a:off x="859536" y="3273552"/>
            <a:ext cx="1289304" cy="228600"/>
          </a:xfrm>
          <a:prstGeom prst="rect">
            <a:avLst/>
          </a:prstGeom>
          <a:noFill/>
          <a:ln/>
        </p:spPr>
        <p:txBody>
          <a:bodyPr wrap="square" lIns="0" tIns="0" rIns="0" bIns="0" rtlCol="0" anchor="t">
            <a:normAutofit/>
          </a:bodyPr>
          <a:lstStyle/>
          <a:p>
            <a:pPr algn="ctr" indent="0" marL="0">
              <a:lnSpc>
                <a:spcPct val="100000"/>
              </a:lnSpc>
              <a:buNone/>
            </a:pPr>
            <a:r>
              <a:rPr lang="en-US" sz="920" dirty="0">
                <a:solidFill>
                  <a:srgbClr val="A8A39A"/>
                </a:solidFill>
                <a:latin typeface="Aptos" pitchFamily="34" charset="0"/>
                <a:ea typeface="Aptos" pitchFamily="34" charset="-122"/>
                <a:cs typeface="Aptos" pitchFamily="34" charset="-120"/>
              </a:rPr>
              <a:t>Two route trees</a:t>
            </a:r>
            <a:endParaRPr lang="en-US" sz="920" dirty="0"/>
          </a:p>
        </p:txBody>
      </p:sp>
      <p:sp>
        <p:nvSpPr>
          <p:cNvPr id="15" name="Shape 13"/>
          <p:cNvSpPr/>
          <p:nvPr/>
        </p:nvSpPr>
        <p:spPr>
          <a:xfrm>
            <a:off x="2852928" y="2441448"/>
            <a:ext cx="1737360" cy="1325880"/>
          </a:xfrm>
          <a:prstGeom prst="roundRect">
            <a:avLst>
              <a:gd name="adj" fmla="val 8276"/>
            </a:avLst>
          </a:prstGeom>
          <a:solidFill>
            <a:srgbClr val="15151C"/>
          </a:solidFill>
          <a:ln w="12700">
            <a:solidFill>
              <a:srgbClr val="C9A96E"/>
            </a:solidFill>
            <a:prstDash val="solid"/>
          </a:ln>
        </p:spPr>
      </p:sp>
      <p:sp>
        <p:nvSpPr>
          <p:cNvPr id="16" name="Text 14"/>
          <p:cNvSpPr/>
          <p:nvPr/>
        </p:nvSpPr>
        <p:spPr>
          <a:xfrm>
            <a:off x="2944368" y="2651760"/>
            <a:ext cx="1554480" cy="475488"/>
          </a:xfrm>
          <a:prstGeom prst="rect">
            <a:avLst/>
          </a:prstGeom>
          <a:noFill/>
          <a:ln/>
        </p:spPr>
        <p:txBody>
          <a:bodyPr wrap="square" lIns="0" tIns="0" rIns="0" bIns="0" rtlCol="0" anchor="ctr">
            <a:normAutofit/>
          </a:bodyPr>
          <a:lstStyle/>
          <a:p>
            <a:pPr algn="ctr" indent="0" marL="0">
              <a:lnSpc>
                <a:spcPct val="100000"/>
              </a:lnSpc>
              <a:buNone/>
            </a:pPr>
            <a:r>
              <a:rPr lang="en-US" sz="1350" b="1" dirty="0">
                <a:solidFill>
                  <a:srgbClr val="F4F0E8"/>
                </a:solidFill>
                <a:latin typeface="Georgia" pitchFamily="34" charset="0"/>
                <a:ea typeface="Georgia" pitchFamily="34" charset="-122"/>
                <a:cs typeface="Georgia" pitchFamily="34" charset="-120"/>
              </a:rPr>
              <a:t>REACT + VITE</a:t>
            </a:r>
            <a:endParaRPr lang="en-US" sz="1350" dirty="0"/>
          </a:p>
        </p:txBody>
      </p:sp>
      <p:sp>
        <p:nvSpPr>
          <p:cNvPr id="17" name="Text 15"/>
          <p:cNvSpPr/>
          <p:nvPr/>
        </p:nvSpPr>
        <p:spPr>
          <a:xfrm>
            <a:off x="2962656" y="3273552"/>
            <a:ext cx="1517904" cy="228600"/>
          </a:xfrm>
          <a:prstGeom prst="rect">
            <a:avLst/>
          </a:prstGeom>
          <a:noFill/>
          <a:ln/>
        </p:spPr>
        <p:txBody>
          <a:bodyPr wrap="square" lIns="0" tIns="0" rIns="0" bIns="0" rtlCol="0" anchor="t">
            <a:normAutofit/>
          </a:bodyPr>
          <a:lstStyle/>
          <a:p>
            <a:pPr algn="ctr" indent="0" marL="0">
              <a:lnSpc>
                <a:spcPct val="100000"/>
              </a:lnSpc>
              <a:buNone/>
            </a:pPr>
            <a:r>
              <a:rPr lang="en-US" sz="920" dirty="0">
                <a:solidFill>
                  <a:srgbClr val="A8A39A"/>
                </a:solidFill>
                <a:latin typeface="Aptos" pitchFamily="34" charset="0"/>
                <a:ea typeface="Aptos" pitchFamily="34" charset="-122"/>
                <a:cs typeface="Aptos" pitchFamily="34" charset="-120"/>
              </a:rPr>
              <a:t>Router • Axios • Context</a:t>
            </a:r>
            <a:endParaRPr lang="en-US" sz="920" dirty="0"/>
          </a:p>
        </p:txBody>
      </p:sp>
      <p:sp>
        <p:nvSpPr>
          <p:cNvPr id="18" name="Shape 16"/>
          <p:cNvSpPr/>
          <p:nvPr/>
        </p:nvSpPr>
        <p:spPr>
          <a:xfrm>
            <a:off x="5120640" y="2441448"/>
            <a:ext cx="1783080" cy="1325880"/>
          </a:xfrm>
          <a:prstGeom prst="roundRect">
            <a:avLst>
              <a:gd name="adj" fmla="val 8276"/>
            </a:avLst>
          </a:prstGeom>
          <a:solidFill>
            <a:srgbClr val="15151C"/>
          </a:solidFill>
          <a:ln w="22860">
            <a:solidFill>
              <a:srgbClr val="A68BC6"/>
            </a:solidFill>
            <a:prstDash val="solid"/>
          </a:ln>
        </p:spPr>
      </p:sp>
      <p:sp>
        <p:nvSpPr>
          <p:cNvPr id="19" name="Text 17"/>
          <p:cNvSpPr/>
          <p:nvPr/>
        </p:nvSpPr>
        <p:spPr>
          <a:xfrm>
            <a:off x="5212080" y="2651760"/>
            <a:ext cx="1600200" cy="475488"/>
          </a:xfrm>
          <a:prstGeom prst="rect">
            <a:avLst/>
          </a:prstGeom>
          <a:noFill/>
          <a:ln/>
        </p:spPr>
        <p:txBody>
          <a:bodyPr wrap="square" lIns="0" tIns="0" rIns="0" bIns="0" rtlCol="0" anchor="ctr">
            <a:normAutofit/>
          </a:bodyPr>
          <a:lstStyle/>
          <a:p>
            <a:pPr algn="ctr" indent="0" marL="0">
              <a:lnSpc>
                <a:spcPct val="100000"/>
              </a:lnSpc>
              <a:buNone/>
            </a:pPr>
            <a:r>
              <a:rPr lang="en-US" sz="1350" b="1" dirty="0">
                <a:solidFill>
                  <a:srgbClr val="F4F0E8"/>
                </a:solidFill>
                <a:latin typeface="Georgia" pitchFamily="34" charset="0"/>
                <a:ea typeface="Georgia" pitchFamily="34" charset="-122"/>
                <a:cs typeface="Georgia" pitchFamily="34" charset="-120"/>
              </a:rPr>
              <a:t>FASTAPI</a:t>
            </a:r>
            <a:endParaRPr lang="en-US" sz="1350" dirty="0"/>
          </a:p>
        </p:txBody>
      </p:sp>
      <p:sp>
        <p:nvSpPr>
          <p:cNvPr id="20" name="Text 18"/>
          <p:cNvSpPr/>
          <p:nvPr/>
        </p:nvSpPr>
        <p:spPr>
          <a:xfrm>
            <a:off x="5230368" y="3273552"/>
            <a:ext cx="1563624" cy="228600"/>
          </a:xfrm>
          <a:prstGeom prst="rect">
            <a:avLst/>
          </a:prstGeom>
          <a:noFill/>
          <a:ln/>
        </p:spPr>
        <p:txBody>
          <a:bodyPr wrap="square" lIns="0" tIns="0" rIns="0" bIns="0" rtlCol="0" anchor="t">
            <a:normAutofit/>
          </a:bodyPr>
          <a:lstStyle/>
          <a:p>
            <a:pPr algn="ctr" indent="0" marL="0">
              <a:lnSpc>
                <a:spcPct val="100000"/>
              </a:lnSpc>
              <a:buNone/>
            </a:pPr>
            <a:r>
              <a:rPr lang="en-US" sz="920" dirty="0">
                <a:solidFill>
                  <a:srgbClr val="A8A39A"/>
                </a:solidFill>
                <a:latin typeface="Aptos" pitchFamily="34" charset="0"/>
                <a:ea typeface="Aptos" pitchFamily="34" charset="-122"/>
                <a:cs typeface="Aptos" pitchFamily="34" charset="-120"/>
              </a:rPr>
              <a:t>Routers • Pydantic • CRUD</a:t>
            </a:r>
            <a:endParaRPr lang="en-US" sz="920" dirty="0"/>
          </a:p>
        </p:txBody>
      </p:sp>
      <p:sp>
        <p:nvSpPr>
          <p:cNvPr id="21" name="Shape 19"/>
          <p:cNvSpPr/>
          <p:nvPr/>
        </p:nvSpPr>
        <p:spPr>
          <a:xfrm>
            <a:off x="7461504" y="2441448"/>
            <a:ext cx="1691640" cy="1325880"/>
          </a:xfrm>
          <a:prstGeom prst="roundRect">
            <a:avLst>
              <a:gd name="adj" fmla="val 8276"/>
            </a:avLst>
          </a:prstGeom>
          <a:solidFill>
            <a:srgbClr val="15151C"/>
          </a:solidFill>
          <a:ln w="12700">
            <a:solidFill>
              <a:srgbClr val="65B88A"/>
            </a:solidFill>
            <a:prstDash val="solid"/>
          </a:ln>
        </p:spPr>
      </p:sp>
      <p:sp>
        <p:nvSpPr>
          <p:cNvPr id="22" name="Text 20"/>
          <p:cNvSpPr/>
          <p:nvPr/>
        </p:nvSpPr>
        <p:spPr>
          <a:xfrm>
            <a:off x="7552944" y="2651760"/>
            <a:ext cx="1508760" cy="475488"/>
          </a:xfrm>
          <a:prstGeom prst="rect">
            <a:avLst/>
          </a:prstGeom>
          <a:noFill/>
          <a:ln/>
        </p:spPr>
        <p:txBody>
          <a:bodyPr wrap="square" lIns="0" tIns="0" rIns="0" bIns="0" rtlCol="0" anchor="ctr">
            <a:normAutofit/>
          </a:bodyPr>
          <a:lstStyle/>
          <a:p>
            <a:pPr algn="ctr" indent="0" marL="0">
              <a:lnSpc>
                <a:spcPct val="100000"/>
              </a:lnSpc>
              <a:buNone/>
            </a:pPr>
            <a:r>
              <a:rPr lang="en-US" sz="1350" b="1" dirty="0">
                <a:solidFill>
                  <a:srgbClr val="F4F0E8"/>
                </a:solidFill>
                <a:latin typeface="Georgia" pitchFamily="34" charset="0"/>
                <a:ea typeface="Georgia" pitchFamily="34" charset="-122"/>
                <a:cs typeface="Georgia" pitchFamily="34" charset="-120"/>
              </a:rPr>
              <a:t>SQLALCHEMY</a:t>
            </a:r>
            <a:endParaRPr lang="en-US" sz="1350" dirty="0"/>
          </a:p>
        </p:txBody>
      </p:sp>
      <p:sp>
        <p:nvSpPr>
          <p:cNvPr id="23" name="Text 21"/>
          <p:cNvSpPr/>
          <p:nvPr/>
        </p:nvSpPr>
        <p:spPr>
          <a:xfrm>
            <a:off x="7571232" y="3273552"/>
            <a:ext cx="1472184" cy="228600"/>
          </a:xfrm>
          <a:prstGeom prst="rect">
            <a:avLst/>
          </a:prstGeom>
          <a:noFill/>
          <a:ln/>
        </p:spPr>
        <p:txBody>
          <a:bodyPr wrap="square" lIns="0" tIns="0" rIns="0" bIns="0" rtlCol="0" anchor="t">
            <a:normAutofit/>
          </a:bodyPr>
          <a:lstStyle/>
          <a:p>
            <a:pPr algn="ctr" indent="0" marL="0">
              <a:lnSpc>
                <a:spcPct val="100000"/>
              </a:lnSpc>
              <a:buNone/>
            </a:pPr>
            <a:r>
              <a:rPr lang="en-US" sz="920" dirty="0">
                <a:solidFill>
                  <a:srgbClr val="A8A39A"/>
                </a:solidFill>
                <a:latin typeface="Aptos" pitchFamily="34" charset="0"/>
                <a:ea typeface="Aptos" pitchFamily="34" charset="-122"/>
                <a:cs typeface="Aptos" pitchFamily="34" charset="-120"/>
              </a:rPr>
              <a:t>ORM • sessions • Alembic</a:t>
            </a:r>
            <a:endParaRPr lang="en-US" sz="920" dirty="0"/>
          </a:p>
        </p:txBody>
      </p:sp>
      <p:sp>
        <p:nvSpPr>
          <p:cNvPr id="24" name="Shape 22"/>
          <p:cNvSpPr/>
          <p:nvPr/>
        </p:nvSpPr>
        <p:spPr>
          <a:xfrm>
            <a:off x="9720072" y="2441448"/>
            <a:ext cx="1691640" cy="1325880"/>
          </a:xfrm>
          <a:prstGeom prst="roundRect">
            <a:avLst>
              <a:gd name="adj" fmla="val 8276"/>
            </a:avLst>
          </a:prstGeom>
          <a:solidFill>
            <a:srgbClr val="15151C"/>
          </a:solidFill>
          <a:ln w="12700">
            <a:solidFill>
              <a:srgbClr val="C9A96E"/>
            </a:solidFill>
            <a:prstDash val="solid"/>
          </a:ln>
        </p:spPr>
      </p:sp>
      <p:sp>
        <p:nvSpPr>
          <p:cNvPr id="25" name="Text 23"/>
          <p:cNvSpPr/>
          <p:nvPr/>
        </p:nvSpPr>
        <p:spPr>
          <a:xfrm>
            <a:off x="9811512" y="2651760"/>
            <a:ext cx="1508760" cy="475488"/>
          </a:xfrm>
          <a:prstGeom prst="rect">
            <a:avLst/>
          </a:prstGeom>
          <a:noFill/>
          <a:ln/>
        </p:spPr>
        <p:txBody>
          <a:bodyPr wrap="square" lIns="0" tIns="0" rIns="0" bIns="0" rtlCol="0" anchor="ctr">
            <a:normAutofit/>
          </a:bodyPr>
          <a:lstStyle/>
          <a:p>
            <a:pPr algn="ctr" indent="0" marL="0">
              <a:lnSpc>
                <a:spcPct val="100000"/>
              </a:lnSpc>
              <a:buNone/>
            </a:pPr>
            <a:r>
              <a:rPr lang="en-US" sz="1350" b="1" dirty="0">
                <a:solidFill>
                  <a:srgbClr val="F4F0E8"/>
                </a:solidFill>
                <a:latin typeface="Georgia" pitchFamily="34" charset="0"/>
                <a:ea typeface="Georgia" pitchFamily="34" charset="-122"/>
                <a:cs typeface="Georgia" pitchFamily="34" charset="-120"/>
              </a:rPr>
              <a:t>POSTGRESQL</a:t>
            </a:r>
            <a:endParaRPr lang="en-US" sz="1350" dirty="0"/>
          </a:p>
        </p:txBody>
      </p:sp>
      <p:sp>
        <p:nvSpPr>
          <p:cNvPr id="26" name="Text 24"/>
          <p:cNvSpPr/>
          <p:nvPr/>
        </p:nvSpPr>
        <p:spPr>
          <a:xfrm>
            <a:off x="9829800" y="3273552"/>
            <a:ext cx="1472184" cy="228600"/>
          </a:xfrm>
          <a:prstGeom prst="rect">
            <a:avLst/>
          </a:prstGeom>
          <a:noFill/>
          <a:ln/>
        </p:spPr>
        <p:txBody>
          <a:bodyPr wrap="square" lIns="0" tIns="0" rIns="0" bIns="0" rtlCol="0" anchor="t">
            <a:normAutofit/>
          </a:bodyPr>
          <a:lstStyle/>
          <a:p>
            <a:pPr algn="ctr" indent="0" marL="0">
              <a:lnSpc>
                <a:spcPct val="100000"/>
              </a:lnSpc>
              <a:buNone/>
            </a:pPr>
            <a:r>
              <a:rPr lang="en-US" sz="920" dirty="0">
                <a:solidFill>
                  <a:srgbClr val="A8A39A"/>
                </a:solidFill>
                <a:latin typeface="Aptos" pitchFamily="34" charset="0"/>
                <a:ea typeface="Aptos" pitchFamily="34" charset="-122"/>
                <a:cs typeface="Aptos" pitchFamily="34" charset="-120"/>
              </a:rPr>
              <a:t>Supabase-hosted data</a:t>
            </a:r>
            <a:endParaRPr lang="en-US" sz="920" dirty="0"/>
          </a:p>
        </p:txBody>
      </p:sp>
      <p:sp>
        <p:nvSpPr>
          <p:cNvPr id="27" name="Shape 25"/>
          <p:cNvSpPr/>
          <p:nvPr/>
        </p:nvSpPr>
        <p:spPr>
          <a:xfrm>
            <a:off x="5998464" y="2377440"/>
            <a:ext cx="0" cy="-576072"/>
          </a:xfrm>
          <a:prstGeom prst="line">
            <a:avLst/>
          </a:prstGeom>
          <a:noFill/>
          <a:ln w="17780">
            <a:solidFill>
              <a:srgbClr val="79A7D8"/>
            </a:solidFill>
            <a:prstDash val="solid"/>
            <a:headEnd type="none"/>
            <a:tailEnd type="triangle"/>
          </a:ln>
        </p:spPr>
      </p:sp>
      <p:sp>
        <p:nvSpPr>
          <p:cNvPr id="28" name="Shape 26"/>
          <p:cNvSpPr/>
          <p:nvPr/>
        </p:nvSpPr>
        <p:spPr>
          <a:xfrm>
            <a:off x="4965192" y="1673352"/>
            <a:ext cx="2084832" cy="502920"/>
          </a:xfrm>
          <a:prstGeom prst="roundRect">
            <a:avLst>
              <a:gd name="adj" fmla="val 21818"/>
            </a:avLst>
          </a:prstGeom>
          <a:solidFill>
            <a:srgbClr val="1D1D26"/>
          </a:solidFill>
          <a:ln w="12700">
            <a:solidFill>
              <a:srgbClr val="79A7D8"/>
            </a:solidFill>
            <a:prstDash val="solid"/>
          </a:ln>
        </p:spPr>
      </p:sp>
      <p:sp>
        <p:nvSpPr>
          <p:cNvPr id="29" name="Text 27"/>
          <p:cNvSpPr/>
          <p:nvPr/>
        </p:nvSpPr>
        <p:spPr>
          <a:xfrm>
            <a:off x="5102352" y="1828800"/>
            <a:ext cx="1810512" cy="182880"/>
          </a:xfrm>
          <a:prstGeom prst="rect">
            <a:avLst/>
          </a:prstGeom>
          <a:noFill/>
          <a:ln/>
        </p:spPr>
        <p:txBody>
          <a:bodyPr wrap="square" lIns="0" tIns="0" rIns="0" bIns="0" rtlCol="0" anchor="t">
            <a:normAutofit/>
          </a:bodyPr>
          <a:lstStyle/>
          <a:p>
            <a:pPr algn="ctr" indent="0" marL="0">
              <a:lnSpc>
                <a:spcPct val="100000"/>
              </a:lnSpc>
              <a:buNone/>
            </a:pPr>
            <a:r>
              <a:rPr lang="en-US" sz="1020" b="1" dirty="0">
                <a:solidFill>
                  <a:srgbClr val="79A7D8"/>
                </a:solidFill>
                <a:latin typeface="Aptos" pitchFamily="34" charset="0"/>
                <a:ea typeface="Aptos" pitchFamily="34" charset="-122"/>
                <a:cs typeface="Aptos" pitchFamily="34" charset="-120"/>
              </a:rPr>
              <a:t>SUPABASE AUTH / JWT</a:t>
            </a:r>
            <a:endParaRPr lang="en-US" sz="1020" dirty="0"/>
          </a:p>
        </p:txBody>
      </p:sp>
      <p:sp>
        <p:nvSpPr>
          <p:cNvPr id="30" name="Shape 28"/>
          <p:cNvSpPr/>
          <p:nvPr/>
        </p:nvSpPr>
        <p:spPr>
          <a:xfrm>
            <a:off x="5998464" y="3822192"/>
            <a:ext cx="0" cy="585216"/>
          </a:xfrm>
          <a:prstGeom prst="line">
            <a:avLst/>
          </a:prstGeom>
          <a:noFill/>
          <a:ln w="17780">
            <a:solidFill>
              <a:srgbClr val="A68BC6"/>
            </a:solidFill>
            <a:prstDash val="solid"/>
            <a:headEnd type="none"/>
            <a:tailEnd type="triangle"/>
          </a:ln>
        </p:spPr>
      </p:sp>
      <p:sp>
        <p:nvSpPr>
          <p:cNvPr id="31" name="Shape 29"/>
          <p:cNvSpPr/>
          <p:nvPr/>
        </p:nvSpPr>
        <p:spPr>
          <a:xfrm>
            <a:off x="4965192" y="4416552"/>
            <a:ext cx="2084832" cy="502920"/>
          </a:xfrm>
          <a:prstGeom prst="roundRect">
            <a:avLst>
              <a:gd name="adj" fmla="val 21818"/>
            </a:avLst>
          </a:prstGeom>
          <a:solidFill>
            <a:srgbClr val="1D1D26"/>
          </a:solidFill>
          <a:ln w="12700">
            <a:solidFill>
              <a:srgbClr val="A68BC6"/>
            </a:solidFill>
            <a:prstDash val="solid"/>
          </a:ln>
        </p:spPr>
      </p:sp>
      <p:sp>
        <p:nvSpPr>
          <p:cNvPr id="32" name="Text 30"/>
          <p:cNvSpPr/>
          <p:nvPr/>
        </p:nvSpPr>
        <p:spPr>
          <a:xfrm>
            <a:off x="5102352" y="4572000"/>
            <a:ext cx="1810512" cy="182880"/>
          </a:xfrm>
          <a:prstGeom prst="rect">
            <a:avLst/>
          </a:prstGeom>
          <a:noFill/>
          <a:ln/>
        </p:spPr>
        <p:txBody>
          <a:bodyPr wrap="square" lIns="0" tIns="0" rIns="0" bIns="0" rtlCol="0" anchor="t">
            <a:normAutofit/>
          </a:bodyPr>
          <a:lstStyle/>
          <a:p>
            <a:pPr algn="ctr" indent="0" marL="0">
              <a:lnSpc>
                <a:spcPct val="100000"/>
              </a:lnSpc>
              <a:buNone/>
            </a:pPr>
            <a:r>
              <a:rPr lang="en-US" sz="1020" b="1" dirty="0">
                <a:solidFill>
                  <a:srgbClr val="A68BC6"/>
                </a:solidFill>
                <a:latin typeface="Aptos" pitchFamily="34" charset="0"/>
                <a:ea typeface="Aptos" pitchFamily="34" charset="-122"/>
                <a:cs typeface="Aptos" pitchFamily="34" charset="-120"/>
              </a:rPr>
              <a:t>STATIC PRODUCT MEDIA</a:t>
            </a:r>
            <a:endParaRPr lang="en-US" sz="1020" dirty="0"/>
          </a:p>
        </p:txBody>
      </p:sp>
      <p:sp>
        <p:nvSpPr>
          <p:cNvPr id="33" name="Text 31"/>
          <p:cNvSpPr/>
          <p:nvPr/>
        </p:nvSpPr>
        <p:spPr>
          <a:xfrm>
            <a:off x="1024128" y="528523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C9A96E"/>
                </a:solidFill>
                <a:latin typeface="Aptos" pitchFamily="34" charset="0"/>
                <a:ea typeface="Aptos" pitchFamily="34" charset="-122"/>
                <a:cs typeface="Aptos" pitchFamily="34" charset="-120"/>
              </a:rPr>
              <a:t>VITE PROXY</a:t>
            </a:r>
            <a:endParaRPr lang="en-US" sz="1000" dirty="0"/>
          </a:p>
        </p:txBody>
      </p:sp>
      <p:sp>
        <p:nvSpPr>
          <p:cNvPr id="34" name="Text 32"/>
          <p:cNvSpPr/>
          <p:nvPr/>
        </p:nvSpPr>
        <p:spPr>
          <a:xfrm>
            <a:off x="1024128" y="5559552"/>
            <a:ext cx="2331720" cy="256032"/>
          </a:xfrm>
          <a:prstGeom prst="rect">
            <a:avLst/>
          </a:prstGeom>
          <a:noFill/>
          <a:ln/>
        </p:spPr>
        <p:txBody>
          <a:bodyPr wrap="square" lIns="0" tIns="0" rIns="0" bIns="0" rtlCol="0" anchor="t">
            <a:normAutofit/>
          </a:bodyPr>
          <a:lstStyle/>
          <a:p>
            <a:pPr algn="l" indent="0" marL="0">
              <a:lnSpc>
                <a:spcPct val="100000"/>
              </a:lnSpc>
              <a:buNone/>
            </a:pPr>
            <a:r>
              <a:rPr lang="en-US" sz="1350" b="1" dirty="0">
                <a:solidFill>
                  <a:srgbClr val="F4F0E8"/>
                </a:solidFill>
                <a:latin typeface="Aptos" pitchFamily="34" charset="0"/>
                <a:ea typeface="Aptos" pitchFamily="34" charset="-122"/>
                <a:cs typeface="Aptos" pitchFamily="34" charset="-120"/>
              </a:rPr>
              <a:t>/api + /static</a:t>
            </a:r>
            <a:endParaRPr lang="en-US" sz="1350" dirty="0"/>
          </a:p>
        </p:txBody>
      </p:sp>
      <p:sp>
        <p:nvSpPr>
          <p:cNvPr id="35" name="Text 33"/>
          <p:cNvSpPr/>
          <p:nvPr/>
        </p:nvSpPr>
        <p:spPr>
          <a:xfrm>
            <a:off x="3767328" y="528523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79A7D8"/>
                </a:solidFill>
                <a:latin typeface="Aptos" pitchFamily="34" charset="0"/>
                <a:ea typeface="Aptos" pitchFamily="34" charset="-122"/>
                <a:cs typeface="Aptos" pitchFamily="34" charset="-120"/>
              </a:rPr>
              <a:t>BEARER JWT</a:t>
            </a:r>
            <a:endParaRPr lang="en-US" sz="1000" dirty="0"/>
          </a:p>
        </p:txBody>
      </p:sp>
      <p:sp>
        <p:nvSpPr>
          <p:cNvPr id="36" name="Text 34"/>
          <p:cNvSpPr/>
          <p:nvPr/>
        </p:nvSpPr>
        <p:spPr>
          <a:xfrm>
            <a:off x="3767328" y="5559552"/>
            <a:ext cx="2331720" cy="256032"/>
          </a:xfrm>
          <a:prstGeom prst="rect">
            <a:avLst/>
          </a:prstGeom>
          <a:noFill/>
          <a:ln/>
        </p:spPr>
        <p:txBody>
          <a:bodyPr wrap="square" lIns="0" tIns="0" rIns="0" bIns="0" rtlCol="0" anchor="t">
            <a:normAutofit/>
          </a:bodyPr>
          <a:lstStyle/>
          <a:p>
            <a:pPr algn="l" indent="0" marL="0">
              <a:lnSpc>
                <a:spcPct val="100000"/>
              </a:lnSpc>
              <a:buNone/>
            </a:pPr>
            <a:r>
              <a:rPr lang="en-US" sz="1350" b="1" dirty="0">
                <a:solidFill>
                  <a:srgbClr val="F4F0E8"/>
                </a:solidFill>
                <a:latin typeface="Aptos" pitchFamily="34" charset="0"/>
                <a:ea typeface="Aptos" pitchFamily="34" charset="-122"/>
                <a:cs typeface="Aptos" pitchFamily="34" charset="-120"/>
              </a:rPr>
              <a:t>Axios interceptor</a:t>
            </a:r>
            <a:endParaRPr lang="en-US" sz="1350" dirty="0"/>
          </a:p>
        </p:txBody>
      </p:sp>
      <p:sp>
        <p:nvSpPr>
          <p:cNvPr id="37" name="Text 35"/>
          <p:cNvSpPr/>
          <p:nvPr/>
        </p:nvSpPr>
        <p:spPr>
          <a:xfrm>
            <a:off x="6510528" y="528523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65B88A"/>
                </a:solidFill>
                <a:latin typeface="Aptos" pitchFamily="34" charset="0"/>
                <a:ea typeface="Aptos" pitchFamily="34" charset="-122"/>
                <a:cs typeface="Aptos" pitchFamily="34" charset="-120"/>
              </a:rPr>
              <a:t>RBAC</a:t>
            </a:r>
            <a:endParaRPr lang="en-US" sz="1000" dirty="0"/>
          </a:p>
        </p:txBody>
      </p:sp>
      <p:sp>
        <p:nvSpPr>
          <p:cNvPr id="38" name="Text 36"/>
          <p:cNvSpPr/>
          <p:nvPr/>
        </p:nvSpPr>
        <p:spPr>
          <a:xfrm>
            <a:off x="6510528" y="5559552"/>
            <a:ext cx="2331720" cy="256032"/>
          </a:xfrm>
          <a:prstGeom prst="rect">
            <a:avLst/>
          </a:prstGeom>
          <a:noFill/>
          <a:ln/>
        </p:spPr>
        <p:txBody>
          <a:bodyPr wrap="square" lIns="0" tIns="0" rIns="0" bIns="0" rtlCol="0" anchor="t">
            <a:normAutofit/>
          </a:bodyPr>
          <a:lstStyle/>
          <a:p>
            <a:pPr algn="l" indent="0" marL="0">
              <a:lnSpc>
                <a:spcPct val="100000"/>
              </a:lnSpc>
              <a:buNone/>
            </a:pPr>
            <a:r>
              <a:rPr lang="en-US" sz="1350" b="1" dirty="0">
                <a:solidFill>
                  <a:srgbClr val="F4F0E8"/>
                </a:solidFill>
                <a:latin typeface="Aptos" pitchFamily="34" charset="0"/>
                <a:ea typeface="Aptos" pitchFamily="34" charset="-122"/>
                <a:cs typeface="Aptos" pitchFamily="34" charset="-120"/>
              </a:rPr>
              <a:t>is_admin + require_admin</a:t>
            </a:r>
            <a:endParaRPr lang="en-US" sz="1350" dirty="0"/>
          </a:p>
        </p:txBody>
      </p:sp>
      <p:sp>
        <p:nvSpPr>
          <p:cNvPr id="39" name="Text 37"/>
          <p:cNvSpPr/>
          <p:nvPr/>
        </p:nvSpPr>
        <p:spPr>
          <a:xfrm>
            <a:off x="9253728" y="528523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A68BC6"/>
                </a:solidFill>
                <a:latin typeface="Aptos" pitchFamily="34" charset="0"/>
                <a:ea typeface="Aptos" pitchFamily="34" charset="-122"/>
                <a:cs typeface="Aptos" pitchFamily="34" charset="-120"/>
              </a:rPr>
              <a:t>MIDDLEWARE</a:t>
            </a:r>
            <a:endParaRPr lang="en-US" sz="1000" dirty="0"/>
          </a:p>
        </p:txBody>
      </p:sp>
      <p:sp>
        <p:nvSpPr>
          <p:cNvPr id="40" name="Text 38"/>
          <p:cNvSpPr/>
          <p:nvPr/>
        </p:nvSpPr>
        <p:spPr>
          <a:xfrm>
            <a:off x="9253728" y="5559552"/>
            <a:ext cx="2331720" cy="256032"/>
          </a:xfrm>
          <a:prstGeom prst="rect">
            <a:avLst/>
          </a:prstGeom>
          <a:noFill/>
          <a:ln/>
        </p:spPr>
        <p:txBody>
          <a:bodyPr wrap="square" lIns="0" tIns="0" rIns="0" bIns="0" rtlCol="0" anchor="t">
            <a:normAutofit/>
          </a:bodyPr>
          <a:lstStyle/>
          <a:p>
            <a:pPr algn="l" indent="0" marL="0">
              <a:lnSpc>
                <a:spcPct val="100000"/>
              </a:lnSpc>
              <a:buNone/>
            </a:pPr>
            <a:r>
              <a:rPr lang="en-US" sz="1350" b="1" dirty="0">
                <a:solidFill>
                  <a:srgbClr val="F4F0E8"/>
                </a:solidFill>
                <a:latin typeface="Aptos" pitchFamily="34" charset="0"/>
                <a:ea typeface="Aptos" pitchFamily="34" charset="-122"/>
                <a:cs typeface="Aptos" pitchFamily="34" charset="-120"/>
              </a:rPr>
              <a:t>CORS + GZip</a:t>
            </a:r>
            <a:endParaRPr lang="en-US" sz="1350" dirty="0"/>
          </a:p>
        </p:txBody>
      </p:sp>
    </p:spTree>
  </p:cSld>
  <p:clrMapOvr>
    <a:masterClrMapping/>
  </p:clrMapOvr>
  <p:transition spd="med" advClick="1">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COMPLETE SCHEMA LANDSCAPE</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2550" b="1" dirty="0">
                <a:solidFill>
                  <a:srgbClr val="F4F0E8"/>
                </a:solidFill>
                <a:latin typeface="Georgia" pitchFamily="34" charset="0"/>
                <a:ea typeface="Georgia" pitchFamily="34" charset="-122"/>
                <a:cs typeface="Georgia" pitchFamily="34" charset="-120"/>
              </a:rPr>
              <a:t>Forty-five tables stay understandable because the schema is modular</a:t>
            </a:r>
            <a:endParaRPr lang="en-US" sz="255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The target model is grouped by business responsibility—not by implementation file.</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04</a:t>
            </a:r>
            <a:endParaRPr lang="en-US" sz="950" dirty="0"/>
          </a:p>
        </p:txBody>
      </p:sp>
      <p:sp>
        <p:nvSpPr>
          <p:cNvPr id="8" name="Shape 6"/>
          <p:cNvSpPr/>
          <p:nvPr/>
        </p:nvSpPr>
        <p:spPr>
          <a:xfrm>
            <a:off x="658368" y="1828800"/>
            <a:ext cx="3502152" cy="1572768"/>
          </a:xfrm>
          <a:prstGeom prst="roundRect">
            <a:avLst>
              <a:gd name="adj" fmla="val 6977"/>
            </a:avLst>
          </a:prstGeom>
          <a:solidFill>
            <a:srgbClr val="15151C"/>
          </a:solidFill>
          <a:ln w="12700">
            <a:solidFill>
              <a:srgbClr val="34343E"/>
            </a:solidFill>
            <a:prstDash val="solid"/>
          </a:ln>
        </p:spPr>
      </p:sp>
      <p:sp>
        <p:nvSpPr>
          <p:cNvPr id="9" name="Shape 7"/>
          <p:cNvSpPr/>
          <p:nvPr/>
        </p:nvSpPr>
        <p:spPr>
          <a:xfrm>
            <a:off x="658368" y="1828800"/>
            <a:ext cx="64008" cy="1572768"/>
          </a:xfrm>
          <a:prstGeom prst="rect">
            <a:avLst/>
          </a:prstGeom>
          <a:solidFill>
            <a:srgbClr val="A68BC6"/>
          </a:solidFill>
          <a:ln w="12700">
            <a:solidFill>
              <a:srgbClr val="A68BC6">
                <a:alpha val="0"/>
              </a:srgbClr>
            </a:solidFill>
            <a:prstDash val="solid"/>
          </a:ln>
        </p:spPr>
      </p:sp>
      <p:sp>
        <p:nvSpPr>
          <p:cNvPr id="10" name="Text 8"/>
          <p:cNvSpPr/>
          <p:nvPr/>
        </p:nvSpPr>
        <p:spPr>
          <a:xfrm>
            <a:off x="859536" y="1993392"/>
            <a:ext cx="2633472" cy="228600"/>
          </a:xfrm>
          <a:prstGeom prst="rect">
            <a:avLst/>
          </a:prstGeom>
          <a:noFill/>
          <a:ln/>
        </p:spPr>
        <p:txBody>
          <a:bodyPr wrap="square" lIns="0" tIns="0" rIns="0" bIns="0" rtlCol="0" anchor="t">
            <a:normAutofit/>
          </a:bodyPr>
          <a:lstStyle/>
          <a:p>
            <a:pPr algn="l" indent="0" marL="0">
              <a:lnSpc>
                <a:spcPct val="100000"/>
              </a:lnSpc>
              <a:buNone/>
            </a:pPr>
            <a:r>
              <a:rPr lang="en-US" sz="1250" b="1" spc="80" kern="0" dirty="0">
                <a:solidFill>
                  <a:srgbClr val="A68BC6"/>
                </a:solidFill>
                <a:latin typeface="Aptos" pitchFamily="34" charset="0"/>
                <a:ea typeface="Aptos" pitchFamily="34" charset="-122"/>
                <a:cs typeface="Aptos" pitchFamily="34" charset="-120"/>
              </a:rPr>
              <a:t>LOOKUP + ADMINISTRATION</a:t>
            </a:r>
            <a:endParaRPr lang="en-US" sz="1250" dirty="0"/>
          </a:p>
        </p:txBody>
      </p:sp>
      <p:sp>
        <p:nvSpPr>
          <p:cNvPr id="11" name="Text 9"/>
          <p:cNvSpPr/>
          <p:nvPr/>
        </p:nvSpPr>
        <p:spPr>
          <a:xfrm>
            <a:off x="3593592" y="1947672"/>
            <a:ext cx="365760" cy="274320"/>
          </a:xfrm>
          <a:prstGeom prst="rect">
            <a:avLst/>
          </a:prstGeom>
          <a:noFill/>
          <a:ln/>
        </p:spPr>
        <p:txBody>
          <a:bodyPr wrap="square" lIns="0" tIns="0" rIns="0" bIns="0" rtlCol="0" anchor="t">
            <a:normAutofit/>
          </a:bodyPr>
          <a:lstStyle/>
          <a:p>
            <a:pPr algn="r" indent="0" marL="0">
              <a:lnSpc>
                <a:spcPct val="100000"/>
              </a:lnSpc>
              <a:buNone/>
            </a:pPr>
            <a:r>
              <a:rPr lang="en-US" sz="1800" b="1" dirty="0">
                <a:solidFill>
                  <a:srgbClr val="F4F0E8"/>
                </a:solidFill>
                <a:latin typeface="Georgia" pitchFamily="34" charset="0"/>
                <a:ea typeface="Georgia" pitchFamily="34" charset="-122"/>
                <a:cs typeface="Georgia" pitchFamily="34" charset="-120"/>
              </a:rPr>
              <a:t>10</a:t>
            </a:r>
            <a:endParaRPr lang="en-US" sz="1800" dirty="0"/>
          </a:p>
        </p:txBody>
      </p:sp>
      <p:sp>
        <p:nvSpPr>
          <p:cNvPr id="12" name="Shape 10"/>
          <p:cNvSpPr/>
          <p:nvPr/>
        </p:nvSpPr>
        <p:spPr>
          <a:xfrm>
            <a:off x="859536" y="2313432"/>
            <a:ext cx="3099816" cy="0"/>
          </a:xfrm>
          <a:prstGeom prst="line">
            <a:avLst/>
          </a:prstGeom>
          <a:noFill/>
          <a:ln w="8890">
            <a:solidFill>
              <a:srgbClr val="34343E"/>
            </a:solidFill>
            <a:prstDash val="solid"/>
            <a:headEnd type="none"/>
            <a:tailEnd type="none"/>
          </a:ln>
        </p:spPr>
      </p:sp>
      <p:sp>
        <p:nvSpPr>
          <p:cNvPr id="13" name="Text 11"/>
          <p:cNvSpPr/>
          <p:nvPr/>
        </p:nvSpPr>
        <p:spPr>
          <a:xfrm>
            <a:off x="859536" y="2450592"/>
            <a:ext cx="3099816" cy="822960"/>
          </a:xfrm>
          <a:prstGeom prst="rect">
            <a:avLst/>
          </a:prstGeom>
          <a:noFill/>
          <a:ln/>
        </p:spPr>
        <p:txBody>
          <a:bodyPr wrap="square" lIns="0" tIns="0" rIns="0" bIns="0" rtlCol="0" anchor="t">
            <a:normAutofit/>
          </a:bodyPr>
          <a:lstStyle/>
          <a:p>
            <a:pPr algn="l" indent="0" marL="0">
              <a:lnSpc>
                <a:spcPct val="100000"/>
              </a:lnSpc>
              <a:buNone/>
            </a:pPr>
            <a:r>
              <a:rPr lang="en-US" sz="1150" dirty="0">
                <a:solidFill>
                  <a:srgbClr val="F4F0E8"/>
                </a:solidFill>
                <a:latin typeface="Aptos" pitchFamily="34" charset="0"/>
                <a:ea typeface="Aptos" pitchFamily="34" charset="-122"/>
                <a:cs typeface="Aptos" pitchFamily="34" charset="-120"/>
              </a:rPr>
              <a:t>genders • colors • sizes • materials • seasons</a:t>
            </a:r>
            <a:endParaRPr lang="en-US" sz="1150" dirty="0"/>
          </a:p>
          <a:p>
            <a:pPr algn="l" indent="0" marL="0">
              <a:lnSpc>
                <a:spcPct val="100000"/>
              </a:lnSpc>
              <a:buNone/>
            </a:pPr>
            <a:r>
              <a:rPr lang="en-US" sz="1150" dirty="0">
                <a:solidFill>
                  <a:srgbClr val="F4F0E8"/>
                </a:solidFill>
                <a:latin typeface="Aptos" pitchFamily="34" charset="0"/>
                <a:ea typeface="Aptos" pitchFamily="34" charset="-122"/>
                <a:cs typeface="Aptos" pitchFamily="34" charset="-120"/>
              </a:rPr>
              <a:t>roles • permissions • role_permissions • admins • activity_logs</a:t>
            </a:r>
            <a:endParaRPr lang="en-US" sz="1150" dirty="0"/>
          </a:p>
        </p:txBody>
      </p:sp>
      <p:sp>
        <p:nvSpPr>
          <p:cNvPr id="14" name="Shape 12"/>
          <p:cNvSpPr/>
          <p:nvPr/>
        </p:nvSpPr>
        <p:spPr>
          <a:xfrm>
            <a:off x="4343400" y="1828800"/>
            <a:ext cx="3502152" cy="1572768"/>
          </a:xfrm>
          <a:prstGeom prst="roundRect">
            <a:avLst>
              <a:gd name="adj" fmla="val 6977"/>
            </a:avLst>
          </a:prstGeom>
          <a:solidFill>
            <a:srgbClr val="15151C"/>
          </a:solidFill>
          <a:ln w="12700">
            <a:solidFill>
              <a:srgbClr val="34343E"/>
            </a:solidFill>
            <a:prstDash val="solid"/>
          </a:ln>
        </p:spPr>
      </p:sp>
      <p:sp>
        <p:nvSpPr>
          <p:cNvPr id="15" name="Shape 13"/>
          <p:cNvSpPr/>
          <p:nvPr/>
        </p:nvSpPr>
        <p:spPr>
          <a:xfrm>
            <a:off x="4343400" y="1828800"/>
            <a:ext cx="64008" cy="1572768"/>
          </a:xfrm>
          <a:prstGeom prst="rect">
            <a:avLst/>
          </a:prstGeom>
          <a:solidFill>
            <a:srgbClr val="C9A96E"/>
          </a:solidFill>
          <a:ln w="12700">
            <a:solidFill>
              <a:srgbClr val="C9A96E">
                <a:alpha val="0"/>
              </a:srgbClr>
            </a:solidFill>
            <a:prstDash val="solid"/>
          </a:ln>
        </p:spPr>
      </p:sp>
      <p:sp>
        <p:nvSpPr>
          <p:cNvPr id="16" name="Text 14"/>
          <p:cNvSpPr/>
          <p:nvPr/>
        </p:nvSpPr>
        <p:spPr>
          <a:xfrm>
            <a:off x="4544568" y="1993392"/>
            <a:ext cx="2633472" cy="228600"/>
          </a:xfrm>
          <a:prstGeom prst="rect">
            <a:avLst/>
          </a:prstGeom>
          <a:noFill/>
          <a:ln/>
        </p:spPr>
        <p:txBody>
          <a:bodyPr wrap="square" lIns="0" tIns="0" rIns="0" bIns="0" rtlCol="0" anchor="t">
            <a:normAutofit/>
          </a:bodyPr>
          <a:lstStyle/>
          <a:p>
            <a:pPr algn="l" indent="0" marL="0">
              <a:lnSpc>
                <a:spcPct val="100000"/>
              </a:lnSpc>
              <a:buNone/>
            </a:pPr>
            <a:r>
              <a:rPr lang="en-US" sz="1250" b="1" spc="80" kern="0" dirty="0">
                <a:solidFill>
                  <a:srgbClr val="C9A96E"/>
                </a:solidFill>
                <a:latin typeface="Aptos" pitchFamily="34" charset="0"/>
                <a:ea typeface="Aptos" pitchFamily="34" charset="-122"/>
                <a:cs typeface="Aptos" pitchFamily="34" charset="-120"/>
              </a:rPr>
              <a:t>CATALOG + PRODUCT</a:t>
            </a:r>
            <a:endParaRPr lang="en-US" sz="1250" dirty="0"/>
          </a:p>
        </p:txBody>
      </p:sp>
      <p:sp>
        <p:nvSpPr>
          <p:cNvPr id="17" name="Text 15"/>
          <p:cNvSpPr/>
          <p:nvPr/>
        </p:nvSpPr>
        <p:spPr>
          <a:xfrm>
            <a:off x="7278624" y="1947672"/>
            <a:ext cx="365760" cy="274320"/>
          </a:xfrm>
          <a:prstGeom prst="rect">
            <a:avLst/>
          </a:prstGeom>
          <a:noFill/>
          <a:ln/>
        </p:spPr>
        <p:txBody>
          <a:bodyPr wrap="square" lIns="0" tIns="0" rIns="0" bIns="0" rtlCol="0" anchor="t">
            <a:normAutofit/>
          </a:bodyPr>
          <a:lstStyle/>
          <a:p>
            <a:pPr algn="r" indent="0" marL="0">
              <a:lnSpc>
                <a:spcPct val="100000"/>
              </a:lnSpc>
              <a:buNone/>
            </a:pPr>
            <a:r>
              <a:rPr lang="en-US" sz="1800" b="1" dirty="0">
                <a:solidFill>
                  <a:srgbClr val="F4F0E8"/>
                </a:solidFill>
                <a:latin typeface="Georgia" pitchFamily="34" charset="0"/>
                <a:ea typeface="Georgia" pitchFamily="34" charset="-122"/>
                <a:cs typeface="Georgia" pitchFamily="34" charset="-120"/>
              </a:rPr>
              <a:t>10</a:t>
            </a:r>
            <a:endParaRPr lang="en-US" sz="1800" dirty="0"/>
          </a:p>
        </p:txBody>
      </p:sp>
      <p:sp>
        <p:nvSpPr>
          <p:cNvPr id="18" name="Shape 16"/>
          <p:cNvSpPr/>
          <p:nvPr/>
        </p:nvSpPr>
        <p:spPr>
          <a:xfrm>
            <a:off x="4544568" y="2313432"/>
            <a:ext cx="3099816" cy="0"/>
          </a:xfrm>
          <a:prstGeom prst="line">
            <a:avLst/>
          </a:prstGeom>
          <a:noFill/>
          <a:ln w="8890">
            <a:solidFill>
              <a:srgbClr val="34343E"/>
            </a:solidFill>
            <a:prstDash val="solid"/>
            <a:headEnd type="none"/>
            <a:tailEnd type="none"/>
          </a:ln>
        </p:spPr>
      </p:sp>
      <p:sp>
        <p:nvSpPr>
          <p:cNvPr id="19" name="Text 17"/>
          <p:cNvSpPr/>
          <p:nvPr/>
        </p:nvSpPr>
        <p:spPr>
          <a:xfrm>
            <a:off x="4544568" y="2450592"/>
            <a:ext cx="3099816" cy="822960"/>
          </a:xfrm>
          <a:prstGeom prst="rect">
            <a:avLst/>
          </a:prstGeom>
          <a:noFill/>
          <a:ln/>
        </p:spPr>
        <p:txBody>
          <a:bodyPr wrap="square" lIns="0" tIns="0" rIns="0" bIns="0" rtlCol="0" anchor="t">
            <a:normAutofit/>
          </a:bodyPr>
          <a:lstStyle/>
          <a:p>
            <a:pPr algn="l" indent="0" marL="0">
              <a:lnSpc>
                <a:spcPct val="100000"/>
              </a:lnSpc>
              <a:buNone/>
            </a:pPr>
            <a:r>
              <a:rPr lang="en-US" sz="1150" dirty="0">
                <a:solidFill>
                  <a:srgbClr val="F4F0E8"/>
                </a:solidFill>
                <a:latin typeface="Aptos" pitchFamily="34" charset="0"/>
                <a:ea typeface="Aptos" pitchFamily="34" charset="-122"/>
                <a:cs typeface="Aptos" pitchFamily="34" charset="-120"/>
              </a:rPr>
              <a:t>brands • suppliers • categories • subcategories • collections</a:t>
            </a:r>
            <a:endParaRPr lang="en-US" sz="1150" dirty="0"/>
          </a:p>
          <a:p>
            <a:pPr algn="l" indent="0" marL="0">
              <a:lnSpc>
                <a:spcPct val="100000"/>
              </a:lnSpc>
              <a:buNone/>
            </a:pPr>
            <a:r>
              <a:rPr lang="en-US" sz="1150" dirty="0">
                <a:solidFill>
                  <a:srgbClr val="F4F0E8"/>
                </a:solidFill>
                <a:latin typeface="Aptos" pitchFamily="34" charset="0"/>
                <a:ea typeface="Aptos" pitchFamily="34" charset="-122"/>
                <a:cs typeface="Aptos" pitchFamily="34" charset="-120"/>
              </a:rPr>
              <a:t>products • product_images • product_variants • product_specifications • product_collections</a:t>
            </a:r>
            <a:endParaRPr lang="en-US" sz="1150" dirty="0"/>
          </a:p>
        </p:txBody>
      </p:sp>
      <p:sp>
        <p:nvSpPr>
          <p:cNvPr id="20" name="Shape 18"/>
          <p:cNvSpPr/>
          <p:nvPr/>
        </p:nvSpPr>
        <p:spPr>
          <a:xfrm>
            <a:off x="8028432" y="1828800"/>
            <a:ext cx="3502152" cy="1572768"/>
          </a:xfrm>
          <a:prstGeom prst="roundRect">
            <a:avLst>
              <a:gd name="adj" fmla="val 6977"/>
            </a:avLst>
          </a:prstGeom>
          <a:solidFill>
            <a:srgbClr val="15151C"/>
          </a:solidFill>
          <a:ln w="12700">
            <a:solidFill>
              <a:srgbClr val="34343E"/>
            </a:solidFill>
            <a:prstDash val="solid"/>
          </a:ln>
        </p:spPr>
      </p:sp>
      <p:sp>
        <p:nvSpPr>
          <p:cNvPr id="21" name="Shape 19"/>
          <p:cNvSpPr/>
          <p:nvPr/>
        </p:nvSpPr>
        <p:spPr>
          <a:xfrm>
            <a:off x="8028432" y="1828800"/>
            <a:ext cx="64008" cy="1572768"/>
          </a:xfrm>
          <a:prstGeom prst="rect">
            <a:avLst/>
          </a:prstGeom>
          <a:solidFill>
            <a:srgbClr val="79A7D8"/>
          </a:solidFill>
          <a:ln w="12700">
            <a:solidFill>
              <a:srgbClr val="79A7D8">
                <a:alpha val="0"/>
              </a:srgbClr>
            </a:solidFill>
            <a:prstDash val="solid"/>
          </a:ln>
        </p:spPr>
      </p:sp>
      <p:sp>
        <p:nvSpPr>
          <p:cNvPr id="22" name="Text 20"/>
          <p:cNvSpPr/>
          <p:nvPr/>
        </p:nvSpPr>
        <p:spPr>
          <a:xfrm>
            <a:off x="8229600" y="1993392"/>
            <a:ext cx="2633472" cy="228600"/>
          </a:xfrm>
          <a:prstGeom prst="rect">
            <a:avLst/>
          </a:prstGeom>
          <a:noFill/>
          <a:ln/>
        </p:spPr>
        <p:txBody>
          <a:bodyPr wrap="square" lIns="0" tIns="0" rIns="0" bIns="0" rtlCol="0" anchor="t">
            <a:normAutofit/>
          </a:bodyPr>
          <a:lstStyle/>
          <a:p>
            <a:pPr algn="l" indent="0" marL="0">
              <a:lnSpc>
                <a:spcPct val="100000"/>
              </a:lnSpc>
              <a:buNone/>
            </a:pPr>
            <a:r>
              <a:rPr lang="en-US" sz="1250" b="1" spc="80" kern="0" dirty="0">
                <a:solidFill>
                  <a:srgbClr val="79A7D8"/>
                </a:solidFill>
                <a:latin typeface="Aptos" pitchFamily="34" charset="0"/>
                <a:ea typeface="Aptos" pitchFamily="34" charset="-122"/>
                <a:cs typeface="Aptos" pitchFamily="34" charset="-120"/>
              </a:rPr>
              <a:t>CUSTOMER</a:t>
            </a:r>
            <a:endParaRPr lang="en-US" sz="1250" dirty="0"/>
          </a:p>
        </p:txBody>
      </p:sp>
      <p:sp>
        <p:nvSpPr>
          <p:cNvPr id="23" name="Text 21"/>
          <p:cNvSpPr/>
          <p:nvPr/>
        </p:nvSpPr>
        <p:spPr>
          <a:xfrm>
            <a:off x="10963656" y="1947672"/>
            <a:ext cx="365760" cy="274320"/>
          </a:xfrm>
          <a:prstGeom prst="rect">
            <a:avLst/>
          </a:prstGeom>
          <a:noFill/>
          <a:ln/>
        </p:spPr>
        <p:txBody>
          <a:bodyPr wrap="square" lIns="0" tIns="0" rIns="0" bIns="0" rtlCol="0" anchor="t">
            <a:normAutofit/>
          </a:bodyPr>
          <a:lstStyle/>
          <a:p>
            <a:pPr algn="r" indent="0" marL="0">
              <a:lnSpc>
                <a:spcPct val="100000"/>
              </a:lnSpc>
              <a:buNone/>
            </a:pPr>
            <a:r>
              <a:rPr lang="en-US" sz="1800" b="1" dirty="0">
                <a:solidFill>
                  <a:srgbClr val="F4F0E8"/>
                </a:solidFill>
                <a:latin typeface="Georgia" pitchFamily="34" charset="0"/>
                <a:ea typeface="Georgia" pitchFamily="34" charset="-122"/>
                <a:cs typeface="Georgia" pitchFamily="34" charset="-120"/>
              </a:rPr>
              <a:t>08</a:t>
            </a:r>
            <a:endParaRPr lang="en-US" sz="1800" dirty="0"/>
          </a:p>
        </p:txBody>
      </p:sp>
      <p:sp>
        <p:nvSpPr>
          <p:cNvPr id="24" name="Shape 22"/>
          <p:cNvSpPr/>
          <p:nvPr/>
        </p:nvSpPr>
        <p:spPr>
          <a:xfrm>
            <a:off x="8229600" y="2313432"/>
            <a:ext cx="3099816" cy="0"/>
          </a:xfrm>
          <a:prstGeom prst="line">
            <a:avLst/>
          </a:prstGeom>
          <a:noFill/>
          <a:ln w="8890">
            <a:solidFill>
              <a:srgbClr val="34343E"/>
            </a:solidFill>
            <a:prstDash val="solid"/>
            <a:headEnd type="none"/>
            <a:tailEnd type="none"/>
          </a:ln>
        </p:spPr>
      </p:sp>
      <p:sp>
        <p:nvSpPr>
          <p:cNvPr id="25" name="Text 23"/>
          <p:cNvSpPr/>
          <p:nvPr/>
        </p:nvSpPr>
        <p:spPr>
          <a:xfrm>
            <a:off x="8229600" y="2450592"/>
            <a:ext cx="3099816" cy="822960"/>
          </a:xfrm>
          <a:prstGeom prst="rect">
            <a:avLst/>
          </a:prstGeom>
          <a:noFill/>
          <a:ln/>
        </p:spPr>
        <p:txBody>
          <a:bodyPr wrap="square" lIns="0" tIns="0" rIns="0" bIns="0" rtlCol="0" anchor="t">
            <a:normAutofit/>
          </a:bodyPr>
          <a:lstStyle/>
          <a:p>
            <a:pPr algn="l" indent="0" marL="0">
              <a:lnSpc>
                <a:spcPct val="100000"/>
              </a:lnSpc>
              <a:buNone/>
            </a:pPr>
            <a:r>
              <a:rPr lang="en-US" sz="1150" dirty="0">
                <a:solidFill>
                  <a:srgbClr val="F4F0E8"/>
                </a:solidFill>
                <a:latin typeface="Aptos" pitchFamily="34" charset="0"/>
                <a:ea typeface="Aptos" pitchFamily="34" charset="-122"/>
                <a:cs typeface="Aptos" pitchFamily="34" charset="-120"/>
              </a:rPr>
              <a:t>customers • customer_profiles • customer_addresses • wishlists • wishlist_items • carts • cart_items • customer_notifications</a:t>
            </a:r>
            <a:endParaRPr lang="en-US" sz="1150" dirty="0"/>
          </a:p>
        </p:txBody>
      </p:sp>
      <p:sp>
        <p:nvSpPr>
          <p:cNvPr id="26" name="Shape 24"/>
          <p:cNvSpPr/>
          <p:nvPr/>
        </p:nvSpPr>
        <p:spPr>
          <a:xfrm>
            <a:off x="658368" y="3630168"/>
            <a:ext cx="3502152" cy="1362456"/>
          </a:xfrm>
          <a:prstGeom prst="roundRect">
            <a:avLst>
              <a:gd name="adj" fmla="val 8054"/>
            </a:avLst>
          </a:prstGeom>
          <a:solidFill>
            <a:srgbClr val="15151C"/>
          </a:solidFill>
          <a:ln w="12700">
            <a:solidFill>
              <a:srgbClr val="34343E"/>
            </a:solidFill>
            <a:prstDash val="solid"/>
          </a:ln>
        </p:spPr>
      </p:sp>
      <p:sp>
        <p:nvSpPr>
          <p:cNvPr id="27" name="Shape 25"/>
          <p:cNvSpPr/>
          <p:nvPr/>
        </p:nvSpPr>
        <p:spPr>
          <a:xfrm>
            <a:off x="658368" y="3630168"/>
            <a:ext cx="64008" cy="1362456"/>
          </a:xfrm>
          <a:prstGeom prst="rect">
            <a:avLst/>
          </a:prstGeom>
          <a:solidFill>
            <a:srgbClr val="65B88A"/>
          </a:solidFill>
          <a:ln w="12700">
            <a:solidFill>
              <a:srgbClr val="65B88A">
                <a:alpha val="0"/>
              </a:srgbClr>
            </a:solidFill>
            <a:prstDash val="solid"/>
          </a:ln>
        </p:spPr>
      </p:sp>
      <p:sp>
        <p:nvSpPr>
          <p:cNvPr id="28" name="Text 26"/>
          <p:cNvSpPr/>
          <p:nvPr/>
        </p:nvSpPr>
        <p:spPr>
          <a:xfrm>
            <a:off x="859536" y="3794760"/>
            <a:ext cx="2633472" cy="228600"/>
          </a:xfrm>
          <a:prstGeom prst="rect">
            <a:avLst/>
          </a:prstGeom>
          <a:noFill/>
          <a:ln/>
        </p:spPr>
        <p:txBody>
          <a:bodyPr wrap="square" lIns="0" tIns="0" rIns="0" bIns="0" rtlCol="0" anchor="t">
            <a:normAutofit/>
          </a:bodyPr>
          <a:lstStyle/>
          <a:p>
            <a:pPr algn="l" indent="0" marL="0">
              <a:lnSpc>
                <a:spcPct val="100000"/>
              </a:lnSpc>
              <a:buNone/>
            </a:pPr>
            <a:r>
              <a:rPr lang="en-US" sz="1250" b="1" spc="80" kern="0" dirty="0">
                <a:solidFill>
                  <a:srgbClr val="65B88A"/>
                </a:solidFill>
                <a:latin typeface="Aptos" pitchFamily="34" charset="0"/>
                <a:ea typeface="Aptos" pitchFamily="34" charset="-122"/>
                <a:cs typeface="Aptos" pitchFamily="34" charset="-120"/>
              </a:rPr>
              <a:t>WAREHOUSE + INVENTORY</a:t>
            </a:r>
            <a:endParaRPr lang="en-US" sz="1250" dirty="0"/>
          </a:p>
        </p:txBody>
      </p:sp>
      <p:sp>
        <p:nvSpPr>
          <p:cNvPr id="29" name="Text 27"/>
          <p:cNvSpPr/>
          <p:nvPr/>
        </p:nvSpPr>
        <p:spPr>
          <a:xfrm>
            <a:off x="3593592" y="3749040"/>
            <a:ext cx="365760" cy="274320"/>
          </a:xfrm>
          <a:prstGeom prst="rect">
            <a:avLst/>
          </a:prstGeom>
          <a:noFill/>
          <a:ln/>
        </p:spPr>
        <p:txBody>
          <a:bodyPr wrap="square" lIns="0" tIns="0" rIns="0" bIns="0" rtlCol="0" anchor="t">
            <a:normAutofit/>
          </a:bodyPr>
          <a:lstStyle/>
          <a:p>
            <a:pPr algn="r" indent="0" marL="0">
              <a:lnSpc>
                <a:spcPct val="100000"/>
              </a:lnSpc>
              <a:buNone/>
            </a:pPr>
            <a:r>
              <a:rPr lang="en-US" sz="1800" b="1" dirty="0">
                <a:solidFill>
                  <a:srgbClr val="F4F0E8"/>
                </a:solidFill>
                <a:latin typeface="Georgia" pitchFamily="34" charset="0"/>
                <a:ea typeface="Georgia" pitchFamily="34" charset="-122"/>
                <a:cs typeface="Georgia" pitchFamily="34" charset="-120"/>
              </a:rPr>
              <a:t>03</a:t>
            </a:r>
            <a:endParaRPr lang="en-US" sz="1800" dirty="0"/>
          </a:p>
        </p:txBody>
      </p:sp>
      <p:sp>
        <p:nvSpPr>
          <p:cNvPr id="30" name="Shape 28"/>
          <p:cNvSpPr/>
          <p:nvPr/>
        </p:nvSpPr>
        <p:spPr>
          <a:xfrm>
            <a:off x="859536" y="4114800"/>
            <a:ext cx="3099816" cy="0"/>
          </a:xfrm>
          <a:prstGeom prst="line">
            <a:avLst/>
          </a:prstGeom>
          <a:noFill/>
          <a:ln w="8890">
            <a:solidFill>
              <a:srgbClr val="34343E"/>
            </a:solidFill>
            <a:prstDash val="solid"/>
            <a:headEnd type="none"/>
            <a:tailEnd type="none"/>
          </a:ln>
        </p:spPr>
      </p:sp>
      <p:sp>
        <p:nvSpPr>
          <p:cNvPr id="31" name="Text 29"/>
          <p:cNvSpPr/>
          <p:nvPr/>
        </p:nvSpPr>
        <p:spPr>
          <a:xfrm>
            <a:off x="859536" y="4251960"/>
            <a:ext cx="3099816" cy="612648"/>
          </a:xfrm>
          <a:prstGeom prst="rect">
            <a:avLst/>
          </a:prstGeom>
          <a:noFill/>
          <a:ln/>
        </p:spPr>
        <p:txBody>
          <a:bodyPr wrap="square" lIns="0" tIns="0" rIns="0" bIns="0" rtlCol="0" anchor="t">
            <a:normAutofit/>
          </a:bodyPr>
          <a:lstStyle/>
          <a:p>
            <a:pPr algn="l" indent="0" marL="0">
              <a:lnSpc>
                <a:spcPct val="100000"/>
              </a:lnSpc>
              <a:buNone/>
            </a:pPr>
            <a:r>
              <a:rPr lang="en-US" sz="1150" dirty="0">
                <a:solidFill>
                  <a:srgbClr val="F4F0E8"/>
                </a:solidFill>
                <a:latin typeface="Aptos" pitchFamily="34" charset="0"/>
                <a:ea typeface="Aptos" pitchFamily="34" charset="-122"/>
                <a:cs typeface="Aptos" pitchFamily="34" charset="-120"/>
              </a:rPr>
              <a:t>warehouses • inventory • inventory_movements</a:t>
            </a:r>
            <a:endParaRPr lang="en-US" sz="1150" dirty="0"/>
          </a:p>
        </p:txBody>
      </p:sp>
      <p:sp>
        <p:nvSpPr>
          <p:cNvPr id="32" name="Shape 30"/>
          <p:cNvSpPr/>
          <p:nvPr/>
        </p:nvSpPr>
        <p:spPr>
          <a:xfrm>
            <a:off x="4343400" y="3630168"/>
            <a:ext cx="3502152" cy="1362456"/>
          </a:xfrm>
          <a:prstGeom prst="roundRect">
            <a:avLst>
              <a:gd name="adj" fmla="val 8054"/>
            </a:avLst>
          </a:prstGeom>
          <a:solidFill>
            <a:srgbClr val="15151C"/>
          </a:solidFill>
          <a:ln w="12700">
            <a:solidFill>
              <a:srgbClr val="34343E"/>
            </a:solidFill>
            <a:prstDash val="solid"/>
          </a:ln>
        </p:spPr>
      </p:sp>
      <p:sp>
        <p:nvSpPr>
          <p:cNvPr id="33" name="Shape 31"/>
          <p:cNvSpPr/>
          <p:nvPr/>
        </p:nvSpPr>
        <p:spPr>
          <a:xfrm>
            <a:off x="4343400" y="3630168"/>
            <a:ext cx="64008" cy="1362456"/>
          </a:xfrm>
          <a:prstGeom prst="rect">
            <a:avLst/>
          </a:prstGeom>
          <a:solidFill>
            <a:srgbClr val="C9A96E"/>
          </a:solidFill>
          <a:ln w="12700">
            <a:solidFill>
              <a:srgbClr val="C9A96E">
                <a:alpha val="0"/>
              </a:srgbClr>
            </a:solidFill>
            <a:prstDash val="solid"/>
          </a:ln>
        </p:spPr>
      </p:sp>
      <p:sp>
        <p:nvSpPr>
          <p:cNvPr id="34" name="Text 32"/>
          <p:cNvSpPr/>
          <p:nvPr/>
        </p:nvSpPr>
        <p:spPr>
          <a:xfrm>
            <a:off x="4544568" y="3794760"/>
            <a:ext cx="2633472" cy="228600"/>
          </a:xfrm>
          <a:prstGeom prst="rect">
            <a:avLst/>
          </a:prstGeom>
          <a:noFill/>
          <a:ln/>
        </p:spPr>
        <p:txBody>
          <a:bodyPr wrap="square" lIns="0" tIns="0" rIns="0" bIns="0" rtlCol="0" anchor="t">
            <a:normAutofit/>
          </a:bodyPr>
          <a:lstStyle/>
          <a:p>
            <a:pPr algn="l" indent="0" marL="0">
              <a:lnSpc>
                <a:spcPct val="100000"/>
              </a:lnSpc>
              <a:buNone/>
            </a:pPr>
            <a:r>
              <a:rPr lang="en-US" sz="1250" b="1" spc="80" kern="0" dirty="0">
                <a:solidFill>
                  <a:srgbClr val="C9A96E"/>
                </a:solidFill>
                <a:latin typeface="Aptos" pitchFamily="34" charset="0"/>
                <a:ea typeface="Aptos" pitchFamily="34" charset="-122"/>
                <a:cs typeface="Aptos" pitchFamily="34" charset="-120"/>
              </a:rPr>
              <a:t>SALES + FULFILMENT</a:t>
            </a:r>
            <a:endParaRPr lang="en-US" sz="1250" dirty="0"/>
          </a:p>
        </p:txBody>
      </p:sp>
      <p:sp>
        <p:nvSpPr>
          <p:cNvPr id="35" name="Text 33"/>
          <p:cNvSpPr/>
          <p:nvPr/>
        </p:nvSpPr>
        <p:spPr>
          <a:xfrm>
            <a:off x="7278624" y="3749040"/>
            <a:ext cx="365760" cy="274320"/>
          </a:xfrm>
          <a:prstGeom prst="rect">
            <a:avLst/>
          </a:prstGeom>
          <a:noFill/>
          <a:ln/>
        </p:spPr>
        <p:txBody>
          <a:bodyPr wrap="square" lIns="0" tIns="0" rIns="0" bIns="0" rtlCol="0" anchor="t">
            <a:normAutofit/>
          </a:bodyPr>
          <a:lstStyle/>
          <a:p>
            <a:pPr algn="r" indent="0" marL="0">
              <a:lnSpc>
                <a:spcPct val="100000"/>
              </a:lnSpc>
              <a:buNone/>
            </a:pPr>
            <a:r>
              <a:rPr lang="en-US" sz="1800" b="1" dirty="0">
                <a:solidFill>
                  <a:srgbClr val="F4F0E8"/>
                </a:solidFill>
                <a:latin typeface="Georgia" pitchFamily="34" charset="0"/>
                <a:ea typeface="Georgia" pitchFamily="34" charset="-122"/>
                <a:cs typeface="Georgia" pitchFamily="34" charset="-120"/>
              </a:rPr>
              <a:t>11</a:t>
            </a:r>
            <a:endParaRPr lang="en-US" sz="1800" dirty="0"/>
          </a:p>
        </p:txBody>
      </p:sp>
      <p:sp>
        <p:nvSpPr>
          <p:cNvPr id="36" name="Shape 34"/>
          <p:cNvSpPr/>
          <p:nvPr/>
        </p:nvSpPr>
        <p:spPr>
          <a:xfrm>
            <a:off x="4544568" y="4114800"/>
            <a:ext cx="3099816" cy="0"/>
          </a:xfrm>
          <a:prstGeom prst="line">
            <a:avLst/>
          </a:prstGeom>
          <a:noFill/>
          <a:ln w="8890">
            <a:solidFill>
              <a:srgbClr val="34343E"/>
            </a:solidFill>
            <a:prstDash val="solid"/>
            <a:headEnd type="none"/>
            <a:tailEnd type="none"/>
          </a:ln>
        </p:spPr>
      </p:sp>
      <p:sp>
        <p:nvSpPr>
          <p:cNvPr id="37" name="Text 35"/>
          <p:cNvSpPr/>
          <p:nvPr/>
        </p:nvSpPr>
        <p:spPr>
          <a:xfrm>
            <a:off x="4544568" y="4251960"/>
            <a:ext cx="3099816" cy="612648"/>
          </a:xfrm>
          <a:prstGeom prst="rect">
            <a:avLst/>
          </a:prstGeom>
          <a:noFill/>
          <a:ln/>
        </p:spPr>
        <p:txBody>
          <a:bodyPr wrap="square" lIns="0" tIns="0" rIns="0" bIns="0" rtlCol="0" anchor="t">
            <a:normAutofit/>
          </a:bodyPr>
          <a:lstStyle/>
          <a:p>
            <a:pPr algn="l" indent="0" marL="0">
              <a:lnSpc>
                <a:spcPct val="100000"/>
              </a:lnSpc>
              <a:buNone/>
            </a:pPr>
            <a:r>
              <a:rPr lang="en-US" sz="1150" dirty="0">
                <a:solidFill>
                  <a:srgbClr val="F4F0E8"/>
                </a:solidFill>
                <a:latin typeface="Aptos" pitchFamily="34" charset="0"/>
                <a:ea typeface="Aptos" pitchFamily="34" charset="-122"/>
                <a:cs typeface="Aptos" pitchFamily="34" charset="-120"/>
              </a:rPr>
              <a:t>shipping_methods • coupons • coupon_usages • orders • order_items • order_status_history • payments • shipments • invoices • return_requests • refunds</a:t>
            </a:r>
            <a:endParaRPr lang="en-US" sz="1150" dirty="0"/>
          </a:p>
        </p:txBody>
      </p:sp>
      <p:sp>
        <p:nvSpPr>
          <p:cNvPr id="38" name="Shape 36"/>
          <p:cNvSpPr/>
          <p:nvPr/>
        </p:nvSpPr>
        <p:spPr>
          <a:xfrm>
            <a:off x="8028432" y="3630168"/>
            <a:ext cx="3502152" cy="1362456"/>
          </a:xfrm>
          <a:prstGeom prst="roundRect">
            <a:avLst>
              <a:gd name="adj" fmla="val 8054"/>
            </a:avLst>
          </a:prstGeom>
          <a:solidFill>
            <a:srgbClr val="15151C"/>
          </a:solidFill>
          <a:ln w="12700">
            <a:solidFill>
              <a:srgbClr val="34343E"/>
            </a:solidFill>
            <a:prstDash val="solid"/>
          </a:ln>
        </p:spPr>
      </p:sp>
      <p:sp>
        <p:nvSpPr>
          <p:cNvPr id="39" name="Shape 37"/>
          <p:cNvSpPr/>
          <p:nvPr/>
        </p:nvSpPr>
        <p:spPr>
          <a:xfrm>
            <a:off x="8028432" y="3630168"/>
            <a:ext cx="64008" cy="1362456"/>
          </a:xfrm>
          <a:prstGeom prst="rect">
            <a:avLst/>
          </a:prstGeom>
          <a:solidFill>
            <a:srgbClr val="D9796D"/>
          </a:solidFill>
          <a:ln w="12700">
            <a:solidFill>
              <a:srgbClr val="D9796D">
                <a:alpha val="0"/>
              </a:srgbClr>
            </a:solidFill>
            <a:prstDash val="solid"/>
          </a:ln>
        </p:spPr>
      </p:sp>
      <p:sp>
        <p:nvSpPr>
          <p:cNvPr id="40" name="Text 38"/>
          <p:cNvSpPr/>
          <p:nvPr/>
        </p:nvSpPr>
        <p:spPr>
          <a:xfrm>
            <a:off x="8229600" y="3794760"/>
            <a:ext cx="2633472" cy="228600"/>
          </a:xfrm>
          <a:prstGeom prst="rect">
            <a:avLst/>
          </a:prstGeom>
          <a:noFill/>
          <a:ln/>
        </p:spPr>
        <p:txBody>
          <a:bodyPr wrap="square" lIns="0" tIns="0" rIns="0" bIns="0" rtlCol="0" anchor="t">
            <a:normAutofit/>
          </a:bodyPr>
          <a:lstStyle/>
          <a:p>
            <a:pPr algn="l" indent="0" marL="0">
              <a:lnSpc>
                <a:spcPct val="100000"/>
              </a:lnSpc>
              <a:buNone/>
            </a:pPr>
            <a:r>
              <a:rPr lang="en-US" sz="1250" b="1" spc="80" kern="0" dirty="0">
                <a:solidFill>
                  <a:srgbClr val="D9796D"/>
                </a:solidFill>
                <a:latin typeface="Aptos" pitchFamily="34" charset="0"/>
                <a:ea typeface="Aptos" pitchFamily="34" charset="-122"/>
                <a:cs typeface="Aptos" pitchFamily="34" charset="-120"/>
              </a:rPr>
              <a:t>FEEDBACK</a:t>
            </a:r>
            <a:endParaRPr lang="en-US" sz="1250" dirty="0"/>
          </a:p>
        </p:txBody>
      </p:sp>
      <p:sp>
        <p:nvSpPr>
          <p:cNvPr id="41" name="Text 39"/>
          <p:cNvSpPr/>
          <p:nvPr/>
        </p:nvSpPr>
        <p:spPr>
          <a:xfrm>
            <a:off x="10963656" y="3749040"/>
            <a:ext cx="365760" cy="274320"/>
          </a:xfrm>
          <a:prstGeom prst="rect">
            <a:avLst/>
          </a:prstGeom>
          <a:noFill/>
          <a:ln/>
        </p:spPr>
        <p:txBody>
          <a:bodyPr wrap="square" lIns="0" tIns="0" rIns="0" bIns="0" rtlCol="0" anchor="t">
            <a:normAutofit/>
          </a:bodyPr>
          <a:lstStyle/>
          <a:p>
            <a:pPr algn="r" indent="0" marL="0">
              <a:lnSpc>
                <a:spcPct val="100000"/>
              </a:lnSpc>
              <a:buNone/>
            </a:pPr>
            <a:r>
              <a:rPr lang="en-US" sz="1800" b="1" dirty="0">
                <a:solidFill>
                  <a:srgbClr val="F4F0E8"/>
                </a:solidFill>
                <a:latin typeface="Georgia" pitchFamily="34" charset="0"/>
                <a:ea typeface="Georgia" pitchFamily="34" charset="-122"/>
                <a:cs typeface="Georgia" pitchFamily="34" charset="-120"/>
              </a:rPr>
              <a:t>03</a:t>
            </a:r>
            <a:endParaRPr lang="en-US" sz="1800" dirty="0"/>
          </a:p>
        </p:txBody>
      </p:sp>
      <p:sp>
        <p:nvSpPr>
          <p:cNvPr id="42" name="Shape 40"/>
          <p:cNvSpPr/>
          <p:nvPr/>
        </p:nvSpPr>
        <p:spPr>
          <a:xfrm>
            <a:off x="8229600" y="4114800"/>
            <a:ext cx="3099816" cy="0"/>
          </a:xfrm>
          <a:prstGeom prst="line">
            <a:avLst/>
          </a:prstGeom>
          <a:noFill/>
          <a:ln w="8890">
            <a:solidFill>
              <a:srgbClr val="34343E"/>
            </a:solidFill>
            <a:prstDash val="solid"/>
            <a:headEnd type="none"/>
            <a:tailEnd type="none"/>
          </a:ln>
        </p:spPr>
      </p:sp>
      <p:sp>
        <p:nvSpPr>
          <p:cNvPr id="43" name="Text 41"/>
          <p:cNvSpPr/>
          <p:nvPr/>
        </p:nvSpPr>
        <p:spPr>
          <a:xfrm>
            <a:off x="8229600" y="4251960"/>
            <a:ext cx="3099816" cy="612648"/>
          </a:xfrm>
          <a:prstGeom prst="rect">
            <a:avLst/>
          </a:prstGeom>
          <a:noFill/>
          <a:ln/>
        </p:spPr>
        <p:txBody>
          <a:bodyPr wrap="square" lIns="0" tIns="0" rIns="0" bIns="0" rtlCol="0" anchor="t">
            <a:normAutofit/>
          </a:bodyPr>
          <a:lstStyle/>
          <a:p>
            <a:pPr algn="l" indent="0" marL="0">
              <a:lnSpc>
                <a:spcPct val="100000"/>
              </a:lnSpc>
              <a:buNone/>
            </a:pPr>
            <a:r>
              <a:rPr lang="en-US" sz="1150" dirty="0">
                <a:solidFill>
                  <a:srgbClr val="F4F0E8"/>
                </a:solidFill>
                <a:latin typeface="Aptos" pitchFamily="34" charset="0"/>
                <a:ea typeface="Aptos" pitchFamily="34" charset="-122"/>
                <a:cs typeface="Aptos" pitchFamily="34" charset="-120"/>
              </a:rPr>
              <a:t>reviews • review_images • review_replies</a:t>
            </a:r>
            <a:endParaRPr lang="en-US" sz="1150" dirty="0"/>
          </a:p>
        </p:txBody>
      </p:sp>
      <p:sp>
        <p:nvSpPr>
          <p:cNvPr id="44" name="Shape 42"/>
          <p:cNvSpPr/>
          <p:nvPr/>
        </p:nvSpPr>
        <p:spPr>
          <a:xfrm>
            <a:off x="658368" y="5276088"/>
            <a:ext cx="10863072" cy="0"/>
          </a:xfrm>
          <a:prstGeom prst="line">
            <a:avLst/>
          </a:prstGeom>
          <a:noFill/>
          <a:ln w="10160">
            <a:solidFill>
              <a:srgbClr val="34343E"/>
            </a:solidFill>
            <a:prstDash val="solid"/>
            <a:headEnd type="none"/>
            <a:tailEnd type="none"/>
          </a:ln>
        </p:spPr>
      </p:sp>
      <p:sp>
        <p:nvSpPr>
          <p:cNvPr id="45" name="Text 43"/>
          <p:cNvSpPr/>
          <p:nvPr/>
        </p:nvSpPr>
        <p:spPr>
          <a:xfrm>
            <a:off x="868680" y="5504688"/>
            <a:ext cx="658368" cy="329184"/>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F4F0E8"/>
                </a:solidFill>
                <a:latin typeface="Georgia" pitchFamily="34" charset="0"/>
                <a:ea typeface="Georgia" pitchFamily="34" charset="-122"/>
                <a:cs typeface="Georgia" pitchFamily="34" charset="-120"/>
              </a:rPr>
              <a:t>45</a:t>
            </a:r>
            <a:endParaRPr lang="en-US" sz="2300" dirty="0"/>
          </a:p>
        </p:txBody>
      </p:sp>
      <p:sp>
        <p:nvSpPr>
          <p:cNvPr id="46" name="Text 44"/>
          <p:cNvSpPr/>
          <p:nvPr/>
        </p:nvSpPr>
        <p:spPr>
          <a:xfrm>
            <a:off x="1554480" y="5577840"/>
            <a:ext cx="1417320" cy="201168"/>
          </a:xfrm>
          <a:prstGeom prst="rect">
            <a:avLst/>
          </a:prstGeom>
          <a:noFill/>
          <a:ln/>
        </p:spPr>
        <p:txBody>
          <a:bodyPr wrap="square" lIns="0" tIns="0" rIns="0" bIns="0" rtlCol="0" anchor="t">
            <a:normAutofit/>
          </a:bodyPr>
          <a:lstStyle/>
          <a:p>
            <a:pPr algn="l" indent="0" marL="0">
              <a:lnSpc>
                <a:spcPct val="100000"/>
              </a:lnSpc>
              <a:buNone/>
            </a:pPr>
            <a:r>
              <a:rPr lang="en-US" sz="950" b="1" spc="80" kern="0" dirty="0">
                <a:solidFill>
                  <a:srgbClr val="A8A39A"/>
                </a:solidFill>
                <a:latin typeface="Aptos" pitchFamily="34" charset="0"/>
                <a:ea typeface="Aptos" pitchFamily="34" charset="-122"/>
                <a:cs typeface="Aptos" pitchFamily="34" charset="-120"/>
              </a:rPr>
              <a:t>TABLES</a:t>
            </a:r>
            <a:endParaRPr lang="en-US" sz="950" dirty="0"/>
          </a:p>
        </p:txBody>
      </p:sp>
      <p:sp>
        <p:nvSpPr>
          <p:cNvPr id="47" name="Text 45"/>
          <p:cNvSpPr/>
          <p:nvPr/>
        </p:nvSpPr>
        <p:spPr>
          <a:xfrm>
            <a:off x="2907792" y="5504688"/>
            <a:ext cx="658368" cy="329184"/>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79A7D8"/>
                </a:solidFill>
                <a:latin typeface="Georgia" pitchFamily="34" charset="0"/>
                <a:ea typeface="Georgia" pitchFamily="34" charset="-122"/>
                <a:cs typeface="Georgia" pitchFamily="34" charset="-120"/>
              </a:rPr>
              <a:t>65</a:t>
            </a:r>
            <a:endParaRPr lang="en-US" sz="2300" dirty="0"/>
          </a:p>
        </p:txBody>
      </p:sp>
      <p:sp>
        <p:nvSpPr>
          <p:cNvPr id="48" name="Text 46"/>
          <p:cNvSpPr/>
          <p:nvPr/>
        </p:nvSpPr>
        <p:spPr>
          <a:xfrm>
            <a:off x="3593592" y="5577840"/>
            <a:ext cx="1417320" cy="201168"/>
          </a:xfrm>
          <a:prstGeom prst="rect">
            <a:avLst/>
          </a:prstGeom>
          <a:noFill/>
          <a:ln/>
        </p:spPr>
        <p:txBody>
          <a:bodyPr wrap="square" lIns="0" tIns="0" rIns="0" bIns="0" rtlCol="0" anchor="t">
            <a:normAutofit/>
          </a:bodyPr>
          <a:lstStyle/>
          <a:p>
            <a:pPr algn="l" indent="0" marL="0">
              <a:lnSpc>
                <a:spcPct val="100000"/>
              </a:lnSpc>
              <a:buNone/>
            </a:pPr>
            <a:r>
              <a:rPr lang="en-US" sz="950" b="1" spc="80" kern="0" dirty="0">
                <a:solidFill>
                  <a:srgbClr val="A8A39A"/>
                </a:solidFill>
                <a:latin typeface="Aptos" pitchFamily="34" charset="0"/>
                <a:ea typeface="Aptos" pitchFamily="34" charset="-122"/>
                <a:cs typeface="Aptos" pitchFamily="34" charset="-120"/>
              </a:rPr>
              <a:t>INDEXES</a:t>
            </a:r>
            <a:endParaRPr lang="en-US" sz="950" dirty="0"/>
          </a:p>
        </p:txBody>
      </p:sp>
      <p:sp>
        <p:nvSpPr>
          <p:cNvPr id="49" name="Text 47"/>
          <p:cNvSpPr/>
          <p:nvPr/>
        </p:nvSpPr>
        <p:spPr>
          <a:xfrm>
            <a:off x="4983480" y="5504688"/>
            <a:ext cx="658368" cy="329184"/>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A68BC6"/>
                </a:solidFill>
                <a:latin typeface="Georgia" pitchFamily="34" charset="0"/>
                <a:ea typeface="Georgia" pitchFamily="34" charset="-122"/>
                <a:cs typeface="Georgia" pitchFamily="34" charset="-120"/>
              </a:rPr>
              <a:t>12</a:t>
            </a:r>
            <a:endParaRPr lang="en-US" sz="2300" dirty="0"/>
          </a:p>
        </p:txBody>
      </p:sp>
      <p:sp>
        <p:nvSpPr>
          <p:cNvPr id="50" name="Text 48"/>
          <p:cNvSpPr/>
          <p:nvPr/>
        </p:nvSpPr>
        <p:spPr>
          <a:xfrm>
            <a:off x="5669280" y="5577840"/>
            <a:ext cx="1417320" cy="201168"/>
          </a:xfrm>
          <a:prstGeom prst="rect">
            <a:avLst/>
          </a:prstGeom>
          <a:noFill/>
          <a:ln/>
        </p:spPr>
        <p:txBody>
          <a:bodyPr wrap="square" lIns="0" tIns="0" rIns="0" bIns="0" rtlCol="0" anchor="t">
            <a:normAutofit/>
          </a:bodyPr>
          <a:lstStyle/>
          <a:p>
            <a:pPr algn="l" indent="0" marL="0">
              <a:lnSpc>
                <a:spcPct val="100000"/>
              </a:lnSpc>
              <a:buNone/>
            </a:pPr>
            <a:r>
              <a:rPr lang="en-US" sz="950" b="1" spc="80" kern="0" dirty="0">
                <a:solidFill>
                  <a:srgbClr val="A8A39A"/>
                </a:solidFill>
                <a:latin typeface="Aptos" pitchFamily="34" charset="0"/>
                <a:ea typeface="Aptos" pitchFamily="34" charset="-122"/>
                <a:cs typeface="Aptos" pitchFamily="34" charset="-120"/>
              </a:rPr>
              <a:t>FUNCTIONS</a:t>
            </a:r>
            <a:endParaRPr lang="en-US" sz="950" dirty="0"/>
          </a:p>
        </p:txBody>
      </p:sp>
      <p:sp>
        <p:nvSpPr>
          <p:cNvPr id="51" name="Text 49"/>
          <p:cNvSpPr/>
          <p:nvPr/>
        </p:nvSpPr>
        <p:spPr>
          <a:xfrm>
            <a:off x="7150608" y="5504688"/>
            <a:ext cx="658368" cy="329184"/>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65B88A"/>
                </a:solidFill>
                <a:latin typeface="Georgia" pitchFamily="34" charset="0"/>
                <a:ea typeface="Georgia" pitchFamily="34" charset="-122"/>
                <a:cs typeface="Georgia" pitchFamily="34" charset="-120"/>
              </a:rPr>
              <a:t>11</a:t>
            </a:r>
            <a:endParaRPr lang="en-US" sz="2300" dirty="0"/>
          </a:p>
        </p:txBody>
      </p:sp>
      <p:sp>
        <p:nvSpPr>
          <p:cNvPr id="52" name="Text 50"/>
          <p:cNvSpPr/>
          <p:nvPr/>
        </p:nvSpPr>
        <p:spPr>
          <a:xfrm>
            <a:off x="7836408" y="5577840"/>
            <a:ext cx="1417320" cy="201168"/>
          </a:xfrm>
          <a:prstGeom prst="rect">
            <a:avLst/>
          </a:prstGeom>
          <a:noFill/>
          <a:ln/>
        </p:spPr>
        <p:txBody>
          <a:bodyPr wrap="square" lIns="0" tIns="0" rIns="0" bIns="0" rtlCol="0" anchor="t">
            <a:normAutofit/>
          </a:bodyPr>
          <a:lstStyle/>
          <a:p>
            <a:pPr algn="l" indent="0" marL="0">
              <a:lnSpc>
                <a:spcPct val="100000"/>
              </a:lnSpc>
              <a:buNone/>
            </a:pPr>
            <a:r>
              <a:rPr lang="en-US" sz="950" b="1" spc="80" kern="0" dirty="0">
                <a:solidFill>
                  <a:srgbClr val="A8A39A"/>
                </a:solidFill>
                <a:latin typeface="Aptos" pitchFamily="34" charset="0"/>
                <a:ea typeface="Aptos" pitchFamily="34" charset="-122"/>
                <a:cs typeface="Aptos" pitchFamily="34" charset="-120"/>
              </a:rPr>
              <a:t>TRIGGERS</a:t>
            </a:r>
            <a:endParaRPr lang="en-US" sz="950" dirty="0"/>
          </a:p>
        </p:txBody>
      </p:sp>
      <p:sp>
        <p:nvSpPr>
          <p:cNvPr id="53" name="Text 51"/>
          <p:cNvSpPr/>
          <p:nvPr/>
        </p:nvSpPr>
        <p:spPr>
          <a:xfrm>
            <a:off x="9253728" y="5504688"/>
            <a:ext cx="658368" cy="329184"/>
          </a:xfrm>
          <a:prstGeom prst="rect">
            <a:avLst/>
          </a:prstGeom>
          <a:noFill/>
          <a:ln/>
        </p:spPr>
        <p:txBody>
          <a:bodyPr wrap="square" lIns="0" tIns="0" rIns="0" bIns="0" rtlCol="0" anchor="t">
            <a:normAutofit/>
          </a:bodyPr>
          <a:lstStyle/>
          <a:p>
            <a:pPr algn="l" indent="0" marL="0">
              <a:lnSpc>
                <a:spcPct val="100000"/>
              </a:lnSpc>
              <a:buNone/>
            </a:pPr>
            <a:r>
              <a:rPr lang="en-US" sz="2300" b="1" dirty="0">
                <a:solidFill>
                  <a:srgbClr val="C9A96E"/>
                </a:solidFill>
                <a:latin typeface="Georgia" pitchFamily="34" charset="0"/>
                <a:ea typeface="Georgia" pitchFamily="34" charset="-122"/>
                <a:cs typeface="Georgia" pitchFamily="34" charset="-120"/>
              </a:rPr>
              <a:t>17</a:t>
            </a:r>
            <a:endParaRPr lang="en-US" sz="2300" dirty="0"/>
          </a:p>
        </p:txBody>
      </p:sp>
      <p:sp>
        <p:nvSpPr>
          <p:cNvPr id="54" name="Text 52"/>
          <p:cNvSpPr/>
          <p:nvPr/>
        </p:nvSpPr>
        <p:spPr>
          <a:xfrm>
            <a:off x="9939528" y="5577840"/>
            <a:ext cx="1417320" cy="201168"/>
          </a:xfrm>
          <a:prstGeom prst="rect">
            <a:avLst/>
          </a:prstGeom>
          <a:noFill/>
          <a:ln/>
        </p:spPr>
        <p:txBody>
          <a:bodyPr wrap="square" lIns="0" tIns="0" rIns="0" bIns="0" rtlCol="0" anchor="t">
            <a:normAutofit/>
          </a:bodyPr>
          <a:lstStyle/>
          <a:p>
            <a:pPr algn="l" indent="0" marL="0">
              <a:lnSpc>
                <a:spcPct val="100000"/>
              </a:lnSpc>
              <a:buNone/>
            </a:pPr>
            <a:r>
              <a:rPr lang="en-US" sz="950" b="1" spc="80" kern="0" dirty="0">
                <a:solidFill>
                  <a:srgbClr val="A8A39A"/>
                </a:solidFill>
                <a:latin typeface="Aptos" pitchFamily="34" charset="0"/>
                <a:ea typeface="Aptos" pitchFamily="34" charset="-122"/>
                <a:cs typeface="Aptos" pitchFamily="34" charset="-120"/>
              </a:rPr>
              <a:t>VIEWS</a:t>
            </a:r>
            <a:endParaRPr lang="en-US" sz="950" dirty="0"/>
          </a:p>
        </p:txBody>
      </p:sp>
      <p:sp>
        <p:nvSpPr>
          <p:cNvPr id="55" name="Text 53"/>
          <p:cNvSpPr/>
          <p:nvPr/>
        </p:nvSpPr>
        <p:spPr>
          <a:xfrm>
            <a:off x="822960" y="6053328"/>
            <a:ext cx="10561320" cy="201168"/>
          </a:xfrm>
          <a:prstGeom prst="rect">
            <a:avLst/>
          </a:prstGeom>
          <a:noFill/>
          <a:ln/>
        </p:spPr>
        <p:txBody>
          <a:bodyPr wrap="square" lIns="0" tIns="0" rIns="0" bIns="0" rtlCol="0" anchor="t">
            <a:normAutofit/>
          </a:bodyPr>
          <a:lstStyle/>
          <a:p>
            <a:pPr algn="ctr" indent="0" marL="0">
              <a:lnSpc>
                <a:spcPct val="100000"/>
              </a:lnSpc>
              <a:buNone/>
            </a:pPr>
            <a:r>
              <a:rPr lang="en-US" sz="970" b="1" spc="35" kern="0" dirty="0">
                <a:solidFill>
                  <a:srgbClr val="D9796D"/>
                </a:solidFill>
                <a:latin typeface="Aptos" pitchFamily="34" charset="0"/>
                <a:ea typeface="Aptos" pitchFamily="34" charset="-122"/>
                <a:cs typeface="Aptos" pitchFamily="34" charset="-120"/>
              </a:rPr>
              <a:t>IMPLEMENTATION STATUS  /  45-table PostgreSQL target; 10 ORM-mapped core tables currently active in the API.</a:t>
            </a:r>
            <a:endParaRPr lang="en-US" sz="970" dirty="0"/>
          </a:p>
        </p:txBody>
      </p:sp>
    </p:spTree>
  </p:cSld>
  <p:clrMapOvr>
    <a:masterClrMapping/>
  </p:clrMapOvr>
  <p:transition spd="med" advClick="1">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E–R MODEL / CATALOG + INVENTORY</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2700" b="1" dirty="0">
                <a:solidFill>
                  <a:srgbClr val="F4F0E8"/>
                </a:solidFill>
                <a:latin typeface="Georgia" pitchFamily="34" charset="0"/>
                <a:ea typeface="Georgia" pitchFamily="34" charset="-122"/>
                <a:cs typeface="Georgia" pitchFamily="34" charset="-120"/>
              </a:rPr>
              <a:t>A sellable item is a variant, and stock belongs to a location</a:t>
            </a:r>
            <a:endParaRPr lang="en-US" sz="27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The design separates descriptive product facts from SKU-level and warehouse-level facts.</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05</a:t>
            </a:r>
            <a:endParaRPr lang="en-US" sz="950" dirty="0"/>
          </a:p>
        </p:txBody>
      </p:sp>
      <p:sp>
        <p:nvSpPr>
          <p:cNvPr id="8" name="Shape 6"/>
          <p:cNvSpPr/>
          <p:nvPr/>
        </p:nvSpPr>
        <p:spPr>
          <a:xfrm>
            <a:off x="4846320" y="3538728"/>
            <a:ext cx="685800" cy="0"/>
          </a:xfrm>
          <a:prstGeom prst="line">
            <a:avLst/>
          </a:prstGeom>
          <a:noFill/>
          <a:ln w="25400">
            <a:solidFill>
              <a:srgbClr val="C9A96E"/>
            </a:solidFill>
            <a:prstDash val="solid"/>
            <a:headEnd type="none"/>
            <a:tailEnd type="triangle"/>
          </a:ln>
        </p:spPr>
      </p:sp>
      <p:sp>
        <p:nvSpPr>
          <p:cNvPr id="9" name="Shape 7"/>
          <p:cNvSpPr/>
          <p:nvPr/>
        </p:nvSpPr>
        <p:spPr>
          <a:xfrm>
            <a:off x="7315200" y="3538728"/>
            <a:ext cx="731520" cy="0"/>
          </a:xfrm>
          <a:prstGeom prst="line">
            <a:avLst/>
          </a:prstGeom>
          <a:noFill/>
          <a:ln w="25400">
            <a:solidFill>
              <a:srgbClr val="65B88A"/>
            </a:solidFill>
            <a:prstDash val="solid"/>
            <a:headEnd type="none"/>
            <a:tailEnd type="triangle"/>
          </a:ln>
        </p:spPr>
      </p:sp>
      <p:sp>
        <p:nvSpPr>
          <p:cNvPr id="10" name="Shape 8"/>
          <p:cNvSpPr/>
          <p:nvPr/>
        </p:nvSpPr>
        <p:spPr>
          <a:xfrm>
            <a:off x="9738360" y="3538728"/>
            <a:ext cx="365760" cy="0"/>
          </a:xfrm>
          <a:prstGeom prst="line">
            <a:avLst/>
          </a:prstGeom>
          <a:noFill/>
          <a:ln w="20320">
            <a:solidFill>
              <a:srgbClr val="65B88A"/>
            </a:solidFill>
            <a:prstDash val="solid"/>
            <a:headEnd type="none"/>
            <a:tailEnd type="triangle"/>
          </a:ln>
        </p:spPr>
      </p:sp>
      <p:sp>
        <p:nvSpPr>
          <p:cNvPr id="11" name="Shape 9"/>
          <p:cNvSpPr/>
          <p:nvPr/>
        </p:nvSpPr>
        <p:spPr>
          <a:xfrm>
            <a:off x="2103120" y="2167128"/>
            <a:ext cx="868680" cy="1106424"/>
          </a:xfrm>
          <a:prstGeom prst="line">
            <a:avLst/>
          </a:prstGeom>
          <a:noFill/>
          <a:ln w="12700">
            <a:solidFill>
              <a:srgbClr val="C9A96E"/>
            </a:solidFill>
            <a:prstDash val="solid"/>
            <a:headEnd type="none"/>
            <a:tailEnd type="none"/>
          </a:ln>
        </p:spPr>
      </p:sp>
      <p:sp>
        <p:nvSpPr>
          <p:cNvPr id="12" name="Shape 10"/>
          <p:cNvSpPr/>
          <p:nvPr/>
        </p:nvSpPr>
        <p:spPr>
          <a:xfrm>
            <a:off x="2103120" y="2971800"/>
            <a:ext cx="868680" cy="448056"/>
          </a:xfrm>
          <a:prstGeom prst="line">
            <a:avLst/>
          </a:prstGeom>
          <a:noFill/>
          <a:ln w="12700">
            <a:solidFill>
              <a:srgbClr val="C9A96E"/>
            </a:solidFill>
            <a:prstDash val="solid"/>
            <a:headEnd type="none"/>
            <a:tailEnd type="none"/>
          </a:ln>
        </p:spPr>
      </p:sp>
      <p:sp>
        <p:nvSpPr>
          <p:cNvPr id="13" name="Shape 11"/>
          <p:cNvSpPr/>
          <p:nvPr/>
        </p:nvSpPr>
        <p:spPr>
          <a:xfrm>
            <a:off x="1389888" y="4096512"/>
            <a:ext cx="0" cy="164592"/>
          </a:xfrm>
          <a:prstGeom prst="line">
            <a:avLst/>
          </a:prstGeom>
          <a:noFill/>
          <a:ln w="12700">
            <a:solidFill>
              <a:srgbClr val="C9A96E"/>
            </a:solidFill>
            <a:prstDash val="solid"/>
            <a:headEnd type="none"/>
            <a:tailEnd type="none"/>
          </a:ln>
        </p:spPr>
      </p:sp>
      <p:sp>
        <p:nvSpPr>
          <p:cNvPr id="14" name="Shape 12"/>
          <p:cNvSpPr/>
          <p:nvPr/>
        </p:nvSpPr>
        <p:spPr>
          <a:xfrm>
            <a:off x="2103120" y="4581144"/>
            <a:ext cx="868680" cy="-813816"/>
          </a:xfrm>
          <a:prstGeom prst="line">
            <a:avLst/>
          </a:prstGeom>
          <a:noFill/>
          <a:ln w="12700">
            <a:solidFill>
              <a:srgbClr val="C9A96E"/>
            </a:solidFill>
            <a:prstDash val="solid"/>
            <a:headEnd type="none"/>
            <a:tailEnd type="none"/>
          </a:ln>
        </p:spPr>
      </p:sp>
      <p:sp>
        <p:nvSpPr>
          <p:cNvPr id="15" name="Shape 13"/>
          <p:cNvSpPr/>
          <p:nvPr/>
        </p:nvSpPr>
        <p:spPr>
          <a:xfrm>
            <a:off x="2103120" y="5385816"/>
            <a:ext cx="868680" cy="-1490472"/>
          </a:xfrm>
          <a:prstGeom prst="line">
            <a:avLst/>
          </a:prstGeom>
          <a:noFill/>
          <a:ln w="11430">
            <a:solidFill>
              <a:srgbClr val="79A7D8"/>
            </a:solidFill>
            <a:prstDash val="solid"/>
            <a:headEnd type="none"/>
            <a:tailEnd type="none"/>
          </a:ln>
        </p:spPr>
      </p:sp>
      <p:sp>
        <p:nvSpPr>
          <p:cNvPr id="16" name="Shape 14"/>
          <p:cNvSpPr/>
          <p:nvPr/>
        </p:nvSpPr>
        <p:spPr>
          <a:xfrm>
            <a:off x="3794760" y="2404872"/>
            <a:ext cx="0" cy="658368"/>
          </a:xfrm>
          <a:prstGeom prst="line">
            <a:avLst/>
          </a:prstGeom>
          <a:noFill/>
          <a:ln w="12700">
            <a:solidFill>
              <a:srgbClr val="C9A96E"/>
            </a:solidFill>
            <a:prstDash val="solid"/>
            <a:headEnd type="none"/>
            <a:tailEnd type="none"/>
          </a:ln>
        </p:spPr>
      </p:sp>
      <p:sp>
        <p:nvSpPr>
          <p:cNvPr id="17" name="Shape 15"/>
          <p:cNvSpPr/>
          <p:nvPr/>
        </p:nvSpPr>
        <p:spPr>
          <a:xfrm>
            <a:off x="5349240" y="2404872"/>
            <a:ext cx="-914400" cy="658368"/>
          </a:xfrm>
          <a:prstGeom prst="line">
            <a:avLst/>
          </a:prstGeom>
          <a:noFill/>
          <a:ln w="12700">
            <a:solidFill>
              <a:srgbClr val="C9A96E"/>
            </a:solidFill>
            <a:prstDash val="solid"/>
            <a:headEnd type="none"/>
            <a:tailEnd type="none"/>
          </a:ln>
        </p:spPr>
      </p:sp>
      <p:sp>
        <p:nvSpPr>
          <p:cNvPr id="18" name="Shape 16"/>
          <p:cNvSpPr/>
          <p:nvPr/>
        </p:nvSpPr>
        <p:spPr>
          <a:xfrm>
            <a:off x="8503920" y="2093976"/>
            <a:ext cx="228600" cy="0"/>
          </a:xfrm>
          <a:prstGeom prst="line">
            <a:avLst/>
          </a:prstGeom>
          <a:noFill/>
          <a:ln w="12700">
            <a:solidFill>
              <a:srgbClr val="A68BC6"/>
            </a:solidFill>
            <a:prstDash val="solid"/>
            <a:headEnd type="none"/>
            <a:tailEnd type="none"/>
          </a:ln>
        </p:spPr>
      </p:sp>
      <p:sp>
        <p:nvSpPr>
          <p:cNvPr id="19" name="Shape 17"/>
          <p:cNvSpPr/>
          <p:nvPr/>
        </p:nvSpPr>
        <p:spPr>
          <a:xfrm>
            <a:off x="8732520" y="2240280"/>
            <a:ext cx="-3886200" cy="886968"/>
          </a:xfrm>
          <a:prstGeom prst="line">
            <a:avLst/>
          </a:prstGeom>
          <a:noFill/>
          <a:ln w="11430">
            <a:solidFill>
              <a:srgbClr val="A68BC6"/>
            </a:solidFill>
            <a:prstDash val="solid"/>
            <a:headEnd type="none"/>
            <a:tailEnd type="none"/>
          </a:ln>
        </p:spPr>
      </p:sp>
      <p:sp>
        <p:nvSpPr>
          <p:cNvPr id="20" name="Shape 18"/>
          <p:cNvSpPr/>
          <p:nvPr/>
        </p:nvSpPr>
        <p:spPr>
          <a:xfrm>
            <a:off x="6419088" y="4617720"/>
            <a:ext cx="0" cy="-594360"/>
          </a:xfrm>
          <a:prstGeom prst="line">
            <a:avLst/>
          </a:prstGeom>
          <a:noFill/>
          <a:ln w="12700">
            <a:solidFill>
              <a:srgbClr val="79A7D8"/>
            </a:solidFill>
            <a:prstDash val="solid"/>
            <a:headEnd type="none"/>
            <a:tailEnd type="none"/>
          </a:ln>
        </p:spPr>
      </p:sp>
      <p:sp>
        <p:nvSpPr>
          <p:cNvPr id="21" name="Shape 19"/>
          <p:cNvSpPr/>
          <p:nvPr/>
        </p:nvSpPr>
        <p:spPr>
          <a:xfrm>
            <a:off x="8887968" y="4617720"/>
            <a:ext cx="0" cy="-594360"/>
          </a:xfrm>
          <a:prstGeom prst="line">
            <a:avLst/>
          </a:prstGeom>
          <a:noFill/>
          <a:ln w="12700">
            <a:solidFill>
              <a:srgbClr val="65B88A"/>
            </a:solidFill>
            <a:prstDash val="solid"/>
            <a:headEnd type="none"/>
            <a:tailEnd type="none"/>
          </a:ln>
        </p:spPr>
      </p:sp>
      <p:sp>
        <p:nvSpPr>
          <p:cNvPr id="22" name="Shape 20"/>
          <p:cNvSpPr/>
          <p:nvPr/>
        </p:nvSpPr>
        <p:spPr>
          <a:xfrm>
            <a:off x="685800" y="1847088"/>
            <a:ext cx="1417320" cy="640080"/>
          </a:xfrm>
          <a:prstGeom prst="roundRect">
            <a:avLst>
              <a:gd name="adj" fmla="val 17143"/>
            </a:avLst>
          </a:prstGeom>
          <a:solidFill>
            <a:srgbClr val="15151C"/>
          </a:solidFill>
          <a:ln w="11430">
            <a:solidFill>
              <a:srgbClr val="C9A96E"/>
            </a:solidFill>
            <a:prstDash val="solid"/>
          </a:ln>
        </p:spPr>
      </p:sp>
      <p:sp>
        <p:nvSpPr>
          <p:cNvPr id="23" name="Shape 21"/>
          <p:cNvSpPr/>
          <p:nvPr/>
        </p:nvSpPr>
        <p:spPr>
          <a:xfrm>
            <a:off x="685800" y="1847088"/>
            <a:ext cx="50292" cy="640080"/>
          </a:xfrm>
          <a:prstGeom prst="rect">
            <a:avLst/>
          </a:prstGeom>
          <a:solidFill>
            <a:srgbClr val="C9A96E"/>
          </a:solidFill>
          <a:ln w="12700">
            <a:solidFill>
              <a:srgbClr val="C9A96E">
                <a:alpha val="0"/>
              </a:srgbClr>
            </a:solidFill>
            <a:prstDash val="solid"/>
          </a:ln>
        </p:spPr>
      </p:sp>
      <p:sp>
        <p:nvSpPr>
          <p:cNvPr id="24" name="Text 22"/>
          <p:cNvSpPr/>
          <p:nvPr/>
        </p:nvSpPr>
        <p:spPr>
          <a:xfrm>
            <a:off x="822960" y="1938528"/>
            <a:ext cx="118872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BRANDS</a:t>
            </a:r>
            <a:endParaRPr lang="en-US" sz="1130" dirty="0"/>
          </a:p>
        </p:txBody>
      </p:sp>
      <p:sp>
        <p:nvSpPr>
          <p:cNvPr id="25" name="Text 23"/>
          <p:cNvSpPr/>
          <p:nvPr/>
        </p:nvSpPr>
        <p:spPr>
          <a:xfrm>
            <a:off x="822960" y="2167128"/>
            <a:ext cx="118872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name, slug</a:t>
            </a:r>
            <a:endParaRPr lang="en-US" sz="850" dirty="0"/>
          </a:p>
        </p:txBody>
      </p:sp>
      <p:sp>
        <p:nvSpPr>
          <p:cNvPr id="26" name="Shape 24"/>
          <p:cNvSpPr/>
          <p:nvPr/>
        </p:nvSpPr>
        <p:spPr>
          <a:xfrm>
            <a:off x="685800" y="2651760"/>
            <a:ext cx="1417320" cy="640080"/>
          </a:xfrm>
          <a:prstGeom prst="roundRect">
            <a:avLst>
              <a:gd name="adj" fmla="val 17143"/>
            </a:avLst>
          </a:prstGeom>
          <a:solidFill>
            <a:srgbClr val="15151C"/>
          </a:solidFill>
          <a:ln w="11430">
            <a:solidFill>
              <a:srgbClr val="C9A96E"/>
            </a:solidFill>
            <a:prstDash val="solid"/>
          </a:ln>
        </p:spPr>
      </p:sp>
      <p:sp>
        <p:nvSpPr>
          <p:cNvPr id="27" name="Shape 25"/>
          <p:cNvSpPr/>
          <p:nvPr/>
        </p:nvSpPr>
        <p:spPr>
          <a:xfrm>
            <a:off x="685800" y="2651760"/>
            <a:ext cx="50292" cy="640080"/>
          </a:xfrm>
          <a:prstGeom prst="rect">
            <a:avLst/>
          </a:prstGeom>
          <a:solidFill>
            <a:srgbClr val="C9A96E"/>
          </a:solidFill>
          <a:ln w="12700">
            <a:solidFill>
              <a:srgbClr val="C9A96E">
                <a:alpha val="0"/>
              </a:srgbClr>
            </a:solidFill>
            <a:prstDash val="solid"/>
          </a:ln>
        </p:spPr>
      </p:sp>
      <p:sp>
        <p:nvSpPr>
          <p:cNvPr id="28" name="Text 26"/>
          <p:cNvSpPr/>
          <p:nvPr/>
        </p:nvSpPr>
        <p:spPr>
          <a:xfrm>
            <a:off x="822960" y="2743200"/>
            <a:ext cx="118872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SUPPLIERS</a:t>
            </a:r>
            <a:endParaRPr lang="en-US" sz="1130" dirty="0"/>
          </a:p>
        </p:txBody>
      </p:sp>
      <p:sp>
        <p:nvSpPr>
          <p:cNvPr id="29" name="Text 27"/>
          <p:cNvSpPr/>
          <p:nvPr/>
        </p:nvSpPr>
        <p:spPr>
          <a:xfrm>
            <a:off x="822960" y="2971800"/>
            <a:ext cx="118872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contact_email</a:t>
            </a:r>
            <a:endParaRPr lang="en-US" sz="850" dirty="0"/>
          </a:p>
        </p:txBody>
      </p:sp>
      <p:sp>
        <p:nvSpPr>
          <p:cNvPr id="30" name="Shape 28"/>
          <p:cNvSpPr/>
          <p:nvPr/>
        </p:nvSpPr>
        <p:spPr>
          <a:xfrm>
            <a:off x="685800" y="3456432"/>
            <a:ext cx="1417320" cy="640080"/>
          </a:xfrm>
          <a:prstGeom prst="roundRect">
            <a:avLst>
              <a:gd name="adj" fmla="val 17143"/>
            </a:avLst>
          </a:prstGeom>
          <a:solidFill>
            <a:srgbClr val="15151C"/>
          </a:solidFill>
          <a:ln w="11430">
            <a:solidFill>
              <a:srgbClr val="C9A96E"/>
            </a:solidFill>
            <a:prstDash val="solid"/>
          </a:ln>
        </p:spPr>
      </p:sp>
      <p:sp>
        <p:nvSpPr>
          <p:cNvPr id="31" name="Shape 29"/>
          <p:cNvSpPr/>
          <p:nvPr/>
        </p:nvSpPr>
        <p:spPr>
          <a:xfrm>
            <a:off x="685800" y="3456432"/>
            <a:ext cx="50292" cy="640080"/>
          </a:xfrm>
          <a:prstGeom prst="rect">
            <a:avLst/>
          </a:prstGeom>
          <a:solidFill>
            <a:srgbClr val="C9A96E"/>
          </a:solidFill>
          <a:ln w="12700">
            <a:solidFill>
              <a:srgbClr val="C9A96E">
                <a:alpha val="0"/>
              </a:srgbClr>
            </a:solidFill>
            <a:prstDash val="solid"/>
          </a:ln>
        </p:spPr>
      </p:sp>
      <p:sp>
        <p:nvSpPr>
          <p:cNvPr id="32" name="Text 30"/>
          <p:cNvSpPr/>
          <p:nvPr/>
        </p:nvSpPr>
        <p:spPr>
          <a:xfrm>
            <a:off x="822960" y="3547872"/>
            <a:ext cx="118872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CATEGORIES</a:t>
            </a:r>
            <a:endParaRPr lang="en-US" sz="1130" dirty="0"/>
          </a:p>
        </p:txBody>
      </p:sp>
      <p:sp>
        <p:nvSpPr>
          <p:cNvPr id="33" name="Text 31"/>
          <p:cNvSpPr/>
          <p:nvPr/>
        </p:nvSpPr>
        <p:spPr>
          <a:xfrm>
            <a:off x="822960" y="3776472"/>
            <a:ext cx="118872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slug</a:t>
            </a:r>
            <a:endParaRPr lang="en-US" sz="850" dirty="0"/>
          </a:p>
        </p:txBody>
      </p:sp>
      <p:sp>
        <p:nvSpPr>
          <p:cNvPr id="34" name="Shape 32"/>
          <p:cNvSpPr/>
          <p:nvPr/>
        </p:nvSpPr>
        <p:spPr>
          <a:xfrm>
            <a:off x="685800" y="4261104"/>
            <a:ext cx="1417320" cy="640080"/>
          </a:xfrm>
          <a:prstGeom prst="roundRect">
            <a:avLst>
              <a:gd name="adj" fmla="val 17143"/>
            </a:avLst>
          </a:prstGeom>
          <a:solidFill>
            <a:srgbClr val="15151C"/>
          </a:solidFill>
          <a:ln w="11430">
            <a:solidFill>
              <a:srgbClr val="C9A96E"/>
            </a:solidFill>
            <a:prstDash val="solid"/>
          </a:ln>
        </p:spPr>
      </p:sp>
      <p:sp>
        <p:nvSpPr>
          <p:cNvPr id="35" name="Shape 33"/>
          <p:cNvSpPr/>
          <p:nvPr/>
        </p:nvSpPr>
        <p:spPr>
          <a:xfrm>
            <a:off x="685800" y="4261104"/>
            <a:ext cx="50292" cy="640080"/>
          </a:xfrm>
          <a:prstGeom prst="rect">
            <a:avLst/>
          </a:prstGeom>
          <a:solidFill>
            <a:srgbClr val="C9A96E"/>
          </a:solidFill>
          <a:ln w="12700">
            <a:solidFill>
              <a:srgbClr val="C9A96E">
                <a:alpha val="0"/>
              </a:srgbClr>
            </a:solidFill>
            <a:prstDash val="solid"/>
          </a:ln>
        </p:spPr>
      </p:sp>
      <p:sp>
        <p:nvSpPr>
          <p:cNvPr id="36" name="Text 34"/>
          <p:cNvSpPr/>
          <p:nvPr/>
        </p:nvSpPr>
        <p:spPr>
          <a:xfrm>
            <a:off x="822960" y="4352544"/>
            <a:ext cx="118872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SUBCATEGORIES</a:t>
            </a:r>
            <a:endParaRPr lang="en-US" sz="1130" dirty="0"/>
          </a:p>
        </p:txBody>
      </p:sp>
      <p:sp>
        <p:nvSpPr>
          <p:cNvPr id="37" name="Text 35"/>
          <p:cNvSpPr/>
          <p:nvPr/>
        </p:nvSpPr>
        <p:spPr>
          <a:xfrm>
            <a:off x="822960" y="4581144"/>
            <a:ext cx="118872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category_id</a:t>
            </a:r>
            <a:endParaRPr lang="en-US" sz="850" dirty="0"/>
          </a:p>
        </p:txBody>
      </p:sp>
      <p:sp>
        <p:nvSpPr>
          <p:cNvPr id="38" name="Shape 36"/>
          <p:cNvSpPr/>
          <p:nvPr/>
        </p:nvSpPr>
        <p:spPr>
          <a:xfrm>
            <a:off x="685800" y="5065776"/>
            <a:ext cx="1417320" cy="640080"/>
          </a:xfrm>
          <a:prstGeom prst="roundRect">
            <a:avLst>
              <a:gd name="adj" fmla="val 17143"/>
            </a:avLst>
          </a:prstGeom>
          <a:solidFill>
            <a:srgbClr val="15151C"/>
          </a:solidFill>
          <a:ln w="11430">
            <a:solidFill>
              <a:srgbClr val="79A7D8"/>
            </a:solidFill>
            <a:prstDash val="solid"/>
          </a:ln>
        </p:spPr>
      </p:sp>
      <p:sp>
        <p:nvSpPr>
          <p:cNvPr id="39" name="Shape 37"/>
          <p:cNvSpPr/>
          <p:nvPr/>
        </p:nvSpPr>
        <p:spPr>
          <a:xfrm>
            <a:off x="685800" y="5065776"/>
            <a:ext cx="50292" cy="640080"/>
          </a:xfrm>
          <a:prstGeom prst="rect">
            <a:avLst/>
          </a:prstGeom>
          <a:solidFill>
            <a:srgbClr val="79A7D8"/>
          </a:solidFill>
          <a:ln w="12700">
            <a:solidFill>
              <a:srgbClr val="79A7D8">
                <a:alpha val="0"/>
              </a:srgbClr>
            </a:solidFill>
            <a:prstDash val="solid"/>
          </a:ln>
        </p:spPr>
      </p:sp>
      <p:sp>
        <p:nvSpPr>
          <p:cNvPr id="40" name="Text 38"/>
          <p:cNvSpPr/>
          <p:nvPr/>
        </p:nvSpPr>
        <p:spPr>
          <a:xfrm>
            <a:off x="822960" y="5157216"/>
            <a:ext cx="118872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GENDERS</a:t>
            </a:r>
            <a:endParaRPr lang="en-US" sz="1130" dirty="0"/>
          </a:p>
        </p:txBody>
      </p:sp>
      <p:sp>
        <p:nvSpPr>
          <p:cNvPr id="41" name="Text 39"/>
          <p:cNvSpPr/>
          <p:nvPr/>
        </p:nvSpPr>
        <p:spPr>
          <a:xfrm>
            <a:off x="822960" y="5385816"/>
            <a:ext cx="118872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name</a:t>
            </a:r>
            <a:endParaRPr lang="en-US" sz="850" dirty="0"/>
          </a:p>
        </p:txBody>
      </p:sp>
      <p:sp>
        <p:nvSpPr>
          <p:cNvPr id="42" name="Shape 40"/>
          <p:cNvSpPr/>
          <p:nvPr/>
        </p:nvSpPr>
        <p:spPr>
          <a:xfrm>
            <a:off x="2971800" y="1783080"/>
            <a:ext cx="1691640" cy="640080"/>
          </a:xfrm>
          <a:prstGeom prst="roundRect">
            <a:avLst>
              <a:gd name="adj" fmla="val 17143"/>
            </a:avLst>
          </a:prstGeom>
          <a:solidFill>
            <a:srgbClr val="15151C"/>
          </a:solidFill>
          <a:ln w="11430">
            <a:solidFill>
              <a:srgbClr val="C9A96E"/>
            </a:solidFill>
            <a:prstDash val="solid"/>
          </a:ln>
        </p:spPr>
      </p:sp>
      <p:sp>
        <p:nvSpPr>
          <p:cNvPr id="43" name="Shape 41"/>
          <p:cNvSpPr/>
          <p:nvPr/>
        </p:nvSpPr>
        <p:spPr>
          <a:xfrm>
            <a:off x="2971800" y="1783080"/>
            <a:ext cx="50292" cy="640080"/>
          </a:xfrm>
          <a:prstGeom prst="rect">
            <a:avLst/>
          </a:prstGeom>
          <a:solidFill>
            <a:srgbClr val="C9A96E"/>
          </a:solidFill>
          <a:ln w="12700">
            <a:solidFill>
              <a:srgbClr val="C9A96E">
                <a:alpha val="0"/>
              </a:srgbClr>
            </a:solidFill>
            <a:prstDash val="solid"/>
          </a:ln>
        </p:spPr>
      </p:sp>
      <p:sp>
        <p:nvSpPr>
          <p:cNvPr id="44" name="Text 42"/>
          <p:cNvSpPr/>
          <p:nvPr/>
        </p:nvSpPr>
        <p:spPr>
          <a:xfrm>
            <a:off x="3108960" y="1874520"/>
            <a:ext cx="146304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PRODUCT_IMAGES</a:t>
            </a:r>
            <a:endParaRPr lang="en-US" sz="1130" dirty="0"/>
          </a:p>
        </p:txBody>
      </p:sp>
      <p:sp>
        <p:nvSpPr>
          <p:cNvPr id="45" name="Text 43"/>
          <p:cNvSpPr/>
          <p:nvPr/>
        </p:nvSpPr>
        <p:spPr>
          <a:xfrm>
            <a:off x="3108960" y="2103120"/>
            <a:ext cx="146304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product_id</a:t>
            </a:r>
            <a:endParaRPr lang="en-US" sz="850" dirty="0"/>
          </a:p>
        </p:txBody>
      </p:sp>
      <p:sp>
        <p:nvSpPr>
          <p:cNvPr id="46" name="Shape 44"/>
          <p:cNvSpPr/>
          <p:nvPr/>
        </p:nvSpPr>
        <p:spPr>
          <a:xfrm>
            <a:off x="4892040" y="1783080"/>
            <a:ext cx="1874520" cy="640080"/>
          </a:xfrm>
          <a:prstGeom prst="roundRect">
            <a:avLst>
              <a:gd name="adj" fmla="val 17143"/>
            </a:avLst>
          </a:prstGeom>
          <a:solidFill>
            <a:srgbClr val="15151C"/>
          </a:solidFill>
          <a:ln w="11430">
            <a:solidFill>
              <a:srgbClr val="C9A96E"/>
            </a:solidFill>
            <a:prstDash val="solid"/>
          </a:ln>
        </p:spPr>
      </p:sp>
      <p:sp>
        <p:nvSpPr>
          <p:cNvPr id="47" name="Shape 45"/>
          <p:cNvSpPr/>
          <p:nvPr/>
        </p:nvSpPr>
        <p:spPr>
          <a:xfrm>
            <a:off x="4892040" y="1783080"/>
            <a:ext cx="50292" cy="640080"/>
          </a:xfrm>
          <a:prstGeom prst="rect">
            <a:avLst/>
          </a:prstGeom>
          <a:solidFill>
            <a:srgbClr val="C9A96E"/>
          </a:solidFill>
          <a:ln w="12700">
            <a:solidFill>
              <a:srgbClr val="C9A96E">
                <a:alpha val="0"/>
              </a:srgbClr>
            </a:solidFill>
            <a:prstDash val="solid"/>
          </a:ln>
        </p:spPr>
      </p:sp>
      <p:sp>
        <p:nvSpPr>
          <p:cNvPr id="48" name="Text 46"/>
          <p:cNvSpPr/>
          <p:nvPr/>
        </p:nvSpPr>
        <p:spPr>
          <a:xfrm>
            <a:off x="5029200" y="1874520"/>
            <a:ext cx="1645920" cy="182880"/>
          </a:xfrm>
          <a:prstGeom prst="rect">
            <a:avLst/>
          </a:prstGeom>
          <a:noFill/>
          <a:ln/>
        </p:spPr>
        <p:txBody>
          <a:bodyPr wrap="square" lIns="0" tIns="0" rIns="0" bIns="0" rtlCol="0" anchor="t">
            <a:normAutofit/>
          </a:bodyPr>
          <a:lstStyle/>
          <a:p>
            <a:pPr algn="l" indent="0" marL="0">
              <a:lnSpc>
                <a:spcPct val="100000"/>
              </a:lnSpc>
              <a:buNone/>
            </a:pPr>
            <a:r>
              <a:rPr lang="en-US" sz="1060" b="1" dirty="0">
                <a:solidFill>
                  <a:srgbClr val="F4F0E8"/>
                </a:solidFill>
                <a:latin typeface="Aptos" pitchFamily="34" charset="0"/>
                <a:ea typeface="Aptos" pitchFamily="34" charset="-122"/>
                <a:cs typeface="Aptos" pitchFamily="34" charset="-120"/>
              </a:rPr>
              <a:t>PRODUCT_SPECIFICATIONS</a:t>
            </a:r>
            <a:endParaRPr lang="en-US" sz="1060" dirty="0"/>
          </a:p>
        </p:txBody>
      </p:sp>
      <p:sp>
        <p:nvSpPr>
          <p:cNvPr id="49" name="Text 47"/>
          <p:cNvSpPr/>
          <p:nvPr/>
        </p:nvSpPr>
        <p:spPr>
          <a:xfrm>
            <a:off x="5029200" y="2103120"/>
            <a:ext cx="164592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product_id + key</a:t>
            </a:r>
            <a:endParaRPr lang="en-US" sz="850" dirty="0"/>
          </a:p>
        </p:txBody>
      </p:sp>
      <p:sp>
        <p:nvSpPr>
          <p:cNvPr id="50" name="Shape 48"/>
          <p:cNvSpPr/>
          <p:nvPr/>
        </p:nvSpPr>
        <p:spPr>
          <a:xfrm>
            <a:off x="7086600" y="1783080"/>
            <a:ext cx="1417320" cy="640080"/>
          </a:xfrm>
          <a:prstGeom prst="roundRect">
            <a:avLst>
              <a:gd name="adj" fmla="val 17143"/>
            </a:avLst>
          </a:prstGeom>
          <a:solidFill>
            <a:srgbClr val="15151C"/>
          </a:solidFill>
          <a:ln w="11430">
            <a:solidFill>
              <a:srgbClr val="A68BC6"/>
            </a:solidFill>
            <a:prstDash val="solid"/>
          </a:ln>
        </p:spPr>
      </p:sp>
      <p:sp>
        <p:nvSpPr>
          <p:cNvPr id="51" name="Shape 49"/>
          <p:cNvSpPr/>
          <p:nvPr/>
        </p:nvSpPr>
        <p:spPr>
          <a:xfrm>
            <a:off x="7086600" y="1783080"/>
            <a:ext cx="50292" cy="640080"/>
          </a:xfrm>
          <a:prstGeom prst="rect">
            <a:avLst/>
          </a:prstGeom>
          <a:solidFill>
            <a:srgbClr val="A68BC6"/>
          </a:solidFill>
          <a:ln w="12700">
            <a:solidFill>
              <a:srgbClr val="A68BC6">
                <a:alpha val="0"/>
              </a:srgbClr>
            </a:solidFill>
            <a:prstDash val="solid"/>
          </a:ln>
        </p:spPr>
      </p:sp>
      <p:sp>
        <p:nvSpPr>
          <p:cNvPr id="52" name="Text 50"/>
          <p:cNvSpPr/>
          <p:nvPr/>
        </p:nvSpPr>
        <p:spPr>
          <a:xfrm>
            <a:off x="7223760" y="1874520"/>
            <a:ext cx="118872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COLLECTIONS</a:t>
            </a:r>
            <a:endParaRPr lang="en-US" sz="1130" dirty="0"/>
          </a:p>
        </p:txBody>
      </p:sp>
      <p:sp>
        <p:nvSpPr>
          <p:cNvPr id="53" name="Text 51"/>
          <p:cNvSpPr/>
          <p:nvPr/>
        </p:nvSpPr>
        <p:spPr>
          <a:xfrm>
            <a:off x="7223760" y="2103120"/>
            <a:ext cx="118872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season_id</a:t>
            </a:r>
            <a:endParaRPr lang="en-US" sz="850" dirty="0"/>
          </a:p>
        </p:txBody>
      </p:sp>
      <p:sp>
        <p:nvSpPr>
          <p:cNvPr id="54" name="Shape 52"/>
          <p:cNvSpPr/>
          <p:nvPr/>
        </p:nvSpPr>
        <p:spPr>
          <a:xfrm>
            <a:off x="8732520" y="1783080"/>
            <a:ext cx="1783080" cy="640080"/>
          </a:xfrm>
          <a:prstGeom prst="roundRect">
            <a:avLst>
              <a:gd name="adj" fmla="val 17143"/>
            </a:avLst>
          </a:prstGeom>
          <a:solidFill>
            <a:srgbClr val="15151C"/>
          </a:solidFill>
          <a:ln w="11430">
            <a:solidFill>
              <a:srgbClr val="A68BC6"/>
            </a:solidFill>
            <a:prstDash val="solid"/>
          </a:ln>
        </p:spPr>
      </p:sp>
      <p:sp>
        <p:nvSpPr>
          <p:cNvPr id="55" name="Shape 53"/>
          <p:cNvSpPr/>
          <p:nvPr/>
        </p:nvSpPr>
        <p:spPr>
          <a:xfrm>
            <a:off x="8732520" y="1783080"/>
            <a:ext cx="50292" cy="640080"/>
          </a:xfrm>
          <a:prstGeom prst="rect">
            <a:avLst/>
          </a:prstGeom>
          <a:solidFill>
            <a:srgbClr val="A68BC6"/>
          </a:solidFill>
          <a:ln w="12700">
            <a:solidFill>
              <a:srgbClr val="A68BC6">
                <a:alpha val="0"/>
              </a:srgbClr>
            </a:solidFill>
            <a:prstDash val="solid"/>
          </a:ln>
        </p:spPr>
      </p:sp>
      <p:sp>
        <p:nvSpPr>
          <p:cNvPr id="56" name="Text 54"/>
          <p:cNvSpPr/>
          <p:nvPr/>
        </p:nvSpPr>
        <p:spPr>
          <a:xfrm>
            <a:off x="8869680" y="1874520"/>
            <a:ext cx="1554480" cy="182880"/>
          </a:xfrm>
          <a:prstGeom prst="rect">
            <a:avLst/>
          </a:prstGeom>
          <a:noFill/>
          <a:ln/>
        </p:spPr>
        <p:txBody>
          <a:bodyPr wrap="square" lIns="0" tIns="0" rIns="0" bIns="0" rtlCol="0" anchor="t">
            <a:normAutofit/>
          </a:bodyPr>
          <a:lstStyle/>
          <a:p>
            <a:pPr algn="l" indent="0" marL="0">
              <a:lnSpc>
                <a:spcPct val="100000"/>
              </a:lnSpc>
              <a:buNone/>
            </a:pPr>
            <a:r>
              <a:rPr lang="en-US" sz="950" b="1" dirty="0">
                <a:solidFill>
                  <a:srgbClr val="F4F0E8"/>
                </a:solidFill>
                <a:latin typeface="Aptos" pitchFamily="34" charset="0"/>
                <a:ea typeface="Aptos" pitchFamily="34" charset="-122"/>
                <a:cs typeface="Aptos" pitchFamily="34" charset="-120"/>
              </a:rPr>
              <a:t>PRODUCT_COLLECTIONS</a:t>
            </a:r>
            <a:endParaRPr lang="en-US" sz="950" dirty="0"/>
          </a:p>
        </p:txBody>
      </p:sp>
      <p:sp>
        <p:nvSpPr>
          <p:cNvPr id="57" name="Text 55"/>
          <p:cNvSpPr/>
          <p:nvPr/>
        </p:nvSpPr>
        <p:spPr>
          <a:xfrm>
            <a:off x="8869680" y="2103120"/>
            <a:ext cx="15544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product_id + collection_id</a:t>
            </a:r>
            <a:endParaRPr lang="en-US" sz="850" dirty="0"/>
          </a:p>
        </p:txBody>
      </p:sp>
      <p:sp>
        <p:nvSpPr>
          <p:cNvPr id="58" name="Shape 56"/>
          <p:cNvSpPr/>
          <p:nvPr/>
        </p:nvSpPr>
        <p:spPr>
          <a:xfrm>
            <a:off x="2971800" y="3063240"/>
            <a:ext cx="1874520" cy="960120"/>
          </a:xfrm>
          <a:prstGeom prst="roundRect">
            <a:avLst>
              <a:gd name="adj" fmla="val 11429"/>
            </a:avLst>
          </a:prstGeom>
          <a:solidFill>
            <a:srgbClr val="1D1D26"/>
          </a:solidFill>
          <a:ln w="21590">
            <a:solidFill>
              <a:srgbClr val="C9A96E"/>
            </a:solidFill>
            <a:prstDash val="solid"/>
          </a:ln>
        </p:spPr>
      </p:sp>
      <p:sp>
        <p:nvSpPr>
          <p:cNvPr id="59" name="Shape 57"/>
          <p:cNvSpPr/>
          <p:nvPr/>
        </p:nvSpPr>
        <p:spPr>
          <a:xfrm>
            <a:off x="2971800" y="3063240"/>
            <a:ext cx="50292" cy="960120"/>
          </a:xfrm>
          <a:prstGeom prst="rect">
            <a:avLst/>
          </a:prstGeom>
          <a:solidFill>
            <a:srgbClr val="C9A96E"/>
          </a:solidFill>
          <a:ln w="12700">
            <a:solidFill>
              <a:srgbClr val="C9A96E">
                <a:alpha val="0"/>
              </a:srgbClr>
            </a:solidFill>
            <a:prstDash val="solid"/>
          </a:ln>
        </p:spPr>
      </p:sp>
      <p:sp>
        <p:nvSpPr>
          <p:cNvPr id="60" name="Text 58"/>
          <p:cNvSpPr/>
          <p:nvPr/>
        </p:nvSpPr>
        <p:spPr>
          <a:xfrm>
            <a:off x="3108960" y="3154680"/>
            <a:ext cx="1645920" cy="182880"/>
          </a:xfrm>
          <a:prstGeom prst="rect">
            <a:avLst/>
          </a:prstGeom>
          <a:noFill/>
          <a:ln/>
        </p:spPr>
        <p:txBody>
          <a:bodyPr wrap="square" lIns="0" tIns="0" rIns="0" bIns="0" rtlCol="0" anchor="t">
            <a:normAutofit/>
          </a:bodyPr>
          <a:lstStyle/>
          <a:p>
            <a:pPr algn="l" indent="0" marL="0">
              <a:lnSpc>
                <a:spcPct val="100000"/>
              </a:lnSpc>
              <a:buNone/>
            </a:pPr>
            <a:r>
              <a:rPr lang="en-US" sz="1250" b="1" dirty="0">
                <a:solidFill>
                  <a:srgbClr val="F4F0E8"/>
                </a:solidFill>
                <a:latin typeface="Aptos" pitchFamily="34" charset="0"/>
                <a:ea typeface="Aptos" pitchFamily="34" charset="-122"/>
                <a:cs typeface="Aptos" pitchFamily="34" charset="-120"/>
              </a:rPr>
              <a:t>PRODUCTS</a:t>
            </a:r>
            <a:endParaRPr lang="en-US" sz="1250" dirty="0"/>
          </a:p>
        </p:txBody>
      </p:sp>
      <p:sp>
        <p:nvSpPr>
          <p:cNvPr id="61" name="Text 59"/>
          <p:cNvSpPr/>
          <p:nvPr/>
        </p:nvSpPr>
        <p:spPr>
          <a:xfrm>
            <a:off x="3108960" y="3383280"/>
            <a:ext cx="1645920" cy="59436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brand • supplier</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subcategory • collection • gender</a:t>
            </a:r>
            <a:endParaRPr lang="en-US" sz="850" dirty="0"/>
          </a:p>
        </p:txBody>
      </p:sp>
      <p:sp>
        <p:nvSpPr>
          <p:cNvPr id="62" name="Shape 60"/>
          <p:cNvSpPr/>
          <p:nvPr/>
        </p:nvSpPr>
        <p:spPr>
          <a:xfrm>
            <a:off x="5532120" y="3063240"/>
            <a:ext cx="1783080" cy="960120"/>
          </a:xfrm>
          <a:prstGeom prst="roundRect">
            <a:avLst>
              <a:gd name="adj" fmla="val 11429"/>
            </a:avLst>
          </a:prstGeom>
          <a:solidFill>
            <a:srgbClr val="1D1D26"/>
          </a:solidFill>
          <a:ln w="21590">
            <a:solidFill>
              <a:srgbClr val="C9A96E"/>
            </a:solidFill>
            <a:prstDash val="solid"/>
          </a:ln>
        </p:spPr>
      </p:sp>
      <p:sp>
        <p:nvSpPr>
          <p:cNvPr id="63" name="Shape 61"/>
          <p:cNvSpPr/>
          <p:nvPr/>
        </p:nvSpPr>
        <p:spPr>
          <a:xfrm>
            <a:off x="5532120" y="3063240"/>
            <a:ext cx="50292" cy="960120"/>
          </a:xfrm>
          <a:prstGeom prst="rect">
            <a:avLst/>
          </a:prstGeom>
          <a:solidFill>
            <a:srgbClr val="C9A96E"/>
          </a:solidFill>
          <a:ln w="12700">
            <a:solidFill>
              <a:srgbClr val="C9A96E">
                <a:alpha val="0"/>
              </a:srgbClr>
            </a:solidFill>
            <a:prstDash val="solid"/>
          </a:ln>
        </p:spPr>
      </p:sp>
      <p:sp>
        <p:nvSpPr>
          <p:cNvPr id="64" name="Text 62"/>
          <p:cNvSpPr/>
          <p:nvPr/>
        </p:nvSpPr>
        <p:spPr>
          <a:xfrm>
            <a:off x="5669280" y="3154680"/>
            <a:ext cx="1554480" cy="182880"/>
          </a:xfrm>
          <a:prstGeom prst="rect">
            <a:avLst/>
          </a:prstGeom>
          <a:noFill/>
          <a:ln/>
        </p:spPr>
        <p:txBody>
          <a:bodyPr wrap="square" lIns="0" tIns="0" rIns="0" bIns="0" rtlCol="0" anchor="t">
            <a:normAutofit/>
          </a:bodyPr>
          <a:lstStyle/>
          <a:p>
            <a:pPr algn="l" indent="0" marL="0">
              <a:lnSpc>
                <a:spcPct val="100000"/>
              </a:lnSpc>
              <a:buNone/>
            </a:pPr>
            <a:r>
              <a:rPr lang="en-US" sz="1150" b="1" dirty="0">
                <a:solidFill>
                  <a:srgbClr val="F4F0E8"/>
                </a:solidFill>
                <a:latin typeface="Aptos" pitchFamily="34" charset="0"/>
                <a:ea typeface="Aptos" pitchFamily="34" charset="-122"/>
                <a:cs typeface="Aptos" pitchFamily="34" charset="-120"/>
              </a:rPr>
              <a:t>PRODUCT_VARIANTS</a:t>
            </a:r>
            <a:endParaRPr lang="en-US" sz="1150" dirty="0"/>
          </a:p>
        </p:txBody>
      </p:sp>
      <p:sp>
        <p:nvSpPr>
          <p:cNvPr id="65" name="Text 63"/>
          <p:cNvSpPr/>
          <p:nvPr/>
        </p:nvSpPr>
        <p:spPr>
          <a:xfrm>
            <a:off x="5669280" y="3383280"/>
            <a:ext cx="1554480" cy="59436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product • color • size • material</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sku • barcode</a:t>
            </a:r>
            <a:endParaRPr lang="en-US" sz="850" dirty="0"/>
          </a:p>
        </p:txBody>
      </p:sp>
      <p:sp>
        <p:nvSpPr>
          <p:cNvPr id="66" name="Shape 64"/>
          <p:cNvSpPr/>
          <p:nvPr/>
        </p:nvSpPr>
        <p:spPr>
          <a:xfrm>
            <a:off x="8046720" y="3063240"/>
            <a:ext cx="1691640" cy="960120"/>
          </a:xfrm>
          <a:prstGeom prst="roundRect">
            <a:avLst>
              <a:gd name="adj" fmla="val 11429"/>
            </a:avLst>
          </a:prstGeom>
          <a:solidFill>
            <a:srgbClr val="1D1D26"/>
          </a:solidFill>
          <a:ln w="21590">
            <a:solidFill>
              <a:srgbClr val="65B88A"/>
            </a:solidFill>
            <a:prstDash val="solid"/>
          </a:ln>
        </p:spPr>
      </p:sp>
      <p:sp>
        <p:nvSpPr>
          <p:cNvPr id="67" name="Shape 65"/>
          <p:cNvSpPr/>
          <p:nvPr/>
        </p:nvSpPr>
        <p:spPr>
          <a:xfrm>
            <a:off x="8046720" y="3063240"/>
            <a:ext cx="50292" cy="960120"/>
          </a:xfrm>
          <a:prstGeom prst="rect">
            <a:avLst/>
          </a:prstGeom>
          <a:solidFill>
            <a:srgbClr val="65B88A"/>
          </a:solidFill>
          <a:ln w="12700">
            <a:solidFill>
              <a:srgbClr val="65B88A">
                <a:alpha val="0"/>
              </a:srgbClr>
            </a:solidFill>
            <a:prstDash val="solid"/>
          </a:ln>
        </p:spPr>
      </p:sp>
      <p:sp>
        <p:nvSpPr>
          <p:cNvPr id="68" name="Text 66"/>
          <p:cNvSpPr/>
          <p:nvPr/>
        </p:nvSpPr>
        <p:spPr>
          <a:xfrm>
            <a:off x="8183880" y="3154680"/>
            <a:ext cx="1463040" cy="182880"/>
          </a:xfrm>
          <a:prstGeom prst="rect">
            <a:avLst/>
          </a:prstGeom>
          <a:noFill/>
          <a:ln/>
        </p:spPr>
        <p:txBody>
          <a:bodyPr wrap="square" lIns="0" tIns="0" rIns="0" bIns="0" rtlCol="0" anchor="t">
            <a:normAutofit/>
          </a:bodyPr>
          <a:lstStyle/>
          <a:p>
            <a:pPr algn="l" indent="0" marL="0">
              <a:lnSpc>
                <a:spcPct val="100000"/>
              </a:lnSpc>
              <a:buNone/>
            </a:pPr>
            <a:r>
              <a:rPr lang="en-US" sz="1120" b="1" dirty="0">
                <a:solidFill>
                  <a:srgbClr val="F4F0E8"/>
                </a:solidFill>
                <a:latin typeface="Aptos" pitchFamily="34" charset="0"/>
                <a:ea typeface="Aptos" pitchFamily="34" charset="-122"/>
                <a:cs typeface="Aptos" pitchFamily="34" charset="-120"/>
              </a:rPr>
              <a:t>INVENTORY</a:t>
            </a:r>
            <a:endParaRPr lang="en-US" sz="1120" dirty="0"/>
          </a:p>
        </p:txBody>
      </p:sp>
      <p:sp>
        <p:nvSpPr>
          <p:cNvPr id="69" name="Text 67"/>
          <p:cNvSpPr/>
          <p:nvPr/>
        </p:nvSpPr>
        <p:spPr>
          <a:xfrm>
            <a:off x="8183880" y="3383280"/>
            <a:ext cx="1463040" cy="59436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variant + warehouse</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generated available_stock</a:t>
            </a:r>
            <a:endParaRPr lang="en-US" sz="850" dirty="0"/>
          </a:p>
        </p:txBody>
      </p:sp>
      <p:sp>
        <p:nvSpPr>
          <p:cNvPr id="70" name="Shape 68"/>
          <p:cNvSpPr/>
          <p:nvPr/>
        </p:nvSpPr>
        <p:spPr>
          <a:xfrm>
            <a:off x="10104120" y="3218688"/>
            <a:ext cx="1371600" cy="658368"/>
          </a:xfrm>
          <a:prstGeom prst="roundRect">
            <a:avLst>
              <a:gd name="adj" fmla="val 16667"/>
            </a:avLst>
          </a:prstGeom>
          <a:solidFill>
            <a:srgbClr val="15151C"/>
          </a:solidFill>
          <a:ln w="11430">
            <a:solidFill>
              <a:srgbClr val="65B88A"/>
            </a:solidFill>
            <a:prstDash val="solid"/>
          </a:ln>
        </p:spPr>
      </p:sp>
      <p:sp>
        <p:nvSpPr>
          <p:cNvPr id="71" name="Shape 69"/>
          <p:cNvSpPr/>
          <p:nvPr/>
        </p:nvSpPr>
        <p:spPr>
          <a:xfrm>
            <a:off x="10104120" y="3218688"/>
            <a:ext cx="50292" cy="658368"/>
          </a:xfrm>
          <a:prstGeom prst="rect">
            <a:avLst/>
          </a:prstGeom>
          <a:solidFill>
            <a:srgbClr val="65B88A"/>
          </a:solidFill>
          <a:ln w="12700">
            <a:solidFill>
              <a:srgbClr val="65B88A">
                <a:alpha val="0"/>
              </a:srgbClr>
            </a:solidFill>
            <a:prstDash val="solid"/>
          </a:ln>
        </p:spPr>
      </p:sp>
      <p:sp>
        <p:nvSpPr>
          <p:cNvPr id="72" name="Text 70"/>
          <p:cNvSpPr/>
          <p:nvPr/>
        </p:nvSpPr>
        <p:spPr>
          <a:xfrm>
            <a:off x="10241280" y="3310128"/>
            <a:ext cx="1143000" cy="182880"/>
          </a:xfrm>
          <a:prstGeom prst="rect">
            <a:avLst/>
          </a:prstGeom>
          <a:noFill/>
          <a:ln/>
        </p:spPr>
        <p:txBody>
          <a:bodyPr wrap="square" lIns="0" tIns="0" rIns="0" bIns="0" rtlCol="0" anchor="t">
            <a:normAutofit/>
          </a:bodyPr>
          <a:lstStyle/>
          <a:p>
            <a:pPr algn="l" indent="0" marL="0">
              <a:lnSpc>
                <a:spcPct val="100000"/>
              </a:lnSpc>
              <a:buNone/>
            </a:pPr>
            <a:r>
              <a:rPr lang="en-US" sz="1000" b="1" dirty="0">
                <a:solidFill>
                  <a:srgbClr val="F4F0E8"/>
                </a:solidFill>
                <a:latin typeface="Aptos" pitchFamily="34" charset="0"/>
                <a:ea typeface="Aptos" pitchFamily="34" charset="-122"/>
                <a:cs typeface="Aptos" pitchFamily="34" charset="-120"/>
              </a:rPr>
              <a:t>MOVEMENTS</a:t>
            </a:r>
            <a:endParaRPr lang="en-US" sz="1000" dirty="0"/>
          </a:p>
        </p:txBody>
      </p:sp>
      <p:sp>
        <p:nvSpPr>
          <p:cNvPr id="73" name="Text 71"/>
          <p:cNvSpPr/>
          <p:nvPr/>
        </p:nvSpPr>
        <p:spPr>
          <a:xfrm>
            <a:off x="10241280" y="3538728"/>
            <a:ext cx="1143000" cy="292608"/>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inventory_id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append-only ledger</a:t>
            </a:r>
            <a:endParaRPr lang="en-US" sz="850" dirty="0"/>
          </a:p>
        </p:txBody>
      </p:sp>
      <p:sp>
        <p:nvSpPr>
          <p:cNvPr id="74" name="Shape 72"/>
          <p:cNvSpPr/>
          <p:nvPr/>
        </p:nvSpPr>
        <p:spPr>
          <a:xfrm>
            <a:off x="5532120" y="4617720"/>
            <a:ext cx="1783080" cy="640080"/>
          </a:xfrm>
          <a:prstGeom prst="roundRect">
            <a:avLst>
              <a:gd name="adj" fmla="val 17143"/>
            </a:avLst>
          </a:prstGeom>
          <a:solidFill>
            <a:srgbClr val="15151C"/>
          </a:solidFill>
          <a:ln w="11430">
            <a:solidFill>
              <a:srgbClr val="79A7D8"/>
            </a:solidFill>
            <a:prstDash val="solid"/>
          </a:ln>
        </p:spPr>
      </p:sp>
      <p:sp>
        <p:nvSpPr>
          <p:cNvPr id="75" name="Shape 73"/>
          <p:cNvSpPr/>
          <p:nvPr/>
        </p:nvSpPr>
        <p:spPr>
          <a:xfrm>
            <a:off x="5532120" y="4617720"/>
            <a:ext cx="50292" cy="640080"/>
          </a:xfrm>
          <a:prstGeom prst="rect">
            <a:avLst/>
          </a:prstGeom>
          <a:solidFill>
            <a:srgbClr val="79A7D8"/>
          </a:solidFill>
          <a:ln w="12700">
            <a:solidFill>
              <a:srgbClr val="79A7D8">
                <a:alpha val="0"/>
              </a:srgbClr>
            </a:solidFill>
            <a:prstDash val="solid"/>
          </a:ln>
        </p:spPr>
      </p:sp>
      <p:sp>
        <p:nvSpPr>
          <p:cNvPr id="76" name="Text 74"/>
          <p:cNvSpPr/>
          <p:nvPr/>
        </p:nvSpPr>
        <p:spPr>
          <a:xfrm>
            <a:off x="5669280" y="4709160"/>
            <a:ext cx="1554480" cy="182880"/>
          </a:xfrm>
          <a:prstGeom prst="rect">
            <a:avLst/>
          </a:prstGeom>
          <a:noFill/>
          <a:ln/>
        </p:spPr>
        <p:txBody>
          <a:bodyPr wrap="square" lIns="0" tIns="0" rIns="0" bIns="0" rtlCol="0" anchor="t">
            <a:normAutofit/>
          </a:bodyPr>
          <a:lstStyle/>
          <a:p>
            <a:pPr algn="l" indent="0" marL="0">
              <a:lnSpc>
                <a:spcPct val="100000"/>
              </a:lnSpc>
              <a:buNone/>
            </a:pPr>
            <a:r>
              <a:rPr lang="en-US" sz="1060" b="1" dirty="0">
                <a:solidFill>
                  <a:srgbClr val="F4F0E8"/>
                </a:solidFill>
                <a:latin typeface="Aptos" pitchFamily="34" charset="0"/>
                <a:ea typeface="Aptos" pitchFamily="34" charset="-122"/>
                <a:cs typeface="Aptos" pitchFamily="34" charset="-120"/>
              </a:rPr>
              <a:t>COLOR • SIZE • MATERIAL</a:t>
            </a:r>
            <a:endParaRPr lang="en-US" sz="1060" dirty="0"/>
          </a:p>
        </p:txBody>
      </p:sp>
      <p:sp>
        <p:nvSpPr>
          <p:cNvPr id="77" name="Text 75"/>
          <p:cNvSpPr/>
          <p:nvPr/>
        </p:nvSpPr>
        <p:spPr>
          <a:xfrm>
            <a:off x="5669280" y="4937760"/>
            <a:ext cx="15544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lookup PKs</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1:M → variants</a:t>
            </a:r>
            <a:endParaRPr lang="en-US" sz="850" dirty="0"/>
          </a:p>
        </p:txBody>
      </p:sp>
      <p:sp>
        <p:nvSpPr>
          <p:cNvPr id="78" name="Shape 76"/>
          <p:cNvSpPr/>
          <p:nvPr/>
        </p:nvSpPr>
        <p:spPr>
          <a:xfrm>
            <a:off x="8046720" y="4617720"/>
            <a:ext cx="1691640" cy="640080"/>
          </a:xfrm>
          <a:prstGeom prst="roundRect">
            <a:avLst>
              <a:gd name="adj" fmla="val 17143"/>
            </a:avLst>
          </a:prstGeom>
          <a:solidFill>
            <a:srgbClr val="15151C"/>
          </a:solidFill>
          <a:ln w="11430">
            <a:solidFill>
              <a:srgbClr val="65B88A"/>
            </a:solidFill>
            <a:prstDash val="solid"/>
          </a:ln>
        </p:spPr>
      </p:sp>
      <p:sp>
        <p:nvSpPr>
          <p:cNvPr id="79" name="Shape 77"/>
          <p:cNvSpPr/>
          <p:nvPr/>
        </p:nvSpPr>
        <p:spPr>
          <a:xfrm>
            <a:off x="8046720" y="4617720"/>
            <a:ext cx="50292" cy="640080"/>
          </a:xfrm>
          <a:prstGeom prst="rect">
            <a:avLst/>
          </a:prstGeom>
          <a:solidFill>
            <a:srgbClr val="65B88A"/>
          </a:solidFill>
          <a:ln w="12700">
            <a:solidFill>
              <a:srgbClr val="65B88A">
                <a:alpha val="0"/>
              </a:srgbClr>
            </a:solidFill>
            <a:prstDash val="solid"/>
          </a:ln>
        </p:spPr>
      </p:sp>
      <p:sp>
        <p:nvSpPr>
          <p:cNvPr id="80" name="Text 78"/>
          <p:cNvSpPr/>
          <p:nvPr/>
        </p:nvSpPr>
        <p:spPr>
          <a:xfrm>
            <a:off x="8183880" y="4709160"/>
            <a:ext cx="146304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WAREHOUSES</a:t>
            </a:r>
            <a:endParaRPr lang="en-US" sz="1130" dirty="0"/>
          </a:p>
        </p:txBody>
      </p:sp>
      <p:sp>
        <p:nvSpPr>
          <p:cNvPr id="81" name="Text 79"/>
          <p:cNvSpPr/>
          <p:nvPr/>
        </p:nvSpPr>
        <p:spPr>
          <a:xfrm>
            <a:off x="8183880" y="4937760"/>
            <a:ext cx="146304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code</a:t>
            </a:r>
            <a:endParaRPr lang="en-US" sz="850" dirty="0"/>
          </a:p>
        </p:txBody>
      </p:sp>
      <p:sp>
        <p:nvSpPr>
          <p:cNvPr id="82" name="Text 80"/>
          <p:cNvSpPr/>
          <p:nvPr/>
        </p:nvSpPr>
        <p:spPr>
          <a:xfrm>
            <a:off x="5074920" y="3291840"/>
            <a:ext cx="457200" cy="164592"/>
          </a:xfrm>
          <a:prstGeom prst="rect">
            <a:avLst/>
          </a:prstGeom>
          <a:noFill/>
          <a:ln/>
        </p:spPr>
        <p:txBody>
          <a:bodyPr wrap="square" lIns="0" tIns="0" rIns="0" bIns="0" rtlCol="0" anchor="t">
            <a:normAutofit/>
          </a:bodyPr>
          <a:lstStyle/>
          <a:p>
            <a:pPr algn="ctr" indent="0" marL="0">
              <a:lnSpc>
                <a:spcPct val="100000"/>
              </a:lnSpc>
              <a:buNone/>
            </a:pPr>
            <a:r>
              <a:rPr lang="en-US" sz="820" b="1" dirty="0">
                <a:solidFill>
                  <a:srgbClr val="C9A96E"/>
                </a:solidFill>
                <a:latin typeface="Aptos" pitchFamily="34" charset="0"/>
                <a:ea typeface="Aptos" pitchFamily="34" charset="-122"/>
                <a:cs typeface="Aptos" pitchFamily="34" charset="-120"/>
              </a:rPr>
              <a:t>1:M</a:t>
            </a:r>
            <a:endParaRPr lang="en-US" sz="820" dirty="0"/>
          </a:p>
        </p:txBody>
      </p:sp>
      <p:sp>
        <p:nvSpPr>
          <p:cNvPr id="83" name="Text 81"/>
          <p:cNvSpPr/>
          <p:nvPr/>
        </p:nvSpPr>
        <p:spPr>
          <a:xfrm>
            <a:off x="7571232" y="3291840"/>
            <a:ext cx="457200" cy="164592"/>
          </a:xfrm>
          <a:prstGeom prst="rect">
            <a:avLst/>
          </a:prstGeom>
          <a:noFill/>
          <a:ln/>
        </p:spPr>
        <p:txBody>
          <a:bodyPr wrap="square" lIns="0" tIns="0" rIns="0" bIns="0" rtlCol="0" anchor="t">
            <a:normAutofit/>
          </a:bodyPr>
          <a:lstStyle/>
          <a:p>
            <a:pPr algn="ctr" indent="0" marL="0">
              <a:lnSpc>
                <a:spcPct val="100000"/>
              </a:lnSpc>
              <a:buNone/>
            </a:pPr>
            <a:r>
              <a:rPr lang="en-US" sz="820" b="1" dirty="0">
                <a:solidFill>
                  <a:srgbClr val="65B88A"/>
                </a:solidFill>
                <a:latin typeface="Aptos" pitchFamily="34" charset="0"/>
                <a:ea typeface="Aptos" pitchFamily="34" charset="-122"/>
                <a:cs typeface="Aptos" pitchFamily="34" charset="-120"/>
              </a:rPr>
              <a:t>1:M</a:t>
            </a:r>
            <a:endParaRPr lang="en-US" sz="820" dirty="0"/>
          </a:p>
        </p:txBody>
      </p:sp>
      <p:sp>
        <p:nvSpPr>
          <p:cNvPr id="84" name="Text 82"/>
          <p:cNvSpPr/>
          <p:nvPr/>
        </p:nvSpPr>
        <p:spPr>
          <a:xfrm>
            <a:off x="9747504" y="3291840"/>
            <a:ext cx="457200" cy="164592"/>
          </a:xfrm>
          <a:prstGeom prst="rect">
            <a:avLst/>
          </a:prstGeom>
          <a:noFill/>
          <a:ln/>
        </p:spPr>
        <p:txBody>
          <a:bodyPr wrap="square" lIns="0" tIns="0" rIns="0" bIns="0" rtlCol="0" anchor="t">
            <a:normAutofit/>
          </a:bodyPr>
          <a:lstStyle/>
          <a:p>
            <a:pPr algn="ctr" indent="0" marL="0">
              <a:lnSpc>
                <a:spcPct val="100000"/>
              </a:lnSpc>
              <a:buNone/>
            </a:pPr>
            <a:r>
              <a:rPr lang="en-US" sz="820" b="1" dirty="0">
                <a:solidFill>
                  <a:srgbClr val="65B88A"/>
                </a:solidFill>
                <a:latin typeface="Aptos" pitchFamily="34" charset="0"/>
                <a:ea typeface="Aptos" pitchFamily="34" charset="-122"/>
                <a:cs typeface="Aptos" pitchFamily="34" charset="-120"/>
              </a:rPr>
              <a:t>1:M</a:t>
            </a:r>
            <a:endParaRPr lang="en-US" sz="820" dirty="0"/>
          </a:p>
        </p:txBody>
      </p:sp>
      <p:sp>
        <p:nvSpPr>
          <p:cNvPr id="85" name="Text 83"/>
          <p:cNvSpPr/>
          <p:nvPr/>
        </p:nvSpPr>
        <p:spPr>
          <a:xfrm>
            <a:off x="6675120" y="2487168"/>
            <a:ext cx="457200" cy="164592"/>
          </a:xfrm>
          <a:prstGeom prst="rect">
            <a:avLst/>
          </a:prstGeom>
          <a:noFill/>
          <a:ln/>
        </p:spPr>
        <p:txBody>
          <a:bodyPr wrap="square" lIns="0" tIns="0" rIns="0" bIns="0" rtlCol="0" anchor="t">
            <a:normAutofit/>
          </a:bodyPr>
          <a:lstStyle/>
          <a:p>
            <a:pPr algn="ctr" indent="0" marL="0">
              <a:lnSpc>
                <a:spcPct val="100000"/>
              </a:lnSpc>
              <a:buNone/>
            </a:pPr>
            <a:r>
              <a:rPr lang="en-US" sz="820" b="1" dirty="0">
                <a:solidFill>
                  <a:srgbClr val="A68BC6"/>
                </a:solidFill>
                <a:latin typeface="Aptos" pitchFamily="34" charset="0"/>
                <a:ea typeface="Aptos" pitchFamily="34" charset="-122"/>
                <a:cs typeface="Aptos" pitchFamily="34" charset="-120"/>
              </a:rPr>
              <a:t>M:M</a:t>
            </a:r>
            <a:endParaRPr lang="en-US" sz="820" dirty="0"/>
          </a:p>
        </p:txBody>
      </p:sp>
      <p:sp>
        <p:nvSpPr>
          <p:cNvPr id="86" name="Text 84"/>
          <p:cNvSpPr/>
          <p:nvPr/>
        </p:nvSpPr>
        <p:spPr>
          <a:xfrm>
            <a:off x="3017520" y="5870448"/>
            <a:ext cx="7315200" cy="274320"/>
          </a:xfrm>
          <a:prstGeom prst="rect">
            <a:avLst/>
          </a:prstGeom>
          <a:noFill/>
          <a:ln/>
        </p:spPr>
        <p:txBody>
          <a:bodyPr wrap="square" lIns="0" tIns="0" rIns="0" bIns="0" rtlCol="0" anchor="t">
            <a:normAutofit/>
          </a:bodyPr>
          <a:lstStyle/>
          <a:p>
            <a:pPr algn="ctr" indent="0" marL="0">
              <a:lnSpc>
                <a:spcPct val="100000"/>
              </a:lnSpc>
              <a:buNone/>
            </a:pPr>
            <a:r>
              <a:rPr lang="en-US" sz="1400" b="1" spc="90" kern="0" dirty="0">
                <a:solidFill>
                  <a:srgbClr val="E8D7B4"/>
                </a:solidFill>
                <a:latin typeface="Aptos" pitchFamily="34" charset="0"/>
                <a:ea typeface="Aptos" pitchFamily="34" charset="-122"/>
                <a:cs typeface="Aptos" pitchFamily="34" charset="-120"/>
              </a:rPr>
              <a:t>PRODUCT  →  VARIANT  →  INVENTORY  →  MOVEMENT</a:t>
            </a:r>
            <a:endParaRPr lang="en-US" sz="1400" dirty="0"/>
          </a:p>
        </p:txBody>
      </p:sp>
    </p:spTree>
  </p:cSld>
  <p:clrMapOvr>
    <a:masterClrMapping/>
  </p:clrMapOvr>
  <p:transition spd="med" advClick="1">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E–R MODEL / CUSTOMER + SALES</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2700" b="1" dirty="0">
                <a:solidFill>
                  <a:srgbClr val="F4F0E8"/>
                </a:solidFill>
                <a:latin typeface="Georgia" pitchFamily="34" charset="0"/>
                <a:ea typeface="Georgia" pitchFamily="34" charset="-122"/>
                <a:cs typeface="Georgia" pitchFamily="34" charset="-120"/>
              </a:rPr>
              <a:t>The order is the transactional hub of the customer journey</a:t>
            </a:r>
            <a:endParaRPr lang="en-US" sz="27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Identity, shopping state, payment, delivery, return and feedback remain connected without duplication.</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06</a:t>
            </a:r>
            <a:endParaRPr lang="en-US" sz="950" dirty="0"/>
          </a:p>
        </p:txBody>
      </p:sp>
      <p:sp>
        <p:nvSpPr>
          <p:cNvPr id="8" name="Shape 6"/>
          <p:cNvSpPr/>
          <p:nvPr/>
        </p:nvSpPr>
        <p:spPr>
          <a:xfrm>
            <a:off x="2212848" y="3401568"/>
            <a:ext cx="1033272" cy="0"/>
          </a:xfrm>
          <a:prstGeom prst="line">
            <a:avLst/>
          </a:prstGeom>
          <a:noFill/>
          <a:ln w="25400">
            <a:solidFill>
              <a:srgbClr val="C9A96E"/>
            </a:solidFill>
            <a:prstDash val="solid"/>
            <a:headEnd type="none"/>
            <a:tailEnd type="triangle"/>
          </a:ln>
        </p:spPr>
      </p:sp>
      <p:sp>
        <p:nvSpPr>
          <p:cNvPr id="9" name="Shape 7"/>
          <p:cNvSpPr/>
          <p:nvPr/>
        </p:nvSpPr>
        <p:spPr>
          <a:xfrm>
            <a:off x="5029200" y="3401568"/>
            <a:ext cx="548640" cy="0"/>
          </a:xfrm>
          <a:prstGeom prst="line">
            <a:avLst/>
          </a:prstGeom>
          <a:noFill/>
          <a:ln w="25400">
            <a:solidFill>
              <a:srgbClr val="C9A96E"/>
            </a:solidFill>
            <a:prstDash val="solid"/>
            <a:headEnd type="none"/>
            <a:tailEnd type="triangle"/>
          </a:ln>
        </p:spPr>
      </p:sp>
      <p:sp>
        <p:nvSpPr>
          <p:cNvPr id="10" name="Shape 8"/>
          <p:cNvSpPr/>
          <p:nvPr/>
        </p:nvSpPr>
        <p:spPr>
          <a:xfrm>
            <a:off x="7360920" y="3401568"/>
            <a:ext cx="594360" cy="0"/>
          </a:xfrm>
          <a:prstGeom prst="line">
            <a:avLst/>
          </a:prstGeom>
          <a:noFill/>
          <a:ln w="25400">
            <a:solidFill>
              <a:srgbClr val="C9A96E"/>
            </a:solidFill>
            <a:prstDash val="solid"/>
            <a:headEnd type="none"/>
            <a:tailEnd type="triangle"/>
          </a:ln>
        </p:spPr>
      </p:sp>
      <p:sp>
        <p:nvSpPr>
          <p:cNvPr id="11" name="Shape 9"/>
          <p:cNvSpPr/>
          <p:nvPr/>
        </p:nvSpPr>
        <p:spPr>
          <a:xfrm>
            <a:off x="1435608" y="2441448"/>
            <a:ext cx="0" cy="576072"/>
          </a:xfrm>
          <a:prstGeom prst="line">
            <a:avLst/>
          </a:prstGeom>
          <a:noFill/>
          <a:ln w="12700">
            <a:solidFill>
              <a:srgbClr val="79A7D8"/>
            </a:solidFill>
            <a:prstDash val="solid"/>
            <a:headEnd type="none"/>
            <a:tailEnd type="none"/>
          </a:ln>
        </p:spPr>
      </p:sp>
      <p:sp>
        <p:nvSpPr>
          <p:cNvPr id="12" name="Shape 10"/>
          <p:cNvSpPr/>
          <p:nvPr/>
        </p:nvSpPr>
        <p:spPr>
          <a:xfrm>
            <a:off x="1435608" y="4892040"/>
            <a:ext cx="0" cy="-1097280"/>
          </a:xfrm>
          <a:prstGeom prst="line">
            <a:avLst/>
          </a:prstGeom>
          <a:noFill/>
          <a:ln w="12700">
            <a:solidFill>
              <a:srgbClr val="79A7D8"/>
            </a:solidFill>
            <a:prstDash val="solid"/>
            <a:headEnd type="none"/>
            <a:tailEnd type="none"/>
          </a:ln>
        </p:spPr>
      </p:sp>
      <p:sp>
        <p:nvSpPr>
          <p:cNvPr id="13" name="Shape 11"/>
          <p:cNvSpPr/>
          <p:nvPr/>
        </p:nvSpPr>
        <p:spPr>
          <a:xfrm>
            <a:off x="2331720" y="2432304"/>
            <a:ext cx="-118872" cy="630936"/>
          </a:xfrm>
          <a:prstGeom prst="line">
            <a:avLst/>
          </a:prstGeom>
          <a:noFill/>
          <a:ln w="11430">
            <a:solidFill>
              <a:srgbClr val="79A7D8"/>
            </a:solidFill>
            <a:prstDash val="solid"/>
            <a:headEnd type="none"/>
            <a:tailEnd type="none"/>
          </a:ln>
        </p:spPr>
      </p:sp>
      <p:sp>
        <p:nvSpPr>
          <p:cNvPr id="14" name="Shape 12"/>
          <p:cNvSpPr/>
          <p:nvPr/>
        </p:nvSpPr>
        <p:spPr>
          <a:xfrm>
            <a:off x="2331720" y="4306824"/>
            <a:ext cx="-118872" cy="-603504"/>
          </a:xfrm>
          <a:prstGeom prst="line">
            <a:avLst/>
          </a:prstGeom>
          <a:noFill/>
          <a:ln w="11430">
            <a:solidFill>
              <a:srgbClr val="79A7D8"/>
            </a:solidFill>
            <a:prstDash val="solid"/>
            <a:headEnd type="none"/>
            <a:tailEnd type="none"/>
          </a:ln>
        </p:spPr>
      </p:sp>
      <p:sp>
        <p:nvSpPr>
          <p:cNvPr id="15" name="Shape 13"/>
          <p:cNvSpPr/>
          <p:nvPr/>
        </p:nvSpPr>
        <p:spPr>
          <a:xfrm>
            <a:off x="4206240" y="2971800"/>
            <a:ext cx="320040" cy="-530352"/>
          </a:xfrm>
          <a:prstGeom prst="line">
            <a:avLst/>
          </a:prstGeom>
          <a:noFill/>
          <a:ln w="11430">
            <a:solidFill>
              <a:srgbClr val="C9A96E"/>
            </a:solidFill>
            <a:prstDash val="solid"/>
            <a:headEnd type="none"/>
            <a:tailEnd type="none"/>
          </a:ln>
        </p:spPr>
      </p:sp>
      <p:sp>
        <p:nvSpPr>
          <p:cNvPr id="16" name="Shape 14"/>
          <p:cNvSpPr/>
          <p:nvPr/>
        </p:nvSpPr>
        <p:spPr>
          <a:xfrm>
            <a:off x="4617720" y="2971800"/>
            <a:ext cx="1417320" cy="-530352"/>
          </a:xfrm>
          <a:prstGeom prst="line">
            <a:avLst/>
          </a:prstGeom>
          <a:noFill/>
          <a:ln w="11430">
            <a:solidFill>
              <a:srgbClr val="65B88A"/>
            </a:solidFill>
            <a:prstDash val="solid"/>
            <a:headEnd type="none"/>
            <a:tailEnd type="none"/>
          </a:ln>
        </p:spPr>
      </p:sp>
      <p:sp>
        <p:nvSpPr>
          <p:cNvPr id="17" name="Shape 15"/>
          <p:cNvSpPr/>
          <p:nvPr/>
        </p:nvSpPr>
        <p:spPr>
          <a:xfrm>
            <a:off x="4892040" y="2999232"/>
            <a:ext cx="2743200" cy="-557784"/>
          </a:xfrm>
          <a:prstGeom prst="line">
            <a:avLst/>
          </a:prstGeom>
          <a:noFill/>
          <a:ln w="11430">
            <a:solidFill>
              <a:srgbClr val="C9A96E"/>
            </a:solidFill>
            <a:prstDash val="solid"/>
            <a:headEnd type="none"/>
            <a:tailEnd type="none"/>
          </a:ln>
        </p:spPr>
      </p:sp>
      <p:sp>
        <p:nvSpPr>
          <p:cNvPr id="18" name="Shape 16"/>
          <p:cNvSpPr/>
          <p:nvPr/>
        </p:nvSpPr>
        <p:spPr>
          <a:xfrm>
            <a:off x="3977640" y="3840480"/>
            <a:ext cx="91440" cy="1051560"/>
          </a:xfrm>
          <a:prstGeom prst="line">
            <a:avLst/>
          </a:prstGeom>
          <a:noFill/>
          <a:ln w="11430">
            <a:solidFill>
              <a:srgbClr val="C9A96E"/>
            </a:solidFill>
            <a:prstDash val="solid"/>
            <a:headEnd type="none"/>
            <a:tailEnd type="none"/>
          </a:ln>
        </p:spPr>
      </p:sp>
      <p:sp>
        <p:nvSpPr>
          <p:cNvPr id="19" name="Shape 17"/>
          <p:cNvSpPr/>
          <p:nvPr/>
        </p:nvSpPr>
        <p:spPr>
          <a:xfrm>
            <a:off x="4526280" y="3840480"/>
            <a:ext cx="1280160" cy="1051560"/>
          </a:xfrm>
          <a:prstGeom prst="line">
            <a:avLst/>
          </a:prstGeom>
          <a:noFill/>
          <a:ln w="11430">
            <a:solidFill>
              <a:srgbClr val="C9A96E"/>
            </a:solidFill>
            <a:prstDash val="solid"/>
            <a:headEnd type="none"/>
            <a:tailEnd type="none"/>
          </a:ln>
        </p:spPr>
      </p:sp>
      <p:sp>
        <p:nvSpPr>
          <p:cNvPr id="20" name="Shape 18"/>
          <p:cNvSpPr/>
          <p:nvPr/>
        </p:nvSpPr>
        <p:spPr>
          <a:xfrm>
            <a:off x="4480560" y="2971800"/>
            <a:ext cx="0" cy="-274320"/>
          </a:xfrm>
          <a:prstGeom prst="line">
            <a:avLst/>
          </a:prstGeom>
          <a:noFill/>
          <a:ln w="12700">
            <a:solidFill>
              <a:srgbClr val="D9796D"/>
            </a:solidFill>
            <a:prstDash val="solid"/>
            <a:headEnd type="none"/>
            <a:tailEnd type="none"/>
          </a:ln>
        </p:spPr>
      </p:sp>
      <p:sp>
        <p:nvSpPr>
          <p:cNvPr id="21" name="Shape 19"/>
          <p:cNvSpPr/>
          <p:nvPr/>
        </p:nvSpPr>
        <p:spPr>
          <a:xfrm>
            <a:off x="4480560" y="2697480"/>
            <a:ext cx="5257800" cy="0"/>
          </a:xfrm>
          <a:prstGeom prst="line">
            <a:avLst/>
          </a:prstGeom>
          <a:noFill/>
          <a:ln w="12700">
            <a:solidFill>
              <a:srgbClr val="D9796D"/>
            </a:solidFill>
            <a:prstDash val="solid"/>
            <a:headEnd type="none"/>
            <a:tailEnd type="triangle"/>
          </a:ln>
        </p:spPr>
      </p:sp>
      <p:sp>
        <p:nvSpPr>
          <p:cNvPr id="22" name="Shape 20"/>
          <p:cNvSpPr/>
          <p:nvPr/>
        </p:nvSpPr>
        <p:spPr>
          <a:xfrm>
            <a:off x="10579608" y="3127248"/>
            <a:ext cx="0" cy="256032"/>
          </a:xfrm>
          <a:prstGeom prst="line">
            <a:avLst/>
          </a:prstGeom>
          <a:noFill/>
          <a:ln w="12700">
            <a:solidFill>
              <a:srgbClr val="D9796D"/>
            </a:solidFill>
            <a:prstDash val="solid"/>
            <a:headEnd type="none"/>
            <a:tailEnd type="triangle"/>
          </a:ln>
        </p:spPr>
      </p:sp>
      <p:sp>
        <p:nvSpPr>
          <p:cNvPr id="23" name="Shape 21"/>
          <p:cNvSpPr/>
          <p:nvPr/>
        </p:nvSpPr>
        <p:spPr>
          <a:xfrm>
            <a:off x="8750808" y="3794760"/>
            <a:ext cx="0" cy="1097280"/>
          </a:xfrm>
          <a:prstGeom prst="line">
            <a:avLst/>
          </a:prstGeom>
          <a:noFill/>
          <a:ln w="12700">
            <a:solidFill>
              <a:srgbClr val="D9796D"/>
            </a:solidFill>
            <a:prstDash val="solid"/>
            <a:headEnd type="none"/>
            <a:tailEnd type="none"/>
          </a:ln>
        </p:spPr>
      </p:sp>
      <p:sp>
        <p:nvSpPr>
          <p:cNvPr id="24" name="Shape 22"/>
          <p:cNvSpPr/>
          <p:nvPr/>
        </p:nvSpPr>
        <p:spPr>
          <a:xfrm>
            <a:off x="9509760" y="5221224"/>
            <a:ext cx="137160" cy="0"/>
          </a:xfrm>
          <a:prstGeom prst="line">
            <a:avLst/>
          </a:prstGeom>
          <a:noFill/>
          <a:ln w="11430">
            <a:solidFill>
              <a:srgbClr val="D9796D"/>
            </a:solidFill>
            <a:prstDash val="solid"/>
            <a:headEnd type="none"/>
            <a:tailEnd type="none"/>
          </a:ln>
        </p:spPr>
      </p:sp>
      <p:sp>
        <p:nvSpPr>
          <p:cNvPr id="25" name="Shape 23"/>
          <p:cNvSpPr/>
          <p:nvPr/>
        </p:nvSpPr>
        <p:spPr>
          <a:xfrm>
            <a:off x="658368" y="3017520"/>
            <a:ext cx="1554480" cy="777240"/>
          </a:xfrm>
          <a:prstGeom prst="roundRect">
            <a:avLst>
              <a:gd name="adj" fmla="val 14118"/>
            </a:avLst>
          </a:prstGeom>
          <a:solidFill>
            <a:srgbClr val="1D1D26"/>
          </a:solidFill>
          <a:ln w="21590">
            <a:solidFill>
              <a:srgbClr val="79A7D8"/>
            </a:solidFill>
            <a:prstDash val="solid"/>
          </a:ln>
        </p:spPr>
      </p:sp>
      <p:sp>
        <p:nvSpPr>
          <p:cNvPr id="26" name="Shape 24"/>
          <p:cNvSpPr/>
          <p:nvPr/>
        </p:nvSpPr>
        <p:spPr>
          <a:xfrm>
            <a:off x="658368" y="3017520"/>
            <a:ext cx="50292" cy="777240"/>
          </a:xfrm>
          <a:prstGeom prst="rect">
            <a:avLst/>
          </a:prstGeom>
          <a:solidFill>
            <a:srgbClr val="79A7D8"/>
          </a:solidFill>
          <a:ln w="12700">
            <a:solidFill>
              <a:srgbClr val="79A7D8">
                <a:alpha val="0"/>
              </a:srgbClr>
            </a:solidFill>
            <a:prstDash val="solid"/>
          </a:ln>
        </p:spPr>
      </p:sp>
      <p:sp>
        <p:nvSpPr>
          <p:cNvPr id="27" name="Text 25"/>
          <p:cNvSpPr/>
          <p:nvPr/>
        </p:nvSpPr>
        <p:spPr>
          <a:xfrm>
            <a:off x="795528" y="3108960"/>
            <a:ext cx="1325880" cy="182880"/>
          </a:xfrm>
          <a:prstGeom prst="rect">
            <a:avLst/>
          </a:prstGeom>
          <a:noFill/>
          <a:ln/>
        </p:spPr>
        <p:txBody>
          <a:bodyPr wrap="square" lIns="0" tIns="0" rIns="0" bIns="0" rtlCol="0" anchor="t">
            <a:normAutofit/>
          </a:bodyPr>
          <a:lstStyle/>
          <a:p>
            <a:pPr algn="l" indent="0" marL="0">
              <a:lnSpc>
                <a:spcPct val="100000"/>
              </a:lnSpc>
              <a:buNone/>
            </a:pPr>
            <a:r>
              <a:rPr lang="en-US" sz="1250" b="1" dirty="0">
                <a:solidFill>
                  <a:srgbClr val="F4F0E8"/>
                </a:solidFill>
                <a:latin typeface="Aptos" pitchFamily="34" charset="0"/>
                <a:ea typeface="Aptos" pitchFamily="34" charset="-122"/>
                <a:cs typeface="Aptos" pitchFamily="34" charset="-120"/>
              </a:rPr>
              <a:t>CUSTOMERS</a:t>
            </a:r>
            <a:endParaRPr lang="en-US" sz="1250" dirty="0"/>
          </a:p>
        </p:txBody>
      </p:sp>
      <p:sp>
        <p:nvSpPr>
          <p:cNvPr id="28" name="Text 26"/>
          <p:cNvSpPr/>
          <p:nvPr/>
        </p:nvSpPr>
        <p:spPr>
          <a:xfrm>
            <a:off x="795528" y="3337560"/>
            <a:ext cx="1325880" cy="41148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email</a:t>
            </a:r>
            <a:endParaRPr lang="en-US" sz="850" dirty="0"/>
          </a:p>
        </p:txBody>
      </p:sp>
      <p:sp>
        <p:nvSpPr>
          <p:cNvPr id="29" name="Shape 27"/>
          <p:cNvSpPr/>
          <p:nvPr/>
        </p:nvSpPr>
        <p:spPr>
          <a:xfrm>
            <a:off x="3246120" y="2971800"/>
            <a:ext cx="1783080" cy="868680"/>
          </a:xfrm>
          <a:prstGeom prst="roundRect">
            <a:avLst>
              <a:gd name="adj" fmla="val 12632"/>
            </a:avLst>
          </a:prstGeom>
          <a:solidFill>
            <a:srgbClr val="1D1D26"/>
          </a:solidFill>
          <a:ln w="21590">
            <a:solidFill>
              <a:srgbClr val="C9A96E"/>
            </a:solidFill>
            <a:prstDash val="solid"/>
          </a:ln>
        </p:spPr>
      </p:sp>
      <p:sp>
        <p:nvSpPr>
          <p:cNvPr id="30" name="Shape 28"/>
          <p:cNvSpPr/>
          <p:nvPr/>
        </p:nvSpPr>
        <p:spPr>
          <a:xfrm>
            <a:off x="3246120" y="2971800"/>
            <a:ext cx="50292" cy="868680"/>
          </a:xfrm>
          <a:prstGeom prst="rect">
            <a:avLst/>
          </a:prstGeom>
          <a:solidFill>
            <a:srgbClr val="C9A96E"/>
          </a:solidFill>
          <a:ln w="12700">
            <a:solidFill>
              <a:srgbClr val="C9A96E">
                <a:alpha val="0"/>
              </a:srgbClr>
            </a:solidFill>
            <a:prstDash val="solid"/>
          </a:ln>
        </p:spPr>
      </p:sp>
      <p:sp>
        <p:nvSpPr>
          <p:cNvPr id="31" name="Text 29"/>
          <p:cNvSpPr/>
          <p:nvPr/>
        </p:nvSpPr>
        <p:spPr>
          <a:xfrm>
            <a:off x="3383280" y="3063240"/>
            <a:ext cx="1554480" cy="182880"/>
          </a:xfrm>
          <a:prstGeom prst="rect">
            <a:avLst/>
          </a:prstGeom>
          <a:noFill/>
          <a:ln/>
        </p:spPr>
        <p:txBody>
          <a:bodyPr wrap="square" lIns="0" tIns="0" rIns="0" bIns="0" rtlCol="0" anchor="t">
            <a:normAutofit/>
          </a:bodyPr>
          <a:lstStyle/>
          <a:p>
            <a:pPr algn="l" indent="0" marL="0">
              <a:lnSpc>
                <a:spcPct val="100000"/>
              </a:lnSpc>
              <a:buNone/>
            </a:pPr>
            <a:r>
              <a:rPr lang="en-US" sz="1150" b="1" dirty="0">
                <a:solidFill>
                  <a:srgbClr val="F4F0E8"/>
                </a:solidFill>
                <a:latin typeface="Aptos" pitchFamily="34" charset="0"/>
                <a:ea typeface="Aptos" pitchFamily="34" charset="-122"/>
                <a:cs typeface="Aptos" pitchFamily="34" charset="-120"/>
              </a:rPr>
              <a:t>ORDERS</a:t>
            </a:r>
            <a:endParaRPr lang="en-US" sz="1150" dirty="0"/>
          </a:p>
        </p:txBody>
      </p:sp>
      <p:sp>
        <p:nvSpPr>
          <p:cNvPr id="32" name="Text 30"/>
          <p:cNvSpPr/>
          <p:nvPr/>
        </p:nvSpPr>
        <p:spPr>
          <a:xfrm>
            <a:off x="3383280" y="3291840"/>
            <a:ext cx="1554480" cy="5029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 • UK order_number</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customer • addresses</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ship method • coupon</a:t>
            </a:r>
            <a:endParaRPr lang="en-US" sz="850" dirty="0"/>
          </a:p>
        </p:txBody>
      </p:sp>
      <p:sp>
        <p:nvSpPr>
          <p:cNvPr id="33" name="Shape 31"/>
          <p:cNvSpPr/>
          <p:nvPr/>
        </p:nvSpPr>
        <p:spPr>
          <a:xfrm>
            <a:off x="5577840" y="2971800"/>
            <a:ext cx="1783080" cy="868680"/>
          </a:xfrm>
          <a:prstGeom prst="roundRect">
            <a:avLst>
              <a:gd name="adj" fmla="val 12632"/>
            </a:avLst>
          </a:prstGeom>
          <a:solidFill>
            <a:srgbClr val="1D1D26"/>
          </a:solidFill>
          <a:ln w="21590">
            <a:solidFill>
              <a:srgbClr val="C9A96E"/>
            </a:solidFill>
            <a:prstDash val="solid"/>
          </a:ln>
        </p:spPr>
      </p:sp>
      <p:sp>
        <p:nvSpPr>
          <p:cNvPr id="34" name="Shape 32"/>
          <p:cNvSpPr/>
          <p:nvPr/>
        </p:nvSpPr>
        <p:spPr>
          <a:xfrm>
            <a:off x="5577840" y="2971800"/>
            <a:ext cx="50292" cy="868680"/>
          </a:xfrm>
          <a:prstGeom prst="rect">
            <a:avLst/>
          </a:prstGeom>
          <a:solidFill>
            <a:srgbClr val="C9A96E"/>
          </a:solidFill>
          <a:ln w="12700">
            <a:solidFill>
              <a:srgbClr val="C9A96E">
                <a:alpha val="0"/>
              </a:srgbClr>
            </a:solidFill>
            <a:prstDash val="solid"/>
          </a:ln>
        </p:spPr>
      </p:sp>
      <p:sp>
        <p:nvSpPr>
          <p:cNvPr id="35" name="Text 33"/>
          <p:cNvSpPr/>
          <p:nvPr/>
        </p:nvSpPr>
        <p:spPr>
          <a:xfrm>
            <a:off x="5715000" y="3063240"/>
            <a:ext cx="1554480" cy="182880"/>
          </a:xfrm>
          <a:prstGeom prst="rect">
            <a:avLst/>
          </a:prstGeom>
          <a:noFill/>
          <a:ln/>
        </p:spPr>
        <p:txBody>
          <a:bodyPr wrap="square" lIns="0" tIns="0" rIns="0" bIns="0" rtlCol="0" anchor="t">
            <a:normAutofit/>
          </a:bodyPr>
          <a:lstStyle/>
          <a:p>
            <a:pPr algn="l" indent="0" marL="0">
              <a:lnSpc>
                <a:spcPct val="100000"/>
              </a:lnSpc>
              <a:buNone/>
            </a:pPr>
            <a:r>
              <a:rPr lang="en-US" sz="1180" b="1" dirty="0">
                <a:solidFill>
                  <a:srgbClr val="F4F0E8"/>
                </a:solidFill>
                <a:latin typeface="Aptos" pitchFamily="34" charset="0"/>
                <a:ea typeface="Aptos" pitchFamily="34" charset="-122"/>
                <a:cs typeface="Aptos" pitchFamily="34" charset="-120"/>
              </a:rPr>
              <a:t>ORDER_ITEMS</a:t>
            </a:r>
            <a:endParaRPr lang="en-US" sz="1180" dirty="0"/>
          </a:p>
        </p:txBody>
      </p:sp>
      <p:sp>
        <p:nvSpPr>
          <p:cNvPr id="36" name="Text 34"/>
          <p:cNvSpPr/>
          <p:nvPr/>
        </p:nvSpPr>
        <p:spPr>
          <a:xfrm>
            <a:off x="5715000" y="3291840"/>
            <a:ext cx="1554480" cy="5029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order_id • variant_id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generated line_total</a:t>
            </a:r>
            <a:endParaRPr lang="en-US" sz="850" dirty="0"/>
          </a:p>
        </p:txBody>
      </p:sp>
      <p:sp>
        <p:nvSpPr>
          <p:cNvPr id="37" name="Shape 35"/>
          <p:cNvSpPr/>
          <p:nvPr/>
        </p:nvSpPr>
        <p:spPr>
          <a:xfrm>
            <a:off x="7955280" y="3017520"/>
            <a:ext cx="1600200" cy="777240"/>
          </a:xfrm>
          <a:prstGeom prst="roundRect">
            <a:avLst>
              <a:gd name="adj" fmla="val 14118"/>
            </a:avLst>
          </a:prstGeom>
          <a:solidFill>
            <a:srgbClr val="1D1D26"/>
          </a:solidFill>
          <a:ln w="21590">
            <a:solidFill>
              <a:srgbClr val="C9A96E"/>
            </a:solidFill>
            <a:prstDash val="solid"/>
          </a:ln>
        </p:spPr>
      </p:sp>
      <p:sp>
        <p:nvSpPr>
          <p:cNvPr id="38" name="Shape 36"/>
          <p:cNvSpPr/>
          <p:nvPr/>
        </p:nvSpPr>
        <p:spPr>
          <a:xfrm>
            <a:off x="7955280" y="3017520"/>
            <a:ext cx="50292" cy="777240"/>
          </a:xfrm>
          <a:prstGeom prst="rect">
            <a:avLst/>
          </a:prstGeom>
          <a:solidFill>
            <a:srgbClr val="C9A96E"/>
          </a:solidFill>
          <a:ln w="12700">
            <a:solidFill>
              <a:srgbClr val="C9A96E">
                <a:alpha val="0"/>
              </a:srgbClr>
            </a:solidFill>
            <a:prstDash val="solid"/>
          </a:ln>
        </p:spPr>
      </p:sp>
      <p:sp>
        <p:nvSpPr>
          <p:cNvPr id="39" name="Text 37"/>
          <p:cNvSpPr/>
          <p:nvPr/>
        </p:nvSpPr>
        <p:spPr>
          <a:xfrm>
            <a:off x="8092440" y="3108960"/>
            <a:ext cx="1371600" cy="182880"/>
          </a:xfrm>
          <a:prstGeom prst="rect">
            <a:avLst/>
          </a:prstGeom>
          <a:noFill/>
          <a:ln/>
        </p:spPr>
        <p:txBody>
          <a:bodyPr wrap="square" lIns="0" tIns="0" rIns="0" bIns="0" rtlCol="0" anchor="t">
            <a:normAutofit/>
          </a:bodyPr>
          <a:lstStyle/>
          <a:p>
            <a:pPr algn="l" indent="0" marL="0">
              <a:lnSpc>
                <a:spcPct val="100000"/>
              </a:lnSpc>
              <a:buNone/>
            </a:pPr>
            <a:r>
              <a:rPr lang="en-US" sz="1150" b="1" dirty="0">
                <a:solidFill>
                  <a:srgbClr val="F4F0E8"/>
                </a:solidFill>
                <a:latin typeface="Aptos" pitchFamily="34" charset="0"/>
                <a:ea typeface="Aptos" pitchFamily="34" charset="-122"/>
                <a:cs typeface="Aptos" pitchFamily="34" charset="-120"/>
              </a:rPr>
              <a:t>PRODUCT_VARIANTS</a:t>
            </a:r>
            <a:endParaRPr lang="en-US" sz="1150" dirty="0"/>
          </a:p>
        </p:txBody>
      </p:sp>
      <p:sp>
        <p:nvSpPr>
          <p:cNvPr id="40" name="Text 38"/>
          <p:cNvSpPr/>
          <p:nvPr/>
        </p:nvSpPr>
        <p:spPr>
          <a:xfrm>
            <a:off x="8092440" y="3337560"/>
            <a:ext cx="1371600" cy="41148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sku • barcode</a:t>
            </a:r>
            <a:endParaRPr lang="en-US" sz="850" dirty="0"/>
          </a:p>
        </p:txBody>
      </p:sp>
      <p:sp>
        <p:nvSpPr>
          <p:cNvPr id="41" name="Shape 39"/>
          <p:cNvSpPr/>
          <p:nvPr/>
        </p:nvSpPr>
        <p:spPr>
          <a:xfrm>
            <a:off x="658368" y="1783080"/>
            <a:ext cx="1554480" cy="640080"/>
          </a:xfrm>
          <a:prstGeom prst="roundRect">
            <a:avLst>
              <a:gd name="adj" fmla="val 17143"/>
            </a:avLst>
          </a:prstGeom>
          <a:solidFill>
            <a:srgbClr val="15151C"/>
          </a:solidFill>
          <a:ln w="11430">
            <a:solidFill>
              <a:srgbClr val="79A7D8"/>
            </a:solidFill>
            <a:prstDash val="solid"/>
          </a:ln>
        </p:spPr>
      </p:sp>
      <p:sp>
        <p:nvSpPr>
          <p:cNvPr id="42" name="Shape 40"/>
          <p:cNvSpPr/>
          <p:nvPr/>
        </p:nvSpPr>
        <p:spPr>
          <a:xfrm>
            <a:off x="658368" y="1783080"/>
            <a:ext cx="50292" cy="640080"/>
          </a:xfrm>
          <a:prstGeom prst="rect">
            <a:avLst/>
          </a:prstGeom>
          <a:solidFill>
            <a:srgbClr val="79A7D8"/>
          </a:solidFill>
          <a:ln w="12700">
            <a:solidFill>
              <a:srgbClr val="79A7D8">
                <a:alpha val="0"/>
              </a:srgbClr>
            </a:solidFill>
            <a:prstDash val="solid"/>
          </a:ln>
        </p:spPr>
      </p:sp>
      <p:sp>
        <p:nvSpPr>
          <p:cNvPr id="43" name="Text 41"/>
          <p:cNvSpPr/>
          <p:nvPr/>
        </p:nvSpPr>
        <p:spPr>
          <a:xfrm>
            <a:off x="795528" y="1874520"/>
            <a:ext cx="1325880" cy="182880"/>
          </a:xfrm>
          <a:prstGeom prst="rect">
            <a:avLst/>
          </a:prstGeom>
          <a:noFill/>
          <a:ln/>
        </p:spPr>
        <p:txBody>
          <a:bodyPr wrap="square" lIns="0" tIns="0" rIns="0" bIns="0" rtlCol="0" anchor="t">
            <a:normAutofit/>
          </a:bodyPr>
          <a:lstStyle/>
          <a:p>
            <a:pPr algn="l" indent="0" marL="0">
              <a:lnSpc>
                <a:spcPct val="100000"/>
              </a:lnSpc>
              <a:buNone/>
            </a:pPr>
            <a:r>
              <a:rPr lang="en-US" sz="1030" b="1" dirty="0">
                <a:solidFill>
                  <a:srgbClr val="F4F0E8"/>
                </a:solidFill>
                <a:latin typeface="Aptos" pitchFamily="34" charset="0"/>
                <a:ea typeface="Aptos" pitchFamily="34" charset="-122"/>
                <a:cs typeface="Aptos" pitchFamily="34" charset="-120"/>
              </a:rPr>
              <a:t>CUSTOMER_PROFILES</a:t>
            </a:r>
            <a:endParaRPr lang="en-US" sz="1030" dirty="0"/>
          </a:p>
        </p:txBody>
      </p:sp>
      <p:sp>
        <p:nvSpPr>
          <p:cNvPr id="44" name="Text 42"/>
          <p:cNvSpPr/>
          <p:nvPr/>
        </p:nvSpPr>
        <p:spPr>
          <a:xfrm>
            <a:off x="795528" y="2103120"/>
            <a:ext cx="13258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PK/FK customer_id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phone</a:t>
            </a:r>
            <a:endParaRPr lang="en-US" sz="850" dirty="0"/>
          </a:p>
        </p:txBody>
      </p:sp>
      <p:sp>
        <p:nvSpPr>
          <p:cNvPr id="45" name="Shape 43"/>
          <p:cNvSpPr/>
          <p:nvPr/>
        </p:nvSpPr>
        <p:spPr>
          <a:xfrm>
            <a:off x="658368" y="4892040"/>
            <a:ext cx="1554480" cy="640080"/>
          </a:xfrm>
          <a:prstGeom prst="roundRect">
            <a:avLst>
              <a:gd name="adj" fmla="val 17143"/>
            </a:avLst>
          </a:prstGeom>
          <a:solidFill>
            <a:srgbClr val="15151C"/>
          </a:solidFill>
          <a:ln w="11430">
            <a:solidFill>
              <a:srgbClr val="79A7D8"/>
            </a:solidFill>
            <a:prstDash val="solid"/>
          </a:ln>
        </p:spPr>
      </p:sp>
      <p:sp>
        <p:nvSpPr>
          <p:cNvPr id="46" name="Shape 44"/>
          <p:cNvSpPr/>
          <p:nvPr/>
        </p:nvSpPr>
        <p:spPr>
          <a:xfrm>
            <a:off x="658368" y="4892040"/>
            <a:ext cx="50292" cy="640080"/>
          </a:xfrm>
          <a:prstGeom prst="rect">
            <a:avLst/>
          </a:prstGeom>
          <a:solidFill>
            <a:srgbClr val="79A7D8"/>
          </a:solidFill>
          <a:ln w="12700">
            <a:solidFill>
              <a:srgbClr val="79A7D8">
                <a:alpha val="0"/>
              </a:srgbClr>
            </a:solidFill>
            <a:prstDash val="solid"/>
          </a:ln>
        </p:spPr>
      </p:sp>
      <p:sp>
        <p:nvSpPr>
          <p:cNvPr id="47" name="Text 45"/>
          <p:cNvSpPr/>
          <p:nvPr/>
        </p:nvSpPr>
        <p:spPr>
          <a:xfrm>
            <a:off x="795528" y="4983480"/>
            <a:ext cx="132588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ADDRESSES</a:t>
            </a:r>
            <a:endParaRPr lang="en-US" sz="1130" dirty="0"/>
          </a:p>
        </p:txBody>
      </p:sp>
      <p:sp>
        <p:nvSpPr>
          <p:cNvPr id="48" name="Text 46"/>
          <p:cNvSpPr/>
          <p:nvPr/>
        </p:nvSpPr>
        <p:spPr>
          <a:xfrm>
            <a:off x="795528" y="5212080"/>
            <a:ext cx="13258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PK 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customer_id</a:t>
            </a:r>
            <a:endParaRPr lang="en-US" sz="850" dirty="0"/>
          </a:p>
        </p:txBody>
      </p:sp>
      <p:sp>
        <p:nvSpPr>
          <p:cNvPr id="49" name="Shape 47"/>
          <p:cNvSpPr/>
          <p:nvPr/>
        </p:nvSpPr>
        <p:spPr>
          <a:xfrm>
            <a:off x="2331720" y="2103120"/>
            <a:ext cx="1463040" cy="640080"/>
          </a:xfrm>
          <a:prstGeom prst="roundRect">
            <a:avLst>
              <a:gd name="adj" fmla="val 17143"/>
            </a:avLst>
          </a:prstGeom>
          <a:solidFill>
            <a:srgbClr val="15151C"/>
          </a:solidFill>
          <a:ln w="11430">
            <a:solidFill>
              <a:srgbClr val="79A7D8"/>
            </a:solidFill>
            <a:prstDash val="solid"/>
          </a:ln>
        </p:spPr>
      </p:sp>
      <p:sp>
        <p:nvSpPr>
          <p:cNvPr id="50" name="Shape 48"/>
          <p:cNvSpPr/>
          <p:nvPr/>
        </p:nvSpPr>
        <p:spPr>
          <a:xfrm>
            <a:off x="2331720" y="2103120"/>
            <a:ext cx="50292" cy="640080"/>
          </a:xfrm>
          <a:prstGeom prst="rect">
            <a:avLst/>
          </a:prstGeom>
          <a:solidFill>
            <a:srgbClr val="79A7D8"/>
          </a:solidFill>
          <a:ln w="12700">
            <a:solidFill>
              <a:srgbClr val="79A7D8">
                <a:alpha val="0"/>
              </a:srgbClr>
            </a:solidFill>
            <a:prstDash val="solid"/>
          </a:ln>
        </p:spPr>
      </p:sp>
      <p:sp>
        <p:nvSpPr>
          <p:cNvPr id="51" name="Text 49"/>
          <p:cNvSpPr/>
          <p:nvPr/>
        </p:nvSpPr>
        <p:spPr>
          <a:xfrm>
            <a:off x="2468880" y="2194560"/>
            <a:ext cx="1234440" cy="182880"/>
          </a:xfrm>
          <a:prstGeom prst="rect">
            <a:avLst/>
          </a:prstGeom>
          <a:noFill/>
          <a:ln/>
        </p:spPr>
        <p:txBody>
          <a:bodyPr wrap="square" lIns="0" tIns="0" rIns="0" bIns="0" rtlCol="0" anchor="t">
            <a:normAutofit/>
          </a:bodyPr>
          <a:lstStyle/>
          <a:p>
            <a:pPr algn="l" indent="0" marL="0">
              <a:lnSpc>
                <a:spcPct val="100000"/>
              </a:lnSpc>
              <a:buNone/>
            </a:pPr>
            <a:r>
              <a:rPr lang="en-US" sz="1040" b="1" dirty="0">
                <a:solidFill>
                  <a:srgbClr val="F4F0E8"/>
                </a:solidFill>
                <a:latin typeface="Aptos" pitchFamily="34" charset="0"/>
                <a:ea typeface="Aptos" pitchFamily="34" charset="-122"/>
                <a:cs typeface="Aptos" pitchFamily="34" charset="-120"/>
              </a:rPr>
              <a:t>CART + ITEMS</a:t>
            </a:r>
            <a:endParaRPr lang="en-US" sz="1040" dirty="0"/>
          </a:p>
        </p:txBody>
      </p:sp>
      <p:sp>
        <p:nvSpPr>
          <p:cNvPr id="52" name="Text 50"/>
          <p:cNvSpPr/>
          <p:nvPr/>
        </p:nvSpPr>
        <p:spPr>
          <a:xfrm>
            <a:off x="2468880" y="2423160"/>
            <a:ext cx="123444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customer 1:1 cart</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variant 1:M items</a:t>
            </a:r>
            <a:endParaRPr lang="en-US" sz="850" dirty="0"/>
          </a:p>
        </p:txBody>
      </p:sp>
      <p:sp>
        <p:nvSpPr>
          <p:cNvPr id="53" name="Shape 51"/>
          <p:cNvSpPr/>
          <p:nvPr/>
        </p:nvSpPr>
        <p:spPr>
          <a:xfrm>
            <a:off x="2331720" y="3977640"/>
            <a:ext cx="1463040" cy="640080"/>
          </a:xfrm>
          <a:prstGeom prst="roundRect">
            <a:avLst>
              <a:gd name="adj" fmla="val 17143"/>
            </a:avLst>
          </a:prstGeom>
          <a:solidFill>
            <a:srgbClr val="15151C"/>
          </a:solidFill>
          <a:ln w="11430">
            <a:solidFill>
              <a:srgbClr val="79A7D8"/>
            </a:solidFill>
            <a:prstDash val="solid"/>
          </a:ln>
        </p:spPr>
      </p:sp>
      <p:sp>
        <p:nvSpPr>
          <p:cNvPr id="54" name="Shape 52"/>
          <p:cNvSpPr/>
          <p:nvPr/>
        </p:nvSpPr>
        <p:spPr>
          <a:xfrm>
            <a:off x="2331720" y="3977640"/>
            <a:ext cx="50292" cy="640080"/>
          </a:xfrm>
          <a:prstGeom prst="rect">
            <a:avLst/>
          </a:prstGeom>
          <a:solidFill>
            <a:srgbClr val="79A7D8"/>
          </a:solidFill>
          <a:ln w="12700">
            <a:solidFill>
              <a:srgbClr val="79A7D8">
                <a:alpha val="0"/>
              </a:srgbClr>
            </a:solidFill>
            <a:prstDash val="solid"/>
          </a:ln>
        </p:spPr>
      </p:sp>
      <p:sp>
        <p:nvSpPr>
          <p:cNvPr id="55" name="Text 53"/>
          <p:cNvSpPr/>
          <p:nvPr/>
        </p:nvSpPr>
        <p:spPr>
          <a:xfrm>
            <a:off x="2468880" y="4069080"/>
            <a:ext cx="1234440" cy="182880"/>
          </a:xfrm>
          <a:prstGeom prst="rect">
            <a:avLst/>
          </a:prstGeom>
          <a:noFill/>
          <a:ln/>
        </p:spPr>
        <p:txBody>
          <a:bodyPr wrap="square" lIns="0" tIns="0" rIns="0" bIns="0" rtlCol="0" anchor="t">
            <a:normAutofit/>
          </a:bodyPr>
          <a:lstStyle/>
          <a:p>
            <a:pPr algn="l" indent="0" marL="0">
              <a:lnSpc>
                <a:spcPct val="100000"/>
              </a:lnSpc>
              <a:buNone/>
            </a:pPr>
            <a:r>
              <a:rPr lang="en-US" sz="1040" b="1" dirty="0">
                <a:solidFill>
                  <a:srgbClr val="F4F0E8"/>
                </a:solidFill>
                <a:latin typeface="Aptos" pitchFamily="34" charset="0"/>
                <a:ea typeface="Aptos" pitchFamily="34" charset="-122"/>
                <a:cs typeface="Aptos" pitchFamily="34" charset="-120"/>
              </a:rPr>
              <a:t>WISHLIST + ITEMS</a:t>
            </a:r>
            <a:endParaRPr lang="en-US" sz="1040" dirty="0"/>
          </a:p>
        </p:txBody>
      </p:sp>
      <p:sp>
        <p:nvSpPr>
          <p:cNvPr id="56" name="Text 54"/>
          <p:cNvSpPr/>
          <p:nvPr/>
        </p:nvSpPr>
        <p:spPr>
          <a:xfrm>
            <a:off x="2468880" y="4297680"/>
            <a:ext cx="123444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customer 1:1 list</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variant 1:M items</a:t>
            </a:r>
            <a:endParaRPr lang="en-US" sz="850" dirty="0"/>
          </a:p>
        </p:txBody>
      </p:sp>
      <p:sp>
        <p:nvSpPr>
          <p:cNvPr id="57" name="Shape 55"/>
          <p:cNvSpPr/>
          <p:nvPr/>
        </p:nvSpPr>
        <p:spPr>
          <a:xfrm>
            <a:off x="3977640" y="1783080"/>
            <a:ext cx="1554480" cy="640080"/>
          </a:xfrm>
          <a:prstGeom prst="roundRect">
            <a:avLst>
              <a:gd name="adj" fmla="val 17143"/>
            </a:avLst>
          </a:prstGeom>
          <a:solidFill>
            <a:srgbClr val="15151C"/>
          </a:solidFill>
          <a:ln w="11430">
            <a:solidFill>
              <a:srgbClr val="C9A96E"/>
            </a:solidFill>
            <a:prstDash val="solid"/>
          </a:ln>
        </p:spPr>
      </p:sp>
      <p:sp>
        <p:nvSpPr>
          <p:cNvPr id="58" name="Shape 56"/>
          <p:cNvSpPr/>
          <p:nvPr/>
        </p:nvSpPr>
        <p:spPr>
          <a:xfrm>
            <a:off x="3977640" y="1783080"/>
            <a:ext cx="50292" cy="640080"/>
          </a:xfrm>
          <a:prstGeom prst="rect">
            <a:avLst/>
          </a:prstGeom>
          <a:solidFill>
            <a:srgbClr val="C9A96E"/>
          </a:solidFill>
          <a:ln w="12700">
            <a:solidFill>
              <a:srgbClr val="C9A96E">
                <a:alpha val="0"/>
              </a:srgbClr>
            </a:solidFill>
            <a:prstDash val="solid"/>
          </a:ln>
        </p:spPr>
      </p:sp>
      <p:sp>
        <p:nvSpPr>
          <p:cNvPr id="59" name="Text 57"/>
          <p:cNvSpPr/>
          <p:nvPr/>
        </p:nvSpPr>
        <p:spPr>
          <a:xfrm>
            <a:off x="4114800" y="1874520"/>
            <a:ext cx="1325880" cy="182880"/>
          </a:xfrm>
          <a:prstGeom prst="rect">
            <a:avLst/>
          </a:prstGeom>
          <a:noFill/>
          <a:ln/>
        </p:spPr>
        <p:txBody>
          <a:bodyPr wrap="square" lIns="0" tIns="0" rIns="0" bIns="0" rtlCol="0" anchor="t">
            <a:normAutofit/>
          </a:bodyPr>
          <a:lstStyle/>
          <a:p>
            <a:pPr algn="l" indent="0" marL="0">
              <a:lnSpc>
                <a:spcPct val="100000"/>
              </a:lnSpc>
              <a:buNone/>
            </a:pPr>
            <a:r>
              <a:rPr lang="en-US" sz="1060" b="1" dirty="0">
                <a:solidFill>
                  <a:srgbClr val="F4F0E8"/>
                </a:solidFill>
                <a:latin typeface="Aptos" pitchFamily="34" charset="0"/>
                <a:ea typeface="Aptos" pitchFamily="34" charset="-122"/>
                <a:cs typeface="Aptos" pitchFamily="34" charset="-120"/>
              </a:rPr>
              <a:t>PAYMENTS</a:t>
            </a:r>
            <a:endParaRPr lang="en-US" sz="1060" dirty="0"/>
          </a:p>
        </p:txBody>
      </p:sp>
      <p:sp>
        <p:nvSpPr>
          <p:cNvPr id="60" name="Text 58"/>
          <p:cNvSpPr/>
          <p:nvPr/>
        </p:nvSpPr>
        <p:spPr>
          <a:xfrm>
            <a:off x="4114800" y="2103120"/>
            <a:ext cx="13258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FK/UK order_id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transaction_ref</a:t>
            </a:r>
            <a:endParaRPr lang="en-US" sz="850" dirty="0"/>
          </a:p>
        </p:txBody>
      </p:sp>
      <p:sp>
        <p:nvSpPr>
          <p:cNvPr id="61" name="Shape 59"/>
          <p:cNvSpPr/>
          <p:nvPr/>
        </p:nvSpPr>
        <p:spPr>
          <a:xfrm>
            <a:off x="5669280" y="1783080"/>
            <a:ext cx="1554480" cy="640080"/>
          </a:xfrm>
          <a:prstGeom prst="roundRect">
            <a:avLst>
              <a:gd name="adj" fmla="val 17143"/>
            </a:avLst>
          </a:prstGeom>
          <a:solidFill>
            <a:srgbClr val="15151C"/>
          </a:solidFill>
          <a:ln w="11430">
            <a:solidFill>
              <a:srgbClr val="65B88A"/>
            </a:solidFill>
            <a:prstDash val="solid"/>
          </a:ln>
        </p:spPr>
      </p:sp>
      <p:sp>
        <p:nvSpPr>
          <p:cNvPr id="62" name="Shape 60"/>
          <p:cNvSpPr/>
          <p:nvPr/>
        </p:nvSpPr>
        <p:spPr>
          <a:xfrm>
            <a:off x="5669280" y="1783080"/>
            <a:ext cx="50292" cy="640080"/>
          </a:xfrm>
          <a:prstGeom prst="rect">
            <a:avLst/>
          </a:prstGeom>
          <a:solidFill>
            <a:srgbClr val="65B88A"/>
          </a:solidFill>
          <a:ln w="12700">
            <a:solidFill>
              <a:srgbClr val="65B88A">
                <a:alpha val="0"/>
              </a:srgbClr>
            </a:solidFill>
            <a:prstDash val="solid"/>
          </a:ln>
        </p:spPr>
      </p:sp>
      <p:sp>
        <p:nvSpPr>
          <p:cNvPr id="63" name="Text 61"/>
          <p:cNvSpPr/>
          <p:nvPr/>
        </p:nvSpPr>
        <p:spPr>
          <a:xfrm>
            <a:off x="5806440" y="1874520"/>
            <a:ext cx="1325880" cy="182880"/>
          </a:xfrm>
          <a:prstGeom prst="rect">
            <a:avLst/>
          </a:prstGeom>
          <a:noFill/>
          <a:ln/>
        </p:spPr>
        <p:txBody>
          <a:bodyPr wrap="square" lIns="0" tIns="0" rIns="0" bIns="0" rtlCol="0" anchor="t">
            <a:normAutofit/>
          </a:bodyPr>
          <a:lstStyle/>
          <a:p>
            <a:pPr algn="l" indent="0" marL="0">
              <a:lnSpc>
                <a:spcPct val="100000"/>
              </a:lnSpc>
              <a:buNone/>
            </a:pPr>
            <a:r>
              <a:rPr lang="en-US" sz="1060" b="1" dirty="0">
                <a:solidFill>
                  <a:srgbClr val="F4F0E8"/>
                </a:solidFill>
                <a:latin typeface="Aptos" pitchFamily="34" charset="0"/>
                <a:ea typeface="Aptos" pitchFamily="34" charset="-122"/>
                <a:cs typeface="Aptos" pitchFamily="34" charset="-120"/>
              </a:rPr>
              <a:t>SHIPMENTS</a:t>
            </a:r>
            <a:endParaRPr lang="en-US" sz="1060" dirty="0"/>
          </a:p>
        </p:txBody>
      </p:sp>
      <p:sp>
        <p:nvSpPr>
          <p:cNvPr id="64" name="Text 62"/>
          <p:cNvSpPr/>
          <p:nvPr/>
        </p:nvSpPr>
        <p:spPr>
          <a:xfrm>
            <a:off x="5806440" y="2103120"/>
            <a:ext cx="13258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FK/UK order_id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tracking_number</a:t>
            </a:r>
            <a:endParaRPr lang="en-US" sz="850" dirty="0"/>
          </a:p>
        </p:txBody>
      </p:sp>
      <p:sp>
        <p:nvSpPr>
          <p:cNvPr id="65" name="Shape 63"/>
          <p:cNvSpPr/>
          <p:nvPr/>
        </p:nvSpPr>
        <p:spPr>
          <a:xfrm>
            <a:off x="7360920" y="1783080"/>
            <a:ext cx="1554480" cy="640080"/>
          </a:xfrm>
          <a:prstGeom prst="roundRect">
            <a:avLst>
              <a:gd name="adj" fmla="val 17143"/>
            </a:avLst>
          </a:prstGeom>
          <a:solidFill>
            <a:srgbClr val="15151C"/>
          </a:solidFill>
          <a:ln w="11430">
            <a:solidFill>
              <a:srgbClr val="C9A96E"/>
            </a:solidFill>
            <a:prstDash val="solid"/>
          </a:ln>
        </p:spPr>
      </p:sp>
      <p:sp>
        <p:nvSpPr>
          <p:cNvPr id="66" name="Shape 64"/>
          <p:cNvSpPr/>
          <p:nvPr/>
        </p:nvSpPr>
        <p:spPr>
          <a:xfrm>
            <a:off x="7360920" y="1783080"/>
            <a:ext cx="50292" cy="640080"/>
          </a:xfrm>
          <a:prstGeom prst="rect">
            <a:avLst/>
          </a:prstGeom>
          <a:solidFill>
            <a:srgbClr val="C9A96E"/>
          </a:solidFill>
          <a:ln w="12700">
            <a:solidFill>
              <a:srgbClr val="C9A96E">
                <a:alpha val="0"/>
              </a:srgbClr>
            </a:solidFill>
            <a:prstDash val="solid"/>
          </a:ln>
        </p:spPr>
      </p:sp>
      <p:sp>
        <p:nvSpPr>
          <p:cNvPr id="67" name="Text 65"/>
          <p:cNvSpPr/>
          <p:nvPr/>
        </p:nvSpPr>
        <p:spPr>
          <a:xfrm>
            <a:off x="7498080" y="1874520"/>
            <a:ext cx="1325880" cy="182880"/>
          </a:xfrm>
          <a:prstGeom prst="rect">
            <a:avLst/>
          </a:prstGeom>
          <a:noFill/>
          <a:ln/>
        </p:spPr>
        <p:txBody>
          <a:bodyPr wrap="square" lIns="0" tIns="0" rIns="0" bIns="0" rtlCol="0" anchor="t">
            <a:normAutofit/>
          </a:bodyPr>
          <a:lstStyle/>
          <a:p>
            <a:pPr algn="l" indent="0" marL="0">
              <a:lnSpc>
                <a:spcPct val="100000"/>
              </a:lnSpc>
              <a:buNone/>
            </a:pPr>
            <a:r>
              <a:rPr lang="en-US" sz="1060" b="1" dirty="0">
                <a:solidFill>
                  <a:srgbClr val="F4F0E8"/>
                </a:solidFill>
                <a:latin typeface="Aptos" pitchFamily="34" charset="0"/>
                <a:ea typeface="Aptos" pitchFamily="34" charset="-122"/>
                <a:cs typeface="Aptos" pitchFamily="34" charset="-120"/>
              </a:rPr>
              <a:t>INVOICES</a:t>
            </a:r>
            <a:endParaRPr lang="en-US" sz="1060" dirty="0"/>
          </a:p>
        </p:txBody>
      </p:sp>
      <p:sp>
        <p:nvSpPr>
          <p:cNvPr id="68" name="Text 66"/>
          <p:cNvSpPr/>
          <p:nvPr/>
        </p:nvSpPr>
        <p:spPr>
          <a:xfrm>
            <a:off x="7498080" y="2103120"/>
            <a:ext cx="13258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FK/UK order_id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UK invoice_number</a:t>
            </a:r>
            <a:endParaRPr lang="en-US" sz="850" dirty="0"/>
          </a:p>
        </p:txBody>
      </p:sp>
      <p:sp>
        <p:nvSpPr>
          <p:cNvPr id="69" name="Shape 67"/>
          <p:cNvSpPr/>
          <p:nvPr/>
        </p:nvSpPr>
        <p:spPr>
          <a:xfrm>
            <a:off x="3246120" y="4892040"/>
            <a:ext cx="1783080" cy="640080"/>
          </a:xfrm>
          <a:prstGeom prst="roundRect">
            <a:avLst>
              <a:gd name="adj" fmla="val 17143"/>
            </a:avLst>
          </a:prstGeom>
          <a:solidFill>
            <a:srgbClr val="15151C"/>
          </a:solidFill>
          <a:ln w="11430">
            <a:solidFill>
              <a:srgbClr val="C9A96E"/>
            </a:solidFill>
            <a:prstDash val="solid"/>
          </a:ln>
        </p:spPr>
      </p:sp>
      <p:sp>
        <p:nvSpPr>
          <p:cNvPr id="70" name="Shape 68"/>
          <p:cNvSpPr/>
          <p:nvPr/>
        </p:nvSpPr>
        <p:spPr>
          <a:xfrm>
            <a:off x="3246120" y="4892040"/>
            <a:ext cx="50292" cy="640080"/>
          </a:xfrm>
          <a:prstGeom prst="rect">
            <a:avLst/>
          </a:prstGeom>
          <a:solidFill>
            <a:srgbClr val="C9A96E"/>
          </a:solidFill>
          <a:ln w="12700">
            <a:solidFill>
              <a:srgbClr val="C9A96E">
                <a:alpha val="0"/>
              </a:srgbClr>
            </a:solidFill>
            <a:prstDash val="solid"/>
          </a:ln>
        </p:spPr>
      </p:sp>
      <p:sp>
        <p:nvSpPr>
          <p:cNvPr id="71" name="Text 69"/>
          <p:cNvSpPr/>
          <p:nvPr/>
        </p:nvSpPr>
        <p:spPr>
          <a:xfrm>
            <a:off x="3383280" y="4983480"/>
            <a:ext cx="1554480" cy="182880"/>
          </a:xfrm>
          <a:prstGeom prst="rect">
            <a:avLst/>
          </a:prstGeom>
          <a:noFill/>
          <a:ln/>
        </p:spPr>
        <p:txBody>
          <a:bodyPr wrap="square" lIns="0" tIns="0" rIns="0" bIns="0" rtlCol="0" anchor="t">
            <a:normAutofit/>
          </a:bodyPr>
          <a:lstStyle/>
          <a:p>
            <a:pPr algn="l" indent="0" marL="0">
              <a:lnSpc>
                <a:spcPct val="100000"/>
              </a:lnSpc>
              <a:buNone/>
            </a:pPr>
            <a:r>
              <a:rPr lang="en-US" sz="1130" b="1" dirty="0">
                <a:solidFill>
                  <a:srgbClr val="F4F0E8"/>
                </a:solidFill>
                <a:latin typeface="Aptos" pitchFamily="34" charset="0"/>
                <a:ea typeface="Aptos" pitchFamily="34" charset="-122"/>
                <a:cs typeface="Aptos" pitchFamily="34" charset="-120"/>
              </a:rPr>
              <a:t>STATUS_HISTORY</a:t>
            </a:r>
            <a:endParaRPr lang="en-US" sz="1130" dirty="0"/>
          </a:p>
        </p:txBody>
      </p:sp>
      <p:sp>
        <p:nvSpPr>
          <p:cNvPr id="72" name="Text 70"/>
          <p:cNvSpPr/>
          <p:nvPr/>
        </p:nvSpPr>
        <p:spPr>
          <a:xfrm>
            <a:off x="3383280" y="5212080"/>
            <a:ext cx="15544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order_id</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changed_by admin</a:t>
            </a:r>
            <a:endParaRPr lang="en-US" sz="850" dirty="0"/>
          </a:p>
        </p:txBody>
      </p:sp>
      <p:sp>
        <p:nvSpPr>
          <p:cNvPr id="73" name="Shape 71"/>
          <p:cNvSpPr/>
          <p:nvPr/>
        </p:nvSpPr>
        <p:spPr>
          <a:xfrm>
            <a:off x="5257800" y="4892040"/>
            <a:ext cx="1783080" cy="640080"/>
          </a:xfrm>
          <a:prstGeom prst="roundRect">
            <a:avLst>
              <a:gd name="adj" fmla="val 17143"/>
            </a:avLst>
          </a:prstGeom>
          <a:solidFill>
            <a:srgbClr val="15151C"/>
          </a:solidFill>
          <a:ln w="11430">
            <a:solidFill>
              <a:srgbClr val="C9A96E"/>
            </a:solidFill>
            <a:prstDash val="solid"/>
          </a:ln>
        </p:spPr>
      </p:sp>
      <p:sp>
        <p:nvSpPr>
          <p:cNvPr id="74" name="Shape 72"/>
          <p:cNvSpPr/>
          <p:nvPr/>
        </p:nvSpPr>
        <p:spPr>
          <a:xfrm>
            <a:off x="5257800" y="4892040"/>
            <a:ext cx="50292" cy="640080"/>
          </a:xfrm>
          <a:prstGeom prst="rect">
            <a:avLst/>
          </a:prstGeom>
          <a:solidFill>
            <a:srgbClr val="C9A96E"/>
          </a:solidFill>
          <a:ln w="12700">
            <a:solidFill>
              <a:srgbClr val="C9A96E">
                <a:alpha val="0"/>
              </a:srgbClr>
            </a:solidFill>
            <a:prstDash val="solid"/>
          </a:ln>
        </p:spPr>
      </p:sp>
      <p:sp>
        <p:nvSpPr>
          <p:cNvPr id="75" name="Text 73"/>
          <p:cNvSpPr/>
          <p:nvPr/>
        </p:nvSpPr>
        <p:spPr>
          <a:xfrm>
            <a:off x="5394960" y="4983480"/>
            <a:ext cx="1554480" cy="182880"/>
          </a:xfrm>
          <a:prstGeom prst="rect">
            <a:avLst/>
          </a:prstGeom>
          <a:noFill/>
          <a:ln/>
        </p:spPr>
        <p:txBody>
          <a:bodyPr wrap="square" lIns="0" tIns="0" rIns="0" bIns="0" rtlCol="0" anchor="t">
            <a:normAutofit/>
          </a:bodyPr>
          <a:lstStyle/>
          <a:p>
            <a:pPr algn="l" indent="0" marL="0">
              <a:lnSpc>
                <a:spcPct val="100000"/>
              </a:lnSpc>
              <a:buNone/>
            </a:pPr>
            <a:r>
              <a:rPr lang="en-US" sz="1060" b="1" dirty="0">
                <a:solidFill>
                  <a:srgbClr val="F4F0E8"/>
                </a:solidFill>
                <a:latin typeface="Aptos" pitchFamily="34" charset="0"/>
                <a:ea typeface="Aptos" pitchFamily="34" charset="-122"/>
                <a:cs typeface="Aptos" pitchFamily="34" charset="-120"/>
              </a:rPr>
              <a:t>COUPON_USAGES</a:t>
            </a:r>
            <a:endParaRPr lang="en-US" sz="1060" dirty="0"/>
          </a:p>
        </p:txBody>
      </p:sp>
      <p:sp>
        <p:nvSpPr>
          <p:cNvPr id="76" name="Text 74"/>
          <p:cNvSpPr/>
          <p:nvPr/>
        </p:nvSpPr>
        <p:spPr>
          <a:xfrm>
            <a:off x="5394960" y="5212080"/>
            <a:ext cx="15544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coupon • customer • order</a:t>
            </a:r>
            <a:endParaRPr lang="en-US" sz="850" dirty="0"/>
          </a:p>
        </p:txBody>
      </p:sp>
      <p:sp>
        <p:nvSpPr>
          <p:cNvPr id="77" name="Shape 75"/>
          <p:cNvSpPr/>
          <p:nvPr/>
        </p:nvSpPr>
        <p:spPr>
          <a:xfrm>
            <a:off x="9738360" y="2468880"/>
            <a:ext cx="1691640" cy="640080"/>
          </a:xfrm>
          <a:prstGeom prst="roundRect">
            <a:avLst>
              <a:gd name="adj" fmla="val 17143"/>
            </a:avLst>
          </a:prstGeom>
          <a:solidFill>
            <a:srgbClr val="15151C"/>
          </a:solidFill>
          <a:ln w="11430">
            <a:solidFill>
              <a:srgbClr val="D9796D"/>
            </a:solidFill>
            <a:prstDash val="solid"/>
          </a:ln>
        </p:spPr>
      </p:sp>
      <p:sp>
        <p:nvSpPr>
          <p:cNvPr id="78" name="Shape 76"/>
          <p:cNvSpPr/>
          <p:nvPr/>
        </p:nvSpPr>
        <p:spPr>
          <a:xfrm>
            <a:off x="9738360" y="2468880"/>
            <a:ext cx="50292" cy="640080"/>
          </a:xfrm>
          <a:prstGeom prst="rect">
            <a:avLst/>
          </a:prstGeom>
          <a:solidFill>
            <a:srgbClr val="D9796D"/>
          </a:solidFill>
          <a:ln w="12700">
            <a:solidFill>
              <a:srgbClr val="D9796D">
                <a:alpha val="0"/>
              </a:srgbClr>
            </a:solidFill>
            <a:prstDash val="solid"/>
          </a:ln>
        </p:spPr>
      </p:sp>
      <p:sp>
        <p:nvSpPr>
          <p:cNvPr id="79" name="Text 77"/>
          <p:cNvSpPr/>
          <p:nvPr/>
        </p:nvSpPr>
        <p:spPr>
          <a:xfrm>
            <a:off x="9875520" y="2560320"/>
            <a:ext cx="1463040" cy="182880"/>
          </a:xfrm>
          <a:prstGeom prst="rect">
            <a:avLst/>
          </a:prstGeom>
          <a:noFill/>
          <a:ln/>
        </p:spPr>
        <p:txBody>
          <a:bodyPr wrap="square" lIns="0" tIns="0" rIns="0" bIns="0" rtlCol="0" anchor="t">
            <a:normAutofit/>
          </a:bodyPr>
          <a:lstStyle/>
          <a:p>
            <a:pPr algn="l" indent="0" marL="0">
              <a:lnSpc>
                <a:spcPct val="100000"/>
              </a:lnSpc>
              <a:buNone/>
            </a:pPr>
            <a:r>
              <a:rPr lang="en-US" sz="1020" b="1" dirty="0">
                <a:solidFill>
                  <a:srgbClr val="F4F0E8"/>
                </a:solidFill>
                <a:latin typeface="Aptos" pitchFamily="34" charset="0"/>
                <a:ea typeface="Aptos" pitchFamily="34" charset="-122"/>
                <a:cs typeface="Aptos" pitchFamily="34" charset="-120"/>
              </a:rPr>
              <a:t>RETURN_REQUESTS</a:t>
            </a:r>
            <a:endParaRPr lang="en-US" sz="1020" dirty="0"/>
          </a:p>
        </p:txBody>
      </p:sp>
      <p:sp>
        <p:nvSpPr>
          <p:cNvPr id="80" name="Text 78"/>
          <p:cNvSpPr/>
          <p:nvPr/>
        </p:nvSpPr>
        <p:spPr>
          <a:xfrm>
            <a:off x="9875520" y="2788920"/>
            <a:ext cx="146304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order • customer</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approved_by admin</a:t>
            </a:r>
            <a:endParaRPr lang="en-US" sz="850" dirty="0"/>
          </a:p>
        </p:txBody>
      </p:sp>
      <p:sp>
        <p:nvSpPr>
          <p:cNvPr id="81" name="Shape 79"/>
          <p:cNvSpPr/>
          <p:nvPr/>
        </p:nvSpPr>
        <p:spPr>
          <a:xfrm>
            <a:off x="9738360" y="3383280"/>
            <a:ext cx="1691640" cy="548640"/>
          </a:xfrm>
          <a:prstGeom prst="roundRect">
            <a:avLst>
              <a:gd name="adj" fmla="val 20000"/>
            </a:avLst>
          </a:prstGeom>
          <a:solidFill>
            <a:srgbClr val="15151C"/>
          </a:solidFill>
          <a:ln w="11430">
            <a:solidFill>
              <a:srgbClr val="D9796D"/>
            </a:solidFill>
            <a:prstDash val="solid"/>
          </a:ln>
        </p:spPr>
      </p:sp>
      <p:sp>
        <p:nvSpPr>
          <p:cNvPr id="82" name="Shape 80"/>
          <p:cNvSpPr/>
          <p:nvPr/>
        </p:nvSpPr>
        <p:spPr>
          <a:xfrm>
            <a:off x="9738360" y="3383280"/>
            <a:ext cx="50292" cy="548640"/>
          </a:xfrm>
          <a:prstGeom prst="rect">
            <a:avLst/>
          </a:prstGeom>
          <a:solidFill>
            <a:srgbClr val="D9796D"/>
          </a:solidFill>
          <a:ln w="12700">
            <a:solidFill>
              <a:srgbClr val="D9796D">
                <a:alpha val="0"/>
              </a:srgbClr>
            </a:solidFill>
            <a:prstDash val="solid"/>
          </a:ln>
        </p:spPr>
      </p:sp>
      <p:sp>
        <p:nvSpPr>
          <p:cNvPr id="83" name="Text 81"/>
          <p:cNvSpPr/>
          <p:nvPr/>
        </p:nvSpPr>
        <p:spPr>
          <a:xfrm>
            <a:off x="9875520" y="3474720"/>
            <a:ext cx="1463040" cy="182880"/>
          </a:xfrm>
          <a:prstGeom prst="rect">
            <a:avLst/>
          </a:prstGeom>
          <a:noFill/>
          <a:ln/>
        </p:spPr>
        <p:txBody>
          <a:bodyPr wrap="square" lIns="0" tIns="0" rIns="0" bIns="0" rtlCol="0" anchor="t">
            <a:normAutofit/>
          </a:bodyPr>
          <a:lstStyle/>
          <a:p>
            <a:pPr algn="l" indent="0" marL="0">
              <a:lnSpc>
                <a:spcPct val="100000"/>
              </a:lnSpc>
              <a:buNone/>
            </a:pPr>
            <a:r>
              <a:rPr lang="en-US" sz="1020" b="1" dirty="0">
                <a:solidFill>
                  <a:srgbClr val="F4F0E8"/>
                </a:solidFill>
                <a:latin typeface="Aptos" pitchFamily="34" charset="0"/>
                <a:ea typeface="Aptos" pitchFamily="34" charset="-122"/>
                <a:cs typeface="Aptos" pitchFamily="34" charset="-120"/>
              </a:rPr>
              <a:t>REFUNDS</a:t>
            </a:r>
            <a:endParaRPr lang="en-US" sz="1020" dirty="0"/>
          </a:p>
        </p:txBody>
      </p:sp>
      <p:sp>
        <p:nvSpPr>
          <p:cNvPr id="84" name="Text 82"/>
          <p:cNvSpPr/>
          <p:nvPr/>
        </p:nvSpPr>
        <p:spPr>
          <a:xfrm>
            <a:off x="9875520" y="3703320"/>
            <a:ext cx="1463040" cy="18288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FK/UK return_id</a:t>
            </a:r>
            <a:endParaRPr lang="en-US" sz="850" dirty="0"/>
          </a:p>
        </p:txBody>
      </p:sp>
      <p:sp>
        <p:nvSpPr>
          <p:cNvPr id="85" name="Shape 83"/>
          <p:cNvSpPr/>
          <p:nvPr/>
        </p:nvSpPr>
        <p:spPr>
          <a:xfrm>
            <a:off x="7863840" y="4892040"/>
            <a:ext cx="1645920" cy="640080"/>
          </a:xfrm>
          <a:prstGeom prst="roundRect">
            <a:avLst>
              <a:gd name="adj" fmla="val 17143"/>
            </a:avLst>
          </a:prstGeom>
          <a:solidFill>
            <a:srgbClr val="15151C"/>
          </a:solidFill>
          <a:ln w="11430">
            <a:solidFill>
              <a:srgbClr val="D9796D"/>
            </a:solidFill>
            <a:prstDash val="solid"/>
          </a:ln>
        </p:spPr>
      </p:sp>
      <p:sp>
        <p:nvSpPr>
          <p:cNvPr id="86" name="Shape 84"/>
          <p:cNvSpPr/>
          <p:nvPr/>
        </p:nvSpPr>
        <p:spPr>
          <a:xfrm>
            <a:off x="7863840" y="4892040"/>
            <a:ext cx="50292" cy="640080"/>
          </a:xfrm>
          <a:prstGeom prst="rect">
            <a:avLst/>
          </a:prstGeom>
          <a:solidFill>
            <a:srgbClr val="D9796D"/>
          </a:solidFill>
          <a:ln w="12700">
            <a:solidFill>
              <a:srgbClr val="D9796D">
                <a:alpha val="0"/>
              </a:srgbClr>
            </a:solidFill>
            <a:prstDash val="solid"/>
          </a:ln>
        </p:spPr>
      </p:sp>
      <p:sp>
        <p:nvSpPr>
          <p:cNvPr id="87" name="Text 85"/>
          <p:cNvSpPr/>
          <p:nvPr/>
        </p:nvSpPr>
        <p:spPr>
          <a:xfrm>
            <a:off x="8001000" y="4983480"/>
            <a:ext cx="1417320" cy="182880"/>
          </a:xfrm>
          <a:prstGeom prst="rect">
            <a:avLst/>
          </a:prstGeom>
          <a:noFill/>
          <a:ln/>
        </p:spPr>
        <p:txBody>
          <a:bodyPr wrap="square" lIns="0" tIns="0" rIns="0" bIns="0" rtlCol="0" anchor="t">
            <a:normAutofit/>
          </a:bodyPr>
          <a:lstStyle/>
          <a:p>
            <a:pPr algn="l" indent="0" marL="0">
              <a:lnSpc>
                <a:spcPct val="100000"/>
              </a:lnSpc>
              <a:buNone/>
            </a:pPr>
            <a:r>
              <a:rPr lang="en-US" sz="1060" b="1" dirty="0">
                <a:solidFill>
                  <a:srgbClr val="F4F0E8"/>
                </a:solidFill>
                <a:latin typeface="Aptos" pitchFamily="34" charset="0"/>
                <a:ea typeface="Aptos" pitchFamily="34" charset="-122"/>
                <a:cs typeface="Aptos" pitchFamily="34" charset="-120"/>
              </a:rPr>
              <a:t>REVIEWS</a:t>
            </a:r>
            <a:endParaRPr lang="en-US" sz="1060" dirty="0"/>
          </a:p>
        </p:txBody>
      </p:sp>
      <p:sp>
        <p:nvSpPr>
          <p:cNvPr id="88" name="Text 86"/>
          <p:cNvSpPr/>
          <p:nvPr/>
        </p:nvSpPr>
        <p:spPr>
          <a:xfrm>
            <a:off x="8001000" y="5212080"/>
            <a:ext cx="141732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FK customer • variant • order</a:t>
            </a:r>
            <a:endParaRPr lang="en-US" sz="850" dirty="0"/>
          </a:p>
        </p:txBody>
      </p:sp>
      <p:sp>
        <p:nvSpPr>
          <p:cNvPr id="89" name="Shape 87"/>
          <p:cNvSpPr/>
          <p:nvPr/>
        </p:nvSpPr>
        <p:spPr>
          <a:xfrm>
            <a:off x="9646920" y="4892040"/>
            <a:ext cx="1783080" cy="640080"/>
          </a:xfrm>
          <a:prstGeom prst="roundRect">
            <a:avLst>
              <a:gd name="adj" fmla="val 17143"/>
            </a:avLst>
          </a:prstGeom>
          <a:solidFill>
            <a:srgbClr val="15151C"/>
          </a:solidFill>
          <a:ln w="11430">
            <a:solidFill>
              <a:srgbClr val="D9796D"/>
            </a:solidFill>
            <a:prstDash val="solid"/>
          </a:ln>
        </p:spPr>
      </p:sp>
      <p:sp>
        <p:nvSpPr>
          <p:cNvPr id="90" name="Shape 88"/>
          <p:cNvSpPr/>
          <p:nvPr/>
        </p:nvSpPr>
        <p:spPr>
          <a:xfrm>
            <a:off x="9646920" y="4892040"/>
            <a:ext cx="50292" cy="640080"/>
          </a:xfrm>
          <a:prstGeom prst="rect">
            <a:avLst/>
          </a:prstGeom>
          <a:solidFill>
            <a:srgbClr val="D9796D"/>
          </a:solidFill>
          <a:ln w="12700">
            <a:solidFill>
              <a:srgbClr val="D9796D">
                <a:alpha val="0"/>
              </a:srgbClr>
            </a:solidFill>
            <a:prstDash val="solid"/>
          </a:ln>
        </p:spPr>
      </p:sp>
      <p:sp>
        <p:nvSpPr>
          <p:cNvPr id="91" name="Text 89"/>
          <p:cNvSpPr/>
          <p:nvPr/>
        </p:nvSpPr>
        <p:spPr>
          <a:xfrm>
            <a:off x="9784080" y="4983480"/>
            <a:ext cx="1554480" cy="182880"/>
          </a:xfrm>
          <a:prstGeom prst="rect">
            <a:avLst/>
          </a:prstGeom>
          <a:noFill/>
          <a:ln/>
        </p:spPr>
        <p:txBody>
          <a:bodyPr wrap="square" lIns="0" tIns="0" rIns="0" bIns="0" rtlCol="0" anchor="t">
            <a:normAutofit/>
          </a:bodyPr>
          <a:lstStyle/>
          <a:p>
            <a:pPr algn="l" indent="0" marL="0">
              <a:lnSpc>
                <a:spcPct val="100000"/>
              </a:lnSpc>
              <a:buNone/>
            </a:pPr>
            <a:r>
              <a:rPr lang="en-US" sz="980" b="1" dirty="0">
                <a:solidFill>
                  <a:srgbClr val="F4F0E8"/>
                </a:solidFill>
                <a:latin typeface="Aptos" pitchFamily="34" charset="0"/>
                <a:ea typeface="Aptos" pitchFamily="34" charset="-122"/>
                <a:cs typeface="Aptos" pitchFamily="34" charset="-120"/>
              </a:rPr>
              <a:t>REVIEW MEDIA + REPLY</a:t>
            </a:r>
            <a:endParaRPr lang="en-US" sz="980" dirty="0"/>
          </a:p>
        </p:txBody>
      </p:sp>
      <p:sp>
        <p:nvSpPr>
          <p:cNvPr id="92" name="Text 90"/>
          <p:cNvSpPr/>
          <p:nvPr/>
        </p:nvSpPr>
        <p:spPr>
          <a:xfrm>
            <a:off x="9784080" y="5212080"/>
            <a:ext cx="1554480" cy="274320"/>
          </a:xfrm>
          <a:prstGeom prst="rect">
            <a:avLst/>
          </a:prstGeom>
          <a:noFill/>
          <a:ln/>
        </p:spPr>
        <p:txBody>
          <a:bodyPr wrap="square" lIns="0" tIns="0" rIns="0" bIns="0" rtlCol="0" anchor="t">
            <a:normAutofit/>
          </a:bodyPr>
          <a:lstStyle/>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images 1:M</a:t>
            </a:r>
            <a:endParaRPr lang="en-US" sz="850" dirty="0"/>
          </a:p>
          <a:p>
            <a:pPr algn="l" indent="0" marL="0">
              <a:lnSpc>
                <a:spcPct val="100000"/>
              </a:lnSpc>
              <a:buNone/>
            </a:pPr>
            <a:r>
              <a:rPr lang="en-US" sz="850" dirty="0">
                <a:solidFill>
                  <a:srgbClr val="A8A39A"/>
                </a:solidFill>
                <a:latin typeface="Aptos Mono" pitchFamily="34" charset="0"/>
                <a:ea typeface="Aptos Mono" pitchFamily="34" charset="-122"/>
                <a:cs typeface="Aptos Mono" pitchFamily="34" charset="-120"/>
              </a:rPr>
              <a:t>reply 1:1 + admin</a:t>
            </a:r>
            <a:endParaRPr lang="en-US" sz="850" dirty="0"/>
          </a:p>
        </p:txBody>
      </p:sp>
      <p:sp>
        <p:nvSpPr>
          <p:cNvPr id="93" name="Text 91"/>
          <p:cNvSpPr/>
          <p:nvPr/>
        </p:nvSpPr>
        <p:spPr>
          <a:xfrm>
            <a:off x="2633472" y="3182112"/>
            <a:ext cx="457200" cy="164592"/>
          </a:xfrm>
          <a:prstGeom prst="rect">
            <a:avLst/>
          </a:prstGeom>
          <a:noFill/>
          <a:ln/>
        </p:spPr>
        <p:txBody>
          <a:bodyPr wrap="square" lIns="0" tIns="0" rIns="0" bIns="0" rtlCol="0" anchor="t">
            <a:normAutofit/>
          </a:bodyPr>
          <a:lstStyle/>
          <a:p>
            <a:pPr algn="ctr" indent="0" marL="0">
              <a:lnSpc>
                <a:spcPct val="100000"/>
              </a:lnSpc>
              <a:buNone/>
            </a:pPr>
            <a:r>
              <a:rPr lang="en-US" sz="820" b="1" dirty="0">
                <a:solidFill>
                  <a:srgbClr val="C9A96E"/>
                </a:solidFill>
                <a:latin typeface="Aptos" pitchFamily="34" charset="0"/>
                <a:ea typeface="Aptos" pitchFamily="34" charset="-122"/>
                <a:cs typeface="Aptos" pitchFamily="34" charset="-120"/>
              </a:rPr>
              <a:t>1:M</a:t>
            </a:r>
            <a:endParaRPr lang="en-US" sz="820" dirty="0"/>
          </a:p>
        </p:txBody>
      </p:sp>
      <p:sp>
        <p:nvSpPr>
          <p:cNvPr id="94" name="Text 92"/>
          <p:cNvSpPr/>
          <p:nvPr/>
        </p:nvSpPr>
        <p:spPr>
          <a:xfrm>
            <a:off x="5138928" y="3182112"/>
            <a:ext cx="457200" cy="164592"/>
          </a:xfrm>
          <a:prstGeom prst="rect">
            <a:avLst/>
          </a:prstGeom>
          <a:noFill/>
          <a:ln/>
        </p:spPr>
        <p:txBody>
          <a:bodyPr wrap="square" lIns="0" tIns="0" rIns="0" bIns="0" rtlCol="0" anchor="t">
            <a:normAutofit/>
          </a:bodyPr>
          <a:lstStyle/>
          <a:p>
            <a:pPr algn="ctr" indent="0" marL="0">
              <a:lnSpc>
                <a:spcPct val="100000"/>
              </a:lnSpc>
              <a:buNone/>
            </a:pPr>
            <a:r>
              <a:rPr lang="en-US" sz="820" b="1" dirty="0">
                <a:solidFill>
                  <a:srgbClr val="C9A96E"/>
                </a:solidFill>
                <a:latin typeface="Aptos" pitchFamily="34" charset="0"/>
                <a:ea typeface="Aptos" pitchFamily="34" charset="-122"/>
                <a:cs typeface="Aptos" pitchFamily="34" charset="-120"/>
              </a:rPr>
              <a:t>1:M</a:t>
            </a:r>
            <a:endParaRPr lang="en-US" sz="820" dirty="0"/>
          </a:p>
        </p:txBody>
      </p:sp>
      <p:sp>
        <p:nvSpPr>
          <p:cNvPr id="95" name="Text 93"/>
          <p:cNvSpPr/>
          <p:nvPr/>
        </p:nvSpPr>
        <p:spPr>
          <a:xfrm>
            <a:off x="7406640" y="3182112"/>
            <a:ext cx="457200" cy="164592"/>
          </a:xfrm>
          <a:prstGeom prst="rect">
            <a:avLst/>
          </a:prstGeom>
          <a:noFill/>
          <a:ln/>
        </p:spPr>
        <p:txBody>
          <a:bodyPr wrap="square" lIns="0" tIns="0" rIns="0" bIns="0" rtlCol="0" anchor="t">
            <a:normAutofit/>
          </a:bodyPr>
          <a:lstStyle/>
          <a:p>
            <a:pPr algn="ctr" indent="0" marL="0">
              <a:lnSpc>
                <a:spcPct val="100000"/>
              </a:lnSpc>
              <a:buNone/>
            </a:pPr>
            <a:r>
              <a:rPr lang="en-US" sz="820" b="1" dirty="0">
                <a:solidFill>
                  <a:srgbClr val="C9A96E"/>
                </a:solidFill>
                <a:latin typeface="Aptos" pitchFamily="34" charset="0"/>
                <a:ea typeface="Aptos" pitchFamily="34" charset="-122"/>
                <a:cs typeface="Aptos" pitchFamily="34" charset="-120"/>
              </a:rPr>
              <a:t>M:1</a:t>
            </a:r>
            <a:endParaRPr lang="en-US" sz="820" dirty="0"/>
          </a:p>
        </p:txBody>
      </p:sp>
      <p:sp>
        <p:nvSpPr>
          <p:cNvPr id="96" name="Text 94"/>
          <p:cNvSpPr/>
          <p:nvPr/>
        </p:nvSpPr>
        <p:spPr>
          <a:xfrm>
            <a:off x="8796528" y="4206240"/>
            <a:ext cx="457200" cy="164592"/>
          </a:xfrm>
          <a:prstGeom prst="rect">
            <a:avLst/>
          </a:prstGeom>
          <a:noFill/>
          <a:ln/>
        </p:spPr>
        <p:txBody>
          <a:bodyPr wrap="square" lIns="0" tIns="0" rIns="0" bIns="0" rtlCol="0" anchor="t">
            <a:normAutofit/>
          </a:bodyPr>
          <a:lstStyle/>
          <a:p>
            <a:pPr algn="ctr" indent="0" marL="0">
              <a:lnSpc>
                <a:spcPct val="100000"/>
              </a:lnSpc>
              <a:buNone/>
            </a:pPr>
            <a:r>
              <a:rPr lang="en-US" sz="820" b="1" dirty="0">
                <a:solidFill>
                  <a:srgbClr val="D9796D"/>
                </a:solidFill>
                <a:latin typeface="Aptos" pitchFamily="34" charset="0"/>
                <a:ea typeface="Aptos" pitchFamily="34" charset="-122"/>
                <a:cs typeface="Aptos" pitchFamily="34" charset="-120"/>
              </a:rPr>
              <a:t>1:M</a:t>
            </a:r>
            <a:endParaRPr lang="en-US" sz="820" dirty="0"/>
          </a:p>
        </p:txBody>
      </p:sp>
      <p:sp>
        <p:nvSpPr>
          <p:cNvPr id="97" name="Text 95"/>
          <p:cNvSpPr/>
          <p:nvPr/>
        </p:nvSpPr>
        <p:spPr>
          <a:xfrm>
            <a:off x="2743200" y="5870448"/>
            <a:ext cx="6400800" cy="237744"/>
          </a:xfrm>
          <a:prstGeom prst="rect">
            <a:avLst/>
          </a:prstGeom>
          <a:noFill/>
          <a:ln/>
        </p:spPr>
        <p:txBody>
          <a:bodyPr wrap="square" lIns="0" tIns="0" rIns="0" bIns="0" rtlCol="0" anchor="t">
            <a:normAutofit/>
          </a:bodyPr>
          <a:lstStyle/>
          <a:p>
            <a:pPr algn="ctr" indent="0" marL="0">
              <a:lnSpc>
                <a:spcPct val="100000"/>
              </a:lnSpc>
              <a:buNone/>
            </a:pPr>
            <a:r>
              <a:rPr lang="en-US" sz="1350" b="1" spc="75" kern="0" dirty="0">
                <a:solidFill>
                  <a:srgbClr val="E8D7B4"/>
                </a:solidFill>
                <a:latin typeface="Aptos" pitchFamily="34" charset="0"/>
                <a:ea typeface="Aptos" pitchFamily="34" charset="-122"/>
                <a:cs typeface="Aptos" pitchFamily="34" charset="-120"/>
              </a:rPr>
              <a:t>CUSTOMER  →  ORDER  →  ORDER ITEM  →  VARIANT</a:t>
            </a:r>
            <a:endParaRPr lang="en-US" sz="1350" dirty="0"/>
          </a:p>
        </p:txBody>
      </p:sp>
    </p:spTree>
  </p:cSld>
  <p:clrMapOvr>
    <a:masterClrMapping/>
  </p:clrMapOvr>
  <p:transition spd="med" advClick="1">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RELATIONAL DESIGN GOODNESS</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2550" b="1" dirty="0">
                <a:solidFill>
                  <a:srgbClr val="F4F0E8"/>
                </a:solidFill>
                <a:latin typeface="Georgia" pitchFamily="34" charset="0"/>
                <a:ea typeface="Georgia" pitchFamily="34" charset="-122"/>
                <a:cs typeface="Georgia" pitchFamily="34" charset="-120"/>
              </a:rPr>
              <a:t>Normalization removes anomalies; constraints keep the model trustworthy</a:t>
            </a:r>
            <a:endParaRPr lang="en-US" sz="255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Good design is not the number of tables—it is the reason each fact has one correct home.</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07</a:t>
            </a:r>
            <a:endParaRPr lang="en-US" sz="950" dirty="0"/>
          </a:p>
        </p:txBody>
      </p:sp>
      <p:sp>
        <p:nvSpPr>
          <p:cNvPr id="8" name="Text 6"/>
          <p:cNvSpPr/>
          <p:nvPr/>
        </p:nvSpPr>
        <p:spPr>
          <a:xfrm>
            <a:off x="694944" y="1865376"/>
            <a:ext cx="2615184" cy="438912"/>
          </a:xfrm>
          <a:prstGeom prst="rect">
            <a:avLst/>
          </a:prstGeom>
          <a:noFill/>
          <a:ln/>
        </p:spPr>
        <p:txBody>
          <a:bodyPr wrap="square" lIns="0" tIns="0" rIns="0" bIns="0" rtlCol="0" anchor="t">
            <a:normAutofit/>
          </a:bodyPr>
          <a:lstStyle/>
          <a:p>
            <a:pPr algn="l" indent="0" marL="0">
              <a:lnSpc>
                <a:spcPct val="100000"/>
              </a:lnSpc>
              <a:buNone/>
            </a:pPr>
            <a:r>
              <a:rPr lang="en-US" sz="2800" b="1" dirty="0">
                <a:solidFill>
                  <a:srgbClr val="79A7D8"/>
                </a:solidFill>
                <a:latin typeface="Georgia" pitchFamily="34" charset="0"/>
                <a:ea typeface="Georgia" pitchFamily="34" charset="-122"/>
                <a:cs typeface="Georgia" pitchFamily="34" charset="-120"/>
              </a:rPr>
              <a:t>1NF</a:t>
            </a:r>
            <a:endParaRPr lang="en-US" sz="2800" dirty="0"/>
          </a:p>
        </p:txBody>
      </p:sp>
      <p:sp>
        <p:nvSpPr>
          <p:cNvPr id="9" name="Shape 7"/>
          <p:cNvSpPr/>
          <p:nvPr/>
        </p:nvSpPr>
        <p:spPr>
          <a:xfrm>
            <a:off x="694944" y="2359152"/>
            <a:ext cx="2615184" cy="0"/>
          </a:xfrm>
          <a:prstGeom prst="line">
            <a:avLst/>
          </a:prstGeom>
          <a:noFill/>
          <a:ln w="15240">
            <a:solidFill>
              <a:srgbClr val="79A7D8"/>
            </a:solidFill>
            <a:prstDash val="solid"/>
            <a:headEnd type="none"/>
            <a:tailEnd type="none"/>
          </a:ln>
        </p:spPr>
      </p:sp>
      <p:sp>
        <p:nvSpPr>
          <p:cNvPr id="10" name="Text 8"/>
          <p:cNvSpPr/>
          <p:nvPr/>
        </p:nvSpPr>
        <p:spPr>
          <a:xfrm>
            <a:off x="694944" y="2578608"/>
            <a:ext cx="2615184" cy="329184"/>
          </a:xfrm>
          <a:prstGeom prst="rect">
            <a:avLst/>
          </a:prstGeom>
          <a:noFill/>
          <a:ln/>
        </p:spPr>
        <p:txBody>
          <a:bodyPr wrap="square" lIns="0" tIns="0" rIns="0" bIns="0" rtlCol="0" anchor="t">
            <a:normAutofit/>
          </a:bodyPr>
          <a:lstStyle/>
          <a:p>
            <a:pPr algn="l" indent="0" marL="0">
              <a:lnSpc>
                <a:spcPct val="100000"/>
              </a:lnSpc>
              <a:buNone/>
            </a:pPr>
            <a:r>
              <a:rPr lang="en-US" sz="1700" b="1" dirty="0">
                <a:solidFill>
                  <a:srgbClr val="F4F0E8"/>
                </a:solidFill>
                <a:latin typeface="Aptos" pitchFamily="34" charset="0"/>
                <a:ea typeface="Aptos" pitchFamily="34" charset="-122"/>
                <a:cs typeface="Aptos" pitchFamily="34" charset="-120"/>
              </a:rPr>
              <a:t>Atomic values</a:t>
            </a:r>
            <a:endParaRPr lang="en-US" sz="1700" dirty="0"/>
          </a:p>
        </p:txBody>
      </p:sp>
      <p:sp>
        <p:nvSpPr>
          <p:cNvPr id="11" name="Text 9"/>
          <p:cNvSpPr/>
          <p:nvPr/>
        </p:nvSpPr>
        <p:spPr>
          <a:xfrm>
            <a:off x="694944" y="3054096"/>
            <a:ext cx="2615184" cy="107899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Lookup and junction tables replace arrays, comma-separated values and repeating groups.</a:t>
            </a:r>
            <a:endParaRPr lang="en-US" sz="1500" dirty="0"/>
          </a:p>
        </p:txBody>
      </p:sp>
      <p:sp>
        <p:nvSpPr>
          <p:cNvPr id="12" name="Text 10"/>
          <p:cNvSpPr/>
          <p:nvPr/>
        </p:nvSpPr>
        <p:spPr>
          <a:xfrm>
            <a:off x="3474720" y="1865376"/>
            <a:ext cx="2615184" cy="438912"/>
          </a:xfrm>
          <a:prstGeom prst="rect">
            <a:avLst/>
          </a:prstGeom>
          <a:noFill/>
          <a:ln/>
        </p:spPr>
        <p:txBody>
          <a:bodyPr wrap="square" lIns="0" tIns="0" rIns="0" bIns="0" rtlCol="0" anchor="t">
            <a:normAutofit/>
          </a:bodyPr>
          <a:lstStyle/>
          <a:p>
            <a:pPr algn="l" indent="0" marL="0">
              <a:lnSpc>
                <a:spcPct val="100000"/>
              </a:lnSpc>
              <a:buNone/>
            </a:pPr>
            <a:r>
              <a:rPr lang="en-US" sz="2800" b="1" dirty="0">
                <a:solidFill>
                  <a:srgbClr val="C9A96E"/>
                </a:solidFill>
                <a:latin typeface="Georgia" pitchFamily="34" charset="0"/>
                <a:ea typeface="Georgia" pitchFamily="34" charset="-122"/>
                <a:cs typeface="Georgia" pitchFamily="34" charset="-120"/>
              </a:rPr>
              <a:t>2NF</a:t>
            </a:r>
            <a:endParaRPr lang="en-US" sz="2800" dirty="0"/>
          </a:p>
        </p:txBody>
      </p:sp>
      <p:sp>
        <p:nvSpPr>
          <p:cNvPr id="13" name="Shape 11"/>
          <p:cNvSpPr/>
          <p:nvPr/>
        </p:nvSpPr>
        <p:spPr>
          <a:xfrm>
            <a:off x="3474720" y="2359152"/>
            <a:ext cx="2615184" cy="0"/>
          </a:xfrm>
          <a:prstGeom prst="line">
            <a:avLst/>
          </a:prstGeom>
          <a:noFill/>
          <a:ln w="15240">
            <a:solidFill>
              <a:srgbClr val="C9A96E"/>
            </a:solidFill>
            <a:prstDash val="solid"/>
            <a:headEnd type="none"/>
            <a:tailEnd type="none"/>
          </a:ln>
        </p:spPr>
      </p:sp>
      <p:sp>
        <p:nvSpPr>
          <p:cNvPr id="14" name="Text 12"/>
          <p:cNvSpPr/>
          <p:nvPr/>
        </p:nvSpPr>
        <p:spPr>
          <a:xfrm>
            <a:off x="3474720" y="2578608"/>
            <a:ext cx="2615184" cy="329184"/>
          </a:xfrm>
          <a:prstGeom prst="rect">
            <a:avLst/>
          </a:prstGeom>
          <a:noFill/>
          <a:ln/>
        </p:spPr>
        <p:txBody>
          <a:bodyPr wrap="square" lIns="0" tIns="0" rIns="0" bIns="0" rtlCol="0" anchor="t">
            <a:normAutofit/>
          </a:bodyPr>
          <a:lstStyle/>
          <a:p>
            <a:pPr algn="l" indent="0" marL="0">
              <a:lnSpc>
                <a:spcPct val="100000"/>
              </a:lnSpc>
              <a:buNone/>
            </a:pPr>
            <a:r>
              <a:rPr lang="en-US" sz="1700" b="1" dirty="0">
                <a:solidFill>
                  <a:srgbClr val="F4F0E8"/>
                </a:solidFill>
                <a:latin typeface="Aptos" pitchFamily="34" charset="0"/>
                <a:ea typeface="Aptos" pitchFamily="34" charset="-122"/>
                <a:cs typeface="Aptos" pitchFamily="34" charset="-120"/>
              </a:rPr>
              <a:t>Variant-level facts</a:t>
            </a:r>
            <a:endParaRPr lang="en-US" sz="1700" dirty="0"/>
          </a:p>
        </p:txBody>
      </p:sp>
      <p:sp>
        <p:nvSpPr>
          <p:cNvPr id="15" name="Text 13"/>
          <p:cNvSpPr/>
          <p:nvPr/>
        </p:nvSpPr>
        <p:spPr>
          <a:xfrm>
            <a:off x="3474720" y="3054096"/>
            <a:ext cx="2615184" cy="107899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Product facts stay in products; SKU, color, size and material stay in product_variants.</a:t>
            </a:r>
            <a:endParaRPr lang="en-US" sz="1500" dirty="0"/>
          </a:p>
        </p:txBody>
      </p:sp>
      <p:sp>
        <p:nvSpPr>
          <p:cNvPr id="16" name="Text 14"/>
          <p:cNvSpPr/>
          <p:nvPr/>
        </p:nvSpPr>
        <p:spPr>
          <a:xfrm>
            <a:off x="6254496" y="1865376"/>
            <a:ext cx="2615184" cy="438912"/>
          </a:xfrm>
          <a:prstGeom prst="rect">
            <a:avLst/>
          </a:prstGeom>
          <a:noFill/>
          <a:ln/>
        </p:spPr>
        <p:txBody>
          <a:bodyPr wrap="square" lIns="0" tIns="0" rIns="0" bIns="0" rtlCol="0" anchor="t">
            <a:normAutofit/>
          </a:bodyPr>
          <a:lstStyle/>
          <a:p>
            <a:pPr algn="l" indent="0" marL="0">
              <a:lnSpc>
                <a:spcPct val="100000"/>
              </a:lnSpc>
              <a:buNone/>
            </a:pPr>
            <a:r>
              <a:rPr lang="en-US" sz="2800" b="1" dirty="0">
                <a:solidFill>
                  <a:srgbClr val="A68BC6"/>
                </a:solidFill>
                <a:latin typeface="Georgia" pitchFamily="34" charset="0"/>
                <a:ea typeface="Georgia" pitchFamily="34" charset="-122"/>
                <a:cs typeface="Georgia" pitchFamily="34" charset="-120"/>
              </a:rPr>
              <a:t>3NF</a:t>
            </a:r>
            <a:endParaRPr lang="en-US" sz="2800" dirty="0"/>
          </a:p>
        </p:txBody>
      </p:sp>
      <p:sp>
        <p:nvSpPr>
          <p:cNvPr id="17" name="Shape 15"/>
          <p:cNvSpPr/>
          <p:nvPr/>
        </p:nvSpPr>
        <p:spPr>
          <a:xfrm>
            <a:off x="6254496" y="2359152"/>
            <a:ext cx="2615184" cy="0"/>
          </a:xfrm>
          <a:prstGeom prst="line">
            <a:avLst/>
          </a:prstGeom>
          <a:noFill/>
          <a:ln w="15240">
            <a:solidFill>
              <a:srgbClr val="A68BC6"/>
            </a:solidFill>
            <a:prstDash val="solid"/>
            <a:headEnd type="none"/>
            <a:tailEnd type="none"/>
          </a:ln>
        </p:spPr>
      </p:sp>
      <p:sp>
        <p:nvSpPr>
          <p:cNvPr id="18" name="Text 16"/>
          <p:cNvSpPr/>
          <p:nvPr/>
        </p:nvSpPr>
        <p:spPr>
          <a:xfrm>
            <a:off x="6254496" y="2578608"/>
            <a:ext cx="2615184" cy="329184"/>
          </a:xfrm>
          <a:prstGeom prst="rect">
            <a:avLst/>
          </a:prstGeom>
          <a:noFill/>
          <a:ln/>
        </p:spPr>
        <p:txBody>
          <a:bodyPr wrap="square" lIns="0" tIns="0" rIns="0" bIns="0" rtlCol="0" anchor="t">
            <a:normAutofit/>
          </a:bodyPr>
          <a:lstStyle/>
          <a:p>
            <a:pPr algn="l" indent="0" marL="0">
              <a:lnSpc>
                <a:spcPct val="100000"/>
              </a:lnSpc>
              <a:buNone/>
            </a:pPr>
            <a:r>
              <a:rPr lang="en-US" sz="1700" b="1" dirty="0">
                <a:solidFill>
                  <a:srgbClr val="F4F0E8"/>
                </a:solidFill>
                <a:latin typeface="Aptos" pitchFamily="34" charset="0"/>
                <a:ea typeface="Aptos" pitchFamily="34" charset="-122"/>
                <a:cs typeface="Aptos" pitchFamily="34" charset="-120"/>
              </a:rPr>
              <a:t>No transitive facts</a:t>
            </a:r>
            <a:endParaRPr lang="en-US" sz="1700" dirty="0"/>
          </a:p>
        </p:txBody>
      </p:sp>
      <p:sp>
        <p:nvSpPr>
          <p:cNvPr id="19" name="Text 17"/>
          <p:cNvSpPr/>
          <p:nvPr/>
        </p:nvSpPr>
        <p:spPr>
          <a:xfrm>
            <a:off x="6254496" y="3054096"/>
            <a:ext cx="2615184" cy="107899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Auth/profile, brand, supplier, category and address details live in their own relations.</a:t>
            </a:r>
            <a:endParaRPr lang="en-US" sz="1500" dirty="0"/>
          </a:p>
        </p:txBody>
      </p:sp>
      <p:sp>
        <p:nvSpPr>
          <p:cNvPr id="20" name="Text 18"/>
          <p:cNvSpPr/>
          <p:nvPr/>
        </p:nvSpPr>
        <p:spPr>
          <a:xfrm>
            <a:off x="9034272" y="1865376"/>
            <a:ext cx="2615184" cy="438912"/>
          </a:xfrm>
          <a:prstGeom prst="rect">
            <a:avLst/>
          </a:prstGeom>
          <a:noFill/>
          <a:ln/>
        </p:spPr>
        <p:txBody>
          <a:bodyPr wrap="square" lIns="0" tIns="0" rIns="0" bIns="0" rtlCol="0" anchor="t">
            <a:normAutofit/>
          </a:bodyPr>
          <a:lstStyle/>
          <a:p>
            <a:pPr algn="l" indent="0" marL="0">
              <a:lnSpc>
                <a:spcPct val="100000"/>
              </a:lnSpc>
              <a:buNone/>
            </a:pPr>
            <a:r>
              <a:rPr lang="en-US" sz="2800" b="1" dirty="0">
                <a:solidFill>
                  <a:srgbClr val="65B88A"/>
                </a:solidFill>
                <a:latin typeface="Georgia" pitchFamily="34" charset="0"/>
                <a:ea typeface="Georgia" pitchFamily="34" charset="-122"/>
                <a:cs typeface="Georgia" pitchFamily="34" charset="-120"/>
              </a:rPr>
              <a:t>BCNF</a:t>
            </a:r>
            <a:endParaRPr lang="en-US" sz="2800" dirty="0"/>
          </a:p>
        </p:txBody>
      </p:sp>
      <p:sp>
        <p:nvSpPr>
          <p:cNvPr id="21" name="Shape 19"/>
          <p:cNvSpPr/>
          <p:nvPr/>
        </p:nvSpPr>
        <p:spPr>
          <a:xfrm>
            <a:off x="9034272" y="2359152"/>
            <a:ext cx="2615184" cy="0"/>
          </a:xfrm>
          <a:prstGeom prst="line">
            <a:avLst/>
          </a:prstGeom>
          <a:noFill/>
          <a:ln w="15240">
            <a:solidFill>
              <a:srgbClr val="65B88A"/>
            </a:solidFill>
            <a:prstDash val="solid"/>
            <a:headEnd type="none"/>
            <a:tailEnd type="none"/>
          </a:ln>
        </p:spPr>
      </p:sp>
      <p:sp>
        <p:nvSpPr>
          <p:cNvPr id="22" name="Text 20"/>
          <p:cNvSpPr/>
          <p:nvPr/>
        </p:nvSpPr>
        <p:spPr>
          <a:xfrm>
            <a:off x="9034272" y="2578608"/>
            <a:ext cx="2615184" cy="329184"/>
          </a:xfrm>
          <a:prstGeom prst="rect">
            <a:avLst/>
          </a:prstGeom>
          <a:noFill/>
          <a:ln/>
        </p:spPr>
        <p:txBody>
          <a:bodyPr wrap="square" lIns="0" tIns="0" rIns="0" bIns="0" rtlCol="0" anchor="t">
            <a:normAutofit/>
          </a:bodyPr>
          <a:lstStyle/>
          <a:p>
            <a:pPr algn="l" indent="0" marL="0">
              <a:lnSpc>
                <a:spcPct val="100000"/>
              </a:lnSpc>
              <a:buNone/>
            </a:pPr>
            <a:r>
              <a:rPr lang="en-US" sz="1700" b="1" dirty="0">
                <a:solidFill>
                  <a:srgbClr val="F4F0E8"/>
                </a:solidFill>
                <a:latin typeface="Aptos" pitchFamily="34" charset="0"/>
                <a:ea typeface="Aptos" pitchFamily="34" charset="-122"/>
                <a:cs typeface="Aptos" pitchFamily="34" charset="-120"/>
              </a:rPr>
              <a:t>Determinants are keys</a:t>
            </a:r>
            <a:endParaRPr lang="en-US" sz="1700" dirty="0"/>
          </a:p>
        </p:txBody>
      </p:sp>
      <p:sp>
        <p:nvSpPr>
          <p:cNvPr id="23" name="Text 21"/>
          <p:cNvSpPr/>
          <p:nvPr/>
        </p:nvSpPr>
        <p:spPr>
          <a:xfrm>
            <a:off x="9034272" y="3054096"/>
            <a:ext cx="2615184" cy="1078992"/>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Composite junction keys and unique SKU, barcode and warehouse-stock keys enforce candidate keys.</a:t>
            </a:r>
            <a:endParaRPr lang="en-US" sz="1500" dirty="0"/>
          </a:p>
        </p:txBody>
      </p:sp>
      <p:sp>
        <p:nvSpPr>
          <p:cNvPr id="24" name="Text 22"/>
          <p:cNvSpPr/>
          <p:nvPr/>
        </p:nvSpPr>
        <p:spPr>
          <a:xfrm>
            <a:off x="713232" y="4526280"/>
            <a:ext cx="1417320" cy="201168"/>
          </a:xfrm>
          <a:prstGeom prst="rect">
            <a:avLst/>
          </a:prstGeom>
          <a:noFill/>
          <a:ln/>
        </p:spPr>
        <p:txBody>
          <a:bodyPr wrap="square" lIns="0" tIns="0" rIns="0" bIns="0" rtlCol="0" anchor="t">
            <a:normAutofit/>
          </a:bodyPr>
          <a:lstStyle/>
          <a:p>
            <a:pPr algn="l" indent="0" marL="0">
              <a:lnSpc>
                <a:spcPct val="100000"/>
              </a:lnSpc>
              <a:buNone/>
            </a:pPr>
            <a:r>
              <a:rPr lang="en-US" sz="980" b="1" spc="110" kern="0" dirty="0">
                <a:solidFill>
                  <a:srgbClr val="D9796D"/>
                </a:solidFill>
                <a:latin typeface="Aptos" pitchFamily="34" charset="0"/>
                <a:ea typeface="Aptos" pitchFamily="34" charset="-122"/>
                <a:cs typeface="Aptos" pitchFamily="34" charset="-120"/>
              </a:rPr>
              <a:t>ANTI-PATTERN</a:t>
            </a:r>
            <a:endParaRPr lang="en-US" sz="980" dirty="0"/>
          </a:p>
        </p:txBody>
      </p:sp>
      <p:sp>
        <p:nvSpPr>
          <p:cNvPr id="25" name="Text 23"/>
          <p:cNvSpPr/>
          <p:nvPr/>
        </p:nvSpPr>
        <p:spPr>
          <a:xfrm>
            <a:off x="713232" y="4846320"/>
            <a:ext cx="3886200" cy="292608"/>
          </a:xfrm>
          <a:prstGeom prst="rect">
            <a:avLst/>
          </a:prstGeom>
          <a:noFill/>
          <a:ln/>
        </p:spPr>
        <p:txBody>
          <a:bodyPr wrap="square" lIns="0" tIns="0" rIns="0" bIns="0" rtlCol="0" anchor="t">
            <a:normAutofit/>
          </a:bodyPr>
          <a:lstStyle/>
          <a:p>
            <a:pPr algn="l" indent="0" marL="0">
              <a:lnSpc>
                <a:spcPct val="100000"/>
              </a:lnSpc>
              <a:buNone/>
            </a:pPr>
            <a:r>
              <a:rPr lang="en-US" sz="1400" b="1" dirty="0">
                <a:solidFill>
                  <a:srgbClr val="D9796D"/>
                </a:solidFill>
                <a:latin typeface="Aptos Mono" pitchFamily="34" charset="0"/>
                <a:ea typeface="Aptos Mono" pitchFamily="34" charset="-122"/>
                <a:cs typeface="Aptos Mono" pitchFamily="34" charset="-120"/>
              </a:rPr>
              <a:t>products(id, name, colors[], sizes[], stock)</a:t>
            </a:r>
            <a:endParaRPr lang="en-US" sz="1400" dirty="0"/>
          </a:p>
        </p:txBody>
      </p:sp>
      <p:sp>
        <p:nvSpPr>
          <p:cNvPr id="26" name="Shape 24"/>
          <p:cNvSpPr/>
          <p:nvPr/>
        </p:nvSpPr>
        <p:spPr>
          <a:xfrm>
            <a:off x="4709160" y="4974336"/>
            <a:ext cx="868680" cy="0"/>
          </a:xfrm>
          <a:prstGeom prst="line">
            <a:avLst/>
          </a:prstGeom>
          <a:noFill/>
          <a:ln w="22860">
            <a:solidFill>
              <a:srgbClr val="C9A96E"/>
            </a:solidFill>
            <a:prstDash val="solid"/>
            <a:headEnd type="none"/>
            <a:tailEnd type="triangle"/>
          </a:ln>
        </p:spPr>
      </p:sp>
      <p:sp>
        <p:nvSpPr>
          <p:cNvPr id="27" name="Text 25"/>
          <p:cNvSpPr/>
          <p:nvPr/>
        </p:nvSpPr>
        <p:spPr>
          <a:xfrm>
            <a:off x="5742432" y="4526280"/>
            <a:ext cx="1417320" cy="201168"/>
          </a:xfrm>
          <a:prstGeom prst="rect">
            <a:avLst/>
          </a:prstGeom>
          <a:noFill/>
          <a:ln/>
        </p:spPr>
        <p:txBody>
          <a:bodyPr wrap="square" lIns="0" tIns="0" rIns="0" bIns="0" rtlCol="0" anchor="t">
            <a:normAutofit/>
          </a:bodyPr>
          <a:lstStyle/>
          <a:p>
            <a:pPr algn="l" indent="0" marL="0">
              <a:lnSpc>
                <a:spcPct val="100000"/>
              </a:lnSpc>
              <a:buNone/>
            </a:pPr>
            <a:r>
              <a:rPr lang="en-US" sz="980" b="1" spc="110" kern="0" dirty="0">
                <a:solidFill>
                  <a:srgbClr val="65B88A"/>
                </a:solidFill>
                <a:latin typeface="Aptos" pitchFamily="34" charset="0"/>
                <a:ea typeface="Aptos" pitchFamily="34" charset="-122"/>
                <a:cs typeface="Aptos" pitchFamily="34" charset="-120"/>
              </a:rPr>
              <a:t>NORMALIZED</a:t>
            </a:r>
            <a:endParaRPr lang="en-US" sz="980" dirty="0"/>
          </a:p>
        </p:txBody>
      </p:sp>
      <p:sp>
        <p:nvSpPr>
          <p:cNvPr id="28" name="Text 26"/>
          <p:cNvSpPr/>
          <p:nvPr/>
        </p:nvSpPr>
        <p:spPr>
          <a:xfrm>
            <a:off x="5742432" y="4846320"/>
            <a:ext cx="5074920" cy="292608"/>
          </a:xfrm>
          <a:prstGeom prst="rect">
            <a:avLst/>
          </a:prstGeom>
          <a:noFill/>
          <a:ln/>
        </p:spPr>
        <p:txBody>
          <a:bodyPr wrap="square" lIns="0" tIns="0" rIns="0" bIns="0" rtlCol="0" anchor="t">
            <a:normAutofit/>
          </a:bodyPr>
          <a:lstStyle/>
          <a:p>
            <a:pPr algn="l" indent="0" marL="0">
              <a:lnSpc>
                <a:spcPct val="100000"/>
              </a:lnSpc>
              <a:buNone/>
            </a:pPr>
            <a:r>
              <a:rPr lang="en-US" sz="1400" b="1" dirty="0">
                <a:solidFill>
                  <a:srgbClr val="65B88A"/>
                </a:solidFill>
                <a:latin typeface="Aptos Mono" pitchFamily="34" charset="0"/>
                <a:ea typeface="Aptos Mono" pitchFamily="34" charset="-122"/>
                <a:cs typeface="Aptos Mono" pitchFamily="34" charset="-120"/>
              </a:rPr>
              <a:t>products  →  product_variants  →  inventory</a:t>
            </a:r>
            <a:endParaRPr lang="en-US" sz="1400" dirty="0"/>
          </a:p>
        </p:txBody>
      </p:sp>
      <p:sp>
        <p:nvSpPr>
          <p:cNvPr id="29" name="Shape 27"/>
          <p:cNvSpPr/>
          <p:nvPr/>
        </p:nvSpPr>
        <p:spPr>
          <a:xfrm>
            <a:off x="713232" y="5486400"/>
            <a:ext cx="10789920" cy="557784"/>
          </a:xfrm>
          <a:prstGeom prst="roundRect">
            <a:avLst>
              <a:gd name="adj" fmla="val 19672"/>
            </a:avLst>
          </a:prstGeom>
          <a:solidFill>
            <a:srgbClr val="1D1D26"/>
          </a:solidFill>
          <a:ln w="12700">
            <a:solidFill>
              <a:srgbClr val="34343E"/>
            </a:solidFill>
            <a:prstDash val="solid"/>
          </a:ln>
        </p:spPr>
      </p:sp>
      <p:sp>
        <p:nvSpPr>
          <p:cNvPr id="30" name="Text 28"/>
          <p:cNvSpPr/>
          <p:nvPr/>
        </p:nvSpPr>
        <p:spPr>
          <a:xfrm>
            <a:off x="914400" y="5669280"/>
            <a:ext cx="10378440" cy="182880"/>
          </a:xfrm>
          <a:prstGeom prst="rect">
            <a:avLst/>
          </a:prstGeom>
          <a:noFill/>
          <a:ln/>
        </p:spPr>
        <p:txBody>
          <a:bodyPr wrap="square" lIns="0" tIns="0" rIns="0" bIns="0" rtlCol="0" anchor="t">
            <a:normAutofit/>
          </a:bodyPr>
          <a:lstStyle/>
          <a:p>
            <a:pPr algn="ctr" indent="0" marL="0">
              <a:lnSpc>
                <a:spcPct val="100000"/>
              </a:lnSpc>
              <a:buNone/>
            </a:pPr>
            <a:r>
              <a:rPr lang="en-US" sz="1020" b="1" spc="28" kern="0" dirty="0">
                <a:solidFill>
                  <a:srgbClr val="E8D7B4"/>
                </a:solidFill>
                <a:latin typeface="Aptos" pitchFamily="34" charset="0"/>
                <a:ea typeface="Aptos" pitchFamily="34" charset="-122"/>
                <a:cs typeface="Aptos" pitchFamily="34" charset="-120"/>
              </a:rPr>
              <a:t>INTEGRITY BEYOND NORMALIZATION  /  PK + FK + UNIQUE + CHECK  •  generated stock and line totals  •  audit ledgers  •  triggers  •  indexed views</a:t>
            </a:r>
            <a:endParaRPr lang="en-US" sz="1020" dirty="0"/>
          </a:p>
        </p:txBody>
      </p:sp>
    </p:spTree>
  </p:cSld>
  <p:clrMapOvr>
    <a:masterClrMapping/>
  </p:clrMapOvr>
  <p:transition spd="med" advClick="1">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TOOLS AND TECHNIQUES</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3000" b="1" dirty="0">
                <a:solidFill>
                  <a:srgbClr val="F4F0E8"/>
                </a:solidFill>
                <a:latin typeface="Georgia" pitchFamily="34" charset="0"/>
                <a:ea typeface="Georgia" pitchFamily="34" charset="-122"/>
                <a:cs typeface="Georgia" pitchFamily="34" charset="-120"/>
              </a:rPr>
              <a:t>The stack mirrors the separation in the data model</a:t>
            </a:r>
            <a:endParaRPr lang="en-US" sz="30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Each technology solves one layer of the same transaction.</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08</a:t>
            </a:r>
            <a:endParaRPr lang="en-US" sz="950" dirty="0"/>
          </a:p>
        </p:txBody>
      </p:sp>
      <p:sp>
        <p:nvSpPr>
          <p:cNvPr id="8" name="Text 6"/>
          <p:cNvSpPr/>
          <p:nvPr/>
        </p:nvSpPr>
        <p:spPr>
          <a:xfrm>
            <a:off x="749808" y="1920240"/>
            <a:ext cx="566928" cy="347472"/>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79A7D8"/>
                </a:solidFill>
                <a:latin typeface="Georgia" pitchFamily="34" charset="0"/>
                <a:ea typeface="Georgia" pitchFamily="34" charset="-122"/>
                <a:cs typeface="Georgia" pitchFamily="34" charset="-120"/>
              </a:rPr>
              <a:t>01</a:t>
            </a:r>
            <a:endParaRPr lang="en-US" sz="2200" dirty="0"/>
          </a:p>
        </p:txBody>
      </p:sp>
      <p:sp>
        <p:nvSpPr>
          <p:cNvPr id="9" name="Shape 7"/>
          <p:cNvSpPr/>
          <p:nvPr/>
        </p:nvSpPr>
        <p:spPr>
          <a:xfrm>
            <a:off x="1444752" y="2112264"/>
            <a:ext cx="658368" cy="0"/>
          </a:xfrm>
          <a:prstGeom prst="line">
            <a:avLst/>
          </a:prstGeom>
          <a:noFill/>
          <a:ln w="15240">
            <a:solidFill>
              <a:srgbClr val="79A7D8"/>
            </a:solidFill>
            <a:prstDash val="solid"/>
            <a:headEnd type="none"/>
            <a:tailEnd type="none"/>
          </a:ln>
        </p:spPr>
      </p:sp>
      <p:sp>
        <p:nvSpPr>
          <p:cNvPr id="10" name="Text 8"/>
          <p:cNvSpPr/>
          <p:nvPr/>
        </p:nvSpPr>
        <p:spPr>
          <a:xfrm>
            <a:off x="2286000" y="1874520"/>
            <a:ext cx="2011680" cy="228600"/>
          </a:xfrm>
          <a:prstGeom prst="rect">
            <a:avLst/>
          </a:prstGeom>
          <a:noFill/>
          <a:ln/>
        </p:spPr>
        <p:txBody>
          <a:bodyPr wrap="square" lIns="0" tIns="0" rIns="0" bIns="0" rtlCol="0" anchor="t">
            <a:normAutofit/>
          </a:bodyPr>
          <a:lstStyle/>
          <a:p>
            <a:pPr algn="l" indent="0" marL="0">
              <a:lnSpc>
                <a:spcPct val="100000"/>
              </a:lnSpc>
              <a:buNone/>
            </a:pPr>
            <a:r>
              <a:rPr lang="en-US" sz="1150" b="1" spc="90" kern="0" dirty="0">
                <a:solidFill>
                  <a:srgbClr val="79A7D8"/>
                </a:solidFill>
                <a:latin typeface="Aptos" pitchFamily="34" charset="0"/>
                <a:ea typeface="Aptos" pitchFamily="34" charset="-122"/>
                <a:cs typeface="Aptos" pitchFamily="34" charset="-120"/>
              </a:rPr>
              <a:t>FRONTEND</a:t>
            </a:r>
            <a:endParaRPr lang="en-US" sz="1150" dirty="0"/>
          </a:p>
        </p:txBody>
      </p:sp>
      <p:sp>
        <p:nvSpPr>
          <p:cNvPr id="11" name="Text 9"/>
          <p:cNvSpPr/>
          <p:nvPr/>
        </p:nvSpPr>
        <p:spPr>
          <a:xfrm>
            <a:off x="2286000" y="2167128"/>
            <a:ext cx="3840480" cy="274320"/>
          </a:xfrm>
          <a:prstGeom prst="rect">
            <a:avLst/>
          </a:prstGeom>
          <a:noFill/>
          <a:ln/>
        </p:spPr>
        <p:txBody>
          <a:bodyPr wrap="square" lIns="0" tIns="0" rIns="0" bIns="0" rtlCol="0" anchor="t">
            <a:normAutofit/>
          </a:bodyPr>
          <a:lstStyle/>
          <a:p>
            <a:pPr algn="l" indent="0" marL="0">
              <a:lnSpc>
                <a:spcPct val="100000"/>
              </a:lnSpc>
              <a:buNone/>
            </a:pPr>
            <a:r>
              <a:rPr lang="en-US" sz="1700" b="1" dirty="0">
                <a:solidFill>
                  <a:srgbClr val="F4F0E8"/>
                </a:solidFill>
                <a:latin typeface="Aptos" pitchFamily="34" charset="0"/>
                <a:ea typeface="Aptos" pitchFamily="34" charset="-122"/>
                <a:cs typeface="Aptos" pitchFamily="34" charset="-120"/>
              </a:rPr>
              <a:t>React 18 • Vite • Router v6 • Axios • Context API</a:t>
            </a:r>
            <a:endParaRPr lang="en-US" sz="1700" dirty="0"/>
          </a:p>
        </p:txBody>
      </p:sp>
      <p:sp>
        <p:nvSpPr>
          <p:cNvPr id="12" name="Text 10"/>
          <p:cNvSpPr/>
          <p:nvPr/>
        </p:nvSpPr>
        <p:spPr>
          <a:xfrm>
            <a:off x="6537960" y="1965960"/>
            <a:ext cx="4572000" cy="475488"/>
          </a:xfrm>
          <a:prstGeom prst="rect">
            <a:avLst/>
          </a:prstGeom>
          <a:noFill/>
          <a:ln/>
        </p:spPr>
        <p:txBody>
          <a:bodyPr wrap="square" lIns="0" tIns="0" rIns="0" bIns="0" rtlCol="0" anchor="t">
            <a:normAutofit/>
          </a:bodyPr>
          <a:lstStyle/>
          <a:p>
            <a:pPr algn="l" indent="0" marL="0">
              <a:lnSpc>
                <a:spcPct val="100000"/>
              </a:lnSpc>
              <a:buNone/>
            </a:pPr>
            <a:r>
              <a:rPr lang="en-US" sz="1430" dirty="0">
                <a:solidFill>
                  <a:srgbClr val="A8A39A"/>
                </a:solidFill>
                <a:latin typeface="Aptos" pitchFamily="34" charset="0"/>
                <a:ea typeface="Aptos" pitchFamily="34" charset="-122"/>
                <a:cs typeface="Aptos" pitchFamily="34" charset="-120"/>
              </a:rPr>
              <a:t>Reusable components, two route trees, route guards, token interceptor</a:t>
            </a:r>
            <a:endParaRPr lang="en-US" sz="1430" dirty="0"/>
          </a:p>
        </p:txBody>
      </p:sp>
      <p:sp>
        <p:nvSpPr>
          <p:cNvPr id="13" name="Shape 11"/>
          <p:cNvSpPr/>
          <p:nvPr/>
        </p:nvSpPr>
        <p:spPr>
          <a:xfrm>
            <a:off x="2286000" y="2651760"/>
            <a:ext cx="8823960" cy="0"/>
          </a:xfrm>
          <a:prstGeom prst="line">
            <a:avLst/>
          </a:prstGeom>
          <a:noFill/>
          <a:ln w="7620">
            <a:solidFill>
              <a:srgbClr val="34343E"/>
            </a:solidFill>
            <a:prstDash val="solid"/>
            <a:headEnd type="none"/>
            <a:tailEnd type="none"/>
          </a:ln>
        </p:spPr>
      </p:sp>
      <p:sp>
        <p:nvSpPr>
          <p:cNvPr id="14" name="Text 12"/>
          <p:cNvSpPr/>
          <p:nvPr/>
        </p:nvSpPr>
        <p:spPr>
          <a:xfrm>
            <a:off x="749808" y="2953512"/>
            <a:ext cx="566928" cy="347472"/>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A68BC6"/>
                </a:solidFill>
                <a:latin typeface="Georgia" pitchFamily="34" charset="0"/>
                <a:ea typeface="Georgia" pitchFamily="34" charset="-122"/>
                <a:cs typeface="Georgia" pitchFamily="34" charset="-120"/>
              </a:rPr>
              <a:t>02</a:t>
            </a:r>
            <a:endParaRPr lang="en-US" sz="2200" dirty="0"/>
          </a:p>
        </p:txBody>
      </p:sp>
      <p:sp>
        <p:nvSpPr>
          <p:cNvPr id="15" name="Shape 13"/>
          <p:cNvSpPr/>
          <p:nvPr/>
        </p:nvSpPr>
        <p:spPr>
          <a:xfrm>
            <a:off x="1444752" y="3145536"/>
            <a:ext cx="658368" cy="0"/>
          </a:xfrm>
          <a:prstGeom prst="line">
            <a:avLst/>
          </a:prstGeom>
          <a:noFill/>
          <a:ln w="15240">
            <a:solidFill>
              <a:srgbClr val="A68BC6"/>
            </a:solidFill>
            <a:prstDash val="solid"/>
            <a:headEnd type="none"/>
            <a:tailEnd type="none"/>
          </a:ln>
        </p:spPr>
      </p:sp>
      <p:sp>
        <p:nvSpPr>
          <p:cNvPr id="16" name="Text 14"/>
          <p:cNvSpPr/>
          <p:nvPr/>
        </p:nvSpPr>
        <p:spPr>
          <a:xfrm>
            <a:off x="2286000" y="2907792"/>
            <a:ext cx="2011680" cy="228600"/>
          </a:xfrm>
          <a:prstGeom prst="rect">
            <a:avLst/>
          </a:prstGeom>
          <a:noFill/>
          <a:ln/>
        </p:spPr>
        <p:txBody>
          <a:bodyPr wrap="square" lIns="0" tIns="0" rIns="0" bIns="0" rtlCol="0" anchor="t">
            <a:normAutofit/>
          </a:bodyPr>
          <a:lstStyle/>
          <a:p>
            <a:pPr algn="l" indent="0" marL="0">
              <a:lnSpc>
                <a:spcPct val="100000"/>
              </a:lnSpc>
              <a:buNone/>
            </a:pPr>
            <a:r>
              <a:rPr lang="en-US" sz="1150" b="1" spc="90" kern="0" dirty="0">
                <a:solidFill>
                  <a:srgbClr val="A68BC6"/>
                </a:solidFill>
                <a:latin typeface="Aptos" pitchFamily="34" charset="0"/>
                <a:ea typeface="Aptos" pitchFamily="34" charset="-122"/>
                <a:cs typeface="Aptos" pitchFamily="34" charset="-120"/>
              </a:rPr>
              <a:t>BACKEND</a:t>
            </a:r>
            <a:endParaRPr lang="en-US" sz="1150" dirty="0"/>
          </a:p>
        </p:txBody>
      </p:sp>
      <p:sp>
        <p:nvSpPr>
          <p:cNvPr id="17" name="Text 15"/>
          <p:cNvSpPr/>
          <p:nvPr/>
        </p:nvSpPr>
        <p:spPr>
          <a:xfrm>
            <a:off x="2286000" y="3200400"/>
            <a:ext cx="3840480" cy="274320"/>
          </a:xfrm>
          <a:prstGeom prst="rect">
            <a:avLst/>
          </a:prstGeom>
          <a:noFill/>
          <a:ln/>
        </p:spPr>
        <p:txBody>
          <a:bodyPr wrap="square" lIns="0" tIns="0" rIns="0" bIns="0" rtlCol="0" anchor="t">
            <a:normAutofit/>
          </a:bodyPr>
          <a:lstStyle/>
          <a:p>
            <a:pPr algn="l" indent="0" marL="0">
              <a:lnSpc>
                <a:spcPct val="100000"/>
              </a:lnSpc>
              <a:buNone/>
            </a:pPr>
            <a:r>
              <a:rPr lang="en-US" sz="1700" b="1" dirty="0">
                <a:solidFill>
                  <a:srgbClr val="F4F0E8"/>
                </a:solidFill>
                <a:latin typeface="Aptos" pitchFamily="34" charset="0"/>
                <a:ea typeface="Aptos" pitchFamily="34" charset="-122"/>
                <a:cs typeface="Aptos" pitchFamily="34" charset="-120"/>
              </a:rPr>
              <a:t>FastAPI • Pydantic v2 • SQLAlchemy 2 • Alembic</a:t>
            </a:r>
            <a:endParaRPr lang="en-US" sz="1700" dirty="0"/>
          </a:p>
        </p:txBody>
      </p:sp>
      <p:sp>
        <p:nvSpPr>
          <p:cNvPr id="18" name="Text 16"/>
          <p:cNvSpPr/>
          <p:nvPr/>
        </p:nvSpPr>
        <p:spPr>
          <a:xfrm>
            <a:off x="6537960" y="2999232"/>
            <a:ext cx="4572000" cy="475488"/>
          </a:xfrm>
          <a:prstGeom prst="rect">
            <a:avLst/>
          </a:prstGeom>
          <a:noFill/>
          <a:ln/>
        </p:spPr>
        <p:txBody>
          <a:bodyPr wrap="square" lIns="0" tIns="0" rIns="0" bIns="0" rtlCol="0" anchor="t">
            <a:normAutofit/>
          </a:bodyPr>
          <a:lstStyle/>
          <a:p>
            <a:pPr algn="l" indent="0" marL="0">
              <a:lnSpc>
                <a:spcPct val="100000"/>
              </a:lnSpc>
              <a:buNone/>
            </a:pPr>
            <a:r>
              <a:rPr lang="en-US" sz="1430" dirty="0">
                <a:solidFill>
                  <a:srgbClr val="A8A39A"/>
                </a:solidFill>
                <a:latin typeface="Aptos" pitchFamily="34" charset="0"/>
                <a:ea typeface="Aptos" pitchFamily="34" charset="-122"/>
                <a:cs typeface="Aptos" pitchFamily="34" charset="-120"/>
              </a:rPr>
              <a:t>Routers, schemas, CRUD layer, validation, CORS, GZip, StaticFiles</a:t>
            </a:r>
            <a:endParaRPr lang="en-US" sz="1430" dirty="0"/>
          </a:p>
        </p:txBody>
      </p:sp>
      <p:sp>
        <p:nvSpPr>
          <p:cNvPr id="19" name="Shape 17"/>
          <p:cNvSpPr/>
          <p:nvPr/>
        </p:nvSpPr>
        <p:spPr>
          <a:xfrm>
            <a:off x="2286000" y="3685032"/>
            <a:ext cx="8823960" cy="0"/>
          </a:xfrm>
          <a:prstGeom prst="line">
            <a:avLst/>
          </a:prstGeom>
          <a:noFill/>
          <a:ln w="7620">
            <a:solidFill>
              <a:srgbClr val="34343E"/>
            </a:solidFill>
            <a:prstDash val="solid"/>
            <a:headEnd type="none"/>
            <a:tailEnd type="none"/>
          </a:ln>
        </p:spPr>
      </p:sp>
      <p:sp>
        <p:nvSpPr>
          <p:cNvPr id="20" name="Text 18"/>
          <p:cNvSpPr/>
          <p:nvPr/>
        </p:nvSpPr>
        <p:spPr>
          <a:xfrm>
            <a:off x="749808" y="3986784"/>
            <a:ext cx="566928" cy="347472"/>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65B88A"/>
                </a:solidFill>
                <a:latin typeface="Georgia" pitchFamily="34" charset="0"/>
                <a:ea typeface="Georgia" pitchFamily="34" charset="-122"/>
                <a:cs typeface="Georgia" pitchFamily="34" charset="-120"/>
              </a:rPr>
              <a:t>03</a:t>
            </a:r>
            <a:endParaRPr lang="en-US" sz="2200" dirty="0"/>
          </a:p>
        </p:txBody>
      </p:sp>
      <p:sp>
        <p:nvSpPr>
          <p:cNvPr id="21" name="Shape 19"/>
          <p:cNvSpPr/>
          <p:nvPr/>
        </p:nvSpPr>
        <p:spPr>
          <a:xfrm>
            <a:off x="1444752" y="4178808"/>
            <a:ext cx="658368" cy="0"/>
          </a:xfrm>
          <a:prstGeom prst="line">
            <a:avLst/>
          </a:prstGeom>
          <a:noFill/>
          <a:ln w="15240">
            <a:solidFill>
              <a:srgbClr val="65B88A"/>
            </a:solidFill>
            <a:prstDash val="solid"/>
            <a:headEnd type="none"/>
            <a:tailEnd type="none"/>
          </a:ln>
        </p:spPr>
      </p:sp>
      <p:sp>
        <p:nvSpPr>
          <p:cNvPr id="22" name="Text 20"/>
          <p:cNvSpPr/>
          <p:nvPr/>
        </p:nvSpPr>
        <p:spPr>
          <a:xfrm>
            <a:off x="2286000" y="3941064"/>
            <a:ext cx="2011680" cy="228600"/>
          </a:xfrm>
          <a:prstGeom prst="rect">
            <a:avLst/>
          </a:prstGeom>
          <a:noFill/>
          <a:ln/>
        </p:spPr>
        <p:txBody>
          <a:bodyPr wrap="square" lIns="0" tIns="0" rIns="0" bIns="0" rtlCol="0" anchor="t">
            <a:normAutofit/>
          </a:bodyPr>
          <a:lstStyle/>
          <a:p>
            <a:pPr algn="l" indent="0" marL="0">
              <a:lnSpc>
                <a:spcPct val="100000"/>
              </a:lnSpc>
              <a:buNone/>
            </a:pPr>
            <a:r>
              <a:rPr lang="en-US" sz="1150" b="1" spc="90" kern="0" dirty="0">
                <a:solidFill>
                  <a:srgbClr val="65B88A"/>
                </a:solidFill>
                <a:latin typeface="Aptos" pitchFamily="34" charset="0"/>
                <a:ea typeface="Aptos" pitchFamily="34" charset="-122"/>
                <a:cs typeface="Aptos" pitchFamily="34" charset="-120"/>
              </a:rPr>
              <a:t>AUTH + DATA</a:t>
            </a:r>
            <a:endParaRPr lang="en-US" sz="1150" dirty="0"/>
          </a:p>
        </p:txBody>
      </p:sp>
      <p:sp>
        <p:nvSpPr>
          <p:cNvPr id="23" name="Text 21"/>
          <p:cNvSpPr/>
          <p:nvPr/>
        </p:nvSpPr>
        <p:spPr>
          <a:xfrm>
            <a:off x="2286000" y="4233672"/>
            <a:ext cx="3840480" cy="274320"/>
          </a:xfrm>
          <a:prstGeom prst="rect">
            <a:avLst/>
          </a:prstGeom>
          <a:noFill/>
          <a:ln/>
        </p:spPr>
        <p:txBody>
          <a:bodyPr wrap="square" lIns="0" tIns="0" rIns="0" bIns="0" rtlCol="0" anchor="t">
            <a:normAutofit/>
          </a:bodyPr>
          <a:lstStyle/>
          <a:p>
            <a:pPr algn="l" indent="0" marL="0">
              <a:lnSpc>
                <a:spcPct val="100000"/>
              </a:lnSpc>
              <a:buNone/>
            </a:pPr>
            <a:r>
              <a:rPr lang="en-US" sz="1700" b="1" dirty="0">
                <a:solidFill>
                  <a:srgbClr val="F4F0E8"/>
                </a:solidFill>
                <a:latin typeface="Aptos" pitchFamily="34" charset="0"/>
                <a:ea typeface="Aptos" pitchFamily="34" charset="-122"/>
                <a:cs typeface="Aptos" pitchFamily="34" charset="-120"/>
              </a:rPr>
              <a:t>Supabase Auth • JWT • PostgreSQL</a:t>
            </a:r>
            <a:endParaRPr lang="en-US" sz="1700" dirty="0"/>
          </a:p>
        </p:txBody>
      </p:sp>
      <p:sp>
        <p:nvSpPr>
          <p:cNvPr id="24" name="Text 22"/>
          <p:cNvSpPr/>
          <p:nvPr/>
        </p:nvSpPr>
        <p:spPr>
          <a:xfrm>
            <a:off x="6537960" y="4032504"/>
            <a:ext cx="4572000" cy="475488"/>
          </a:xfrm>
          <a:prstGeom prst="rect">
            <a:avLst/>
          </a:prstGeom>
          <a:noFill/>
          <a:ln/>
        </p:spPr>
        <p:txBody>
          <a:bodyPr wrap="square" lIns="0" tIns="0" rIns="0" bIns="0" rtlCol="0" anchor="t">
            <a:normAutofit/>
          </a:bodyPr>
          <a:lstStyle/>
          <a:p>
            <a:pPr algn="l" indent="0" marL="0">
              <a:lnSpc>
                <a:spcPct val="100000"/>
              </a:lnSpc>
              <a:buNone/>
            </a:pPr>
            <a:r>
              <a:rPr lang="en-US" sz="1430" dirty="0">
                <a:solidFill>
                  <a:srgbClr val="A8A39A"/>
                </a:solidFill>
                <a:latin typeface="Aptos" pitchFamily="34" charset="0"/>
                <a:ea typeface="Aptos" pitchFamily="34" charset="-122"/>
                <a:cs typeface="Aptos" pitchFamily="34" charset="-120"/>
              </a:rPr>
              <a:t>Token validation, auto-provisioned customer row, RBAC manager access</a:t>
            </a:r>
            <a:endParaRPr lang="en-US" sz="1430" dirty="0"/>
          </a:p>
        </p:txBody>
      </p:sp>
      <p:sp>
        <p:nvSpPr>
          <p:cNvPr id="25" name="Shape 23"/>
          <p:cNvSpPr/>
          <p:nvPr/>
        </p:nvSpPr>
        <p:spPr>
          <a:xfrm>
            <a:off x="2286000" y="4718304"/>
            <a:ext cx="8823960" cy="0"/>
          </a:xfrm>
          <a:prstGeom prst="line">
            <a:avLst/>
          </a:prstGeom>
          <a:noFill/>
          <a:ln w="7620">
            <a:solidFill>
              <a:srgbClr val="34343E"/>
            </a:solidFill>
            <a:prstDash val="solid"/>
            <a:headEnd type="none"/>
            <a:tailEnd type="none"/>
          </a:ln>
        </p:spPr>
      </p:sp>
      <p:sp>
        <p:nvSpPr>
          <p:cNvPr id="26" name="Text 24"/>
          <p:cNvSpPr/>
          <p:nvPr/>
        </p:nvSpPr>
        <p:spPr>
          <a:xfrm>
            <a:off x="749808" y="5020056"/>
            <a:ext cx="566928" cy="347472"/>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C9A96E"/>
                </a:solidFill>
                <a:latin typeface="Georgia" pitchFamily="34" charset="0"/>
                <a:ea typeface="Georgia" pitchFamily="34" charset="-122"/>
                <a:cs typeface="Georgia" pitchFamily="34" charset="-120"/>
              </a:rPr>
              <a:t>04</a:t>
            </a:r>
            <a:endParaRPr lang="en-US" sz="2200" dirty="0"/>
          </a:p>
        </p:txBody>
      </p:sp>
      <p:sp>
        <p:nvSpPr>
          <p:cNvPr id="27" name="Shape 25"/>
          <p:cNvSpPr/>
          <p:nvPr/>
        </p:nvSpPr>
        <p:spPr>
          <a:xfrm>
            <a:off x="1444752" y="5212080"/>
            <a:ext cx="658368" cy="0"/>
          </a:xfrm>
          <a:prstGeom prst="line">
            <a:avLst/>
          </a:prstGeom>
          <a:noFill/>
          <a:ln w="15240">
            <a:solidFill>
              <a:srgbClr val="C9A96E"/>
            </a:solidFill>
            <a:prstDash val="solid"/>
            <a:headEnd type="none"/>
            <a:tailEnd type="none"/>
          </a:ln>
        </p:spPr>
      </p:sp>
      <p:sp>
        <p:nvSpPr>
          <p:cNvPr id="28" name="Text 26"/>
          <p:cNvSpPr/>
          <p:nvPr/>
        </p:nvSpPr>
        <p:spPr>
          <a:xfrm>
            <a:off x="2286000" y="4974336"/>
            <a:ext cx="2011680" cy="228600"/>
          </a:xfrm>
          <a:prstGeom prst="rect">
            <a:avLst/>
          </a:prstGeom>
          <a:noFill/>
          <a:ln/>
        </p:spPr>
        <p:txBody>
          <a:bodyPr wrap="square" lIns="0" tIns="0" rIns="0" bIns="0" rtlCol="0" anchor="t">
            <a:normAutofit/>
          </a:bodyPr>
          <a:lstStyle/>
          <a:p>
            <a:pPr algn="l" indent="0" marL="0">
              <a:lnSpc>
                <a:spcPct val="100000"/>
              </a:lnSpc>
              <a:buNone/>
            </a:pPr>
            <a:r>
              <a:rPr lang="en-US" sz="1150" b="1" spc="90" kern="0" dirty="0">
                <a:solidFill>
                  <a:srgbClr val="C9A96E"/>
                </a:solidFill>
                <a:latin typeface="Aptos" pitchFamily="34" charset="0"/>
                <a:ea typeface="Aptos" pitchFamily="34" charset="-122"/>
                <a:cs typeface="Aptos" pitchFamily="34" charset="-120"/>
              </a:rPr>
              <a:t>DATABASE ENGINEERING</a:t>
            </a:r>
            <a:endParaRPr lang="en-US" sz="1150" dirty="0"/>
          </a:p>
        </p:txBody>
      </p:sp>
      <p:sp>
        <p:nvSpPr>
          <p:cNvPr id="29" name="Text 27"/>
          <p:cNvSpPr/>
          <p:nvPr/>
        </p:nvSpPr>
        <p:spPr>
          <a:xfrm>
            <a:off x="2286000" y="5266944"/>
            <a:ext cx="3840480" cy="274320"/>
          </a:xfrm>
          <a:prstGeom prst="rect">
            <a:avLst/>
          </a:prstGeom>
          <a:noFill/>
          <a:ln/>
        </p:spPr>
        <p:txBody>
          <a:bodyPr wrap="square" lIns="0" tIns="0" rIns="0" bIns="0" rtlCol="0" anchor="t">
            <a:normAutofit/>
          </a:bodyPr>
          <a:lstStyle/>
          <a:p>
            <a:pPr algn="l" indent="0" marL="0">
              <a:lnSpc>
                <a:spcPct val="100000"/>
              </a:lnSpc>
              <a:buNone/>
            </a:pPr>
            <a:r>
              <a:rPr lang="en-US" sz="1700" b="1" dirty="0">
                <a:solidFill>
                  <a:srgbClr val="F4F0E8"/>
                </a:solidFill>
                <a:latin typeface="Aptos" pitchFamily="34" charset="0"/>
                <a:ea typeface="Aptos" pitchFamily="34" charset="-122"/>
                <a:cs typeface="Aptos" pitchFamily="34" charset="-120"/>
              </a:rPr>
              <a:t>ER modelling • 3NF/BCNF • SQL migrations</a:t>
            </a:r>
            <a:endParaRPr lang="en-US" sz="1700" dirty="0"/>
          </a:p>
        </p:txBody>
      </p:sp>
      <p:sp>
        <p:nvSpPr>
          <p:cNvPr id="30" name="Text 28"/>
          <p:cNvSpPr/>
          <p:nvPr/>
        </p:nvSpPr>
        <p:spPr>
          <a:xfrm>
            <a:off x="6537960" y="5065776"/>
            <a:ext cx="4572000" cy="475488"/>
          </a:xfrm>
          <a:prstGeom prst="rect">
            <a:avLst/>
          </a:prstGeom>
          <a:noFill/>
          <a:ln/>
        </p:spPr>
        <p:txBody>
          <a:bodyPr wrap="square" lIns="0" tIns="0" rIns="0" bIns="0" rtlCol="0" anchor="t">
            <a:normAutofit/>
          </a:bodyPr>
          <a:lstStyle/>
          <a:p>
            <a:pPr algn="l" indent="0" marL="0">
              <a:lnSpc>
                <a:spcPct val="100000"/>
              </a:lnSpc>
              <a:buNone/>
            </a:pPr>
            <a:r>
              <a:rPr lang="en-US" sz="1430" dirty="0">
                <a:solidFill>
                  <a:srgbClr val="A8A39A"/>
                </a:solidFill>
                <a:latin typeface="Aptos" pitchFamily="34" charset="0"/>
                <a:ea typeface="Aptos" pitchFamily="34" charset="-122"/>
                <a:cs typeface="Aptos" pitchFamily="34" charset="-120"/>
              </a:rPr>
              <a:t>Constraints, indexes, functions, triggers, views, seed and query library</a:t>
            </a:r>
            <a:endParaRPr lang="en-US" sz="1430" dirty="0"/>
          </a:p>
        </p:txBody>
      </p:sp>
      <p:sp>
        <p:nvSpPr>
          <p:cNvPr id="31" name="Shape 29"/>
          <p:cNvSpPr/>
          <p:nvPr/>
        </p:nvSpPr>
        <p:spPr>
          <a:xfrm>
            <a:off x="749808" y="6016752"/>
            <a:ext cx="10561320" cy="274320"/>
          </a:xfrm>
          <a:prstGeom prst="roundRect">
            <a:avLst>
              <a:gd name="adj" fmla="val 40000"/>
            </a:avLst>
          </a:prstGeom>
          <a:solidFill>
            <a:srgbClr val="1D1D26"/>
          </a:solidFill>
          <a:ln w="12700">
            <a:solidFill>
              <a:srgbClr val="34343E"/>
            </a:solidFill>
            <a:prstDash val="solid"/>
          </a:ln>
        </p:spPr>
      </p:sp>
      <p:sp>
        <p:nvSpPr>
          <p:cNvPr id="32" name="Text 30"/>
          <p:cNvSpPr/>
          <p:nvPr/>
        </p:nvSpPr>
        <p:spPr>
          <a:xfrm>
            <a:off x="960120" y="6089904"/>
            <a:ext cx="10149840" cy="146304"/>
          </a:xfrm>
          <a:prstGeom prst="rect">
            <a:avLst/>
          </a:prstGeom>
          <a:noFill/>
          <a:ln/>
        </p:spPr>
        <p:txBody>
          <a:bodyPr wrap="square" lIns="0" tIns="0" rIns="0" bIns="0" rtlCol="0" anchor="t">
            <a:normAutofit/>
          </a:bodyPr>
          <a:lstStyle/>
          <a:p>
            <a:pPr algn="ctr" indent="0" marL="0">
              <a:lnSpc>
                <a:spcPct val="100000"/>
              </a:lnSpc>
              <a:buNone/>
            </a:pPr>
            <a:r>
              <a:rPr lang="en-US" sz="920" b="1" spc="55" kern="0" dirty="0">
                <a:solidFill>
                  <a:srgbClr val="E8D7B4"/>
                </a:solidFill>
                <a:latin typeface="Aptos" pitchFamily="34" charset="0"/>
                <a:ea typeface="Aptos" pitchFamily="34" charset="-122"/>
                <a:cs typeface="Aptos" pitchFamily="34" charset="-120"/>
              </a:rPr>
              <a:t>TECHNIQUE  /  service boundaries in code match entity boundaries in the database</a:t>
            </a:r>
            <a:endParaRPr lang="en-US" sz="920" dirty="0"/>
          </a:p>
        </p:txBody>
      </p:sp>
    </p:spTree>
  </p:cSld>
  <p:clrMapOvr>
    <a:masterClrMapping/>
  </p:clrMapOvr>
  <p:transition spd="med" advClick="1">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TEAM CONTRIBUTION + LEARNING</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2700" b="1" dirty="0">
                <a:solidFill>
                  <a:srgbClr val="F4F0E8"/>
                </a:solidFill>
                <a:latin typeface="Georgia" pitchFamily="34" charset="0"/>
                <a:ea typeface="Georgia" pitchFamily="34" charset="-122"/>
                <a:cs typeface="Georgia" pitchFamily="34" charset="-120"/>
              </a:rPr>
              <a:t>We divided implementation ownership and shared the data work</a:t>
            </a:r>
            <a:endParaRPr lang="en-US" sz="27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Clear responsibility accelerated development; shared database decisions kept the system coherent.</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09</a:t>
            </a:r>
            <a:endParaRPr lang="en-US" sz="950" dirty="0"/>
          </a:p>
        </p:txBody>
      </p:sp>
      <p:sp>
        <p:nvSpPr>
          <p:cNvPr id="8" name="Text 6"/>
          <p:cNvSpPr/>
          <p:nvPr/>
        </p:nvSpPr>
        <p:spPr>
          <a:xfrm>
            <a:off x="777240" y="1828800"/>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A68BC6"/>
                </a:solidFill>
                <a:latin typeface="Aptos" pitchFamily="34" charset="0"/>
                <a:ea typeface="Aptos" pitchFamily="34" charset="-122"/>
                <a:cs typeface="Aptos" pitchFamily="34" charset="-120"/>
              </a:rPr>
              <a:t>SOURAV</a:t>
            </a:r>
            <a:endParaRPr lang="en-US" sz="1000" dirty="0"/>
          </a:p>
        </p:txBody>
      </p:sp>
      <p:sp>
        <p:nvSpPr>
          <p:cNvPr id="9" name="Text 7"/>
          <p:cNvSpPr/>
          <p:nvPr/>
        </p:nvSpPr>
        <p:spPr>
          <a:xfrm>
            <a:off x="777240" y="2176272"/>
            <a:ext cx="3063240" cy="274320"/>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F4F0E8"/>
                </a:solidFill>
                <a:latin typeface="Georgia" pitchFamily="34" charset="0"/>
                <a:ea typeface="Georgia" pitchFamily="34" charset="-122"/>
                <a:cs typeface="Georgia" pitchFamily="34" charset="-120"/>
              </a:rPr>
              <a:t>BACKEND OWNER</a:t>
            </a:r>
            <a:endParaRPr lang="en-US" sz="2200" dirty="0"/>
          </a:p>
        </p:txBody>
      </p:sp>
      <p:sp>
        <p:nvSpPr>
          <p:cNvPr id="10" name="Text 8"/>
          <p:cNvSpPr/>
          <p:nvPr/>
        </p:nvSpPr>
        <p:spPr>
          <a:xfrm>
            <a:off x="777240" y="2724912"/>
            <a:ext cx="3337560" cy="1783080"/>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A8A39A"/>
                </a:solidFill>
                <a:latin typeface="Aptos" pitchFamily="34" charset="0"/>
                <a:ea typeface="Aptos" pitchFamily="34" charset="-122"/>
                <a:cs typeface="Aptos" pitchFamily="34" charset="-120"/>
              </a:rPr>
              <a:t>FastAPI architecture</a:t>
            </a:r>
            <a:endParaRPr lang="en-US" sz="1600" dirty="0"/>
          </a:p>
          <a:p>
            <a:pPr algn="l" indent="0" marL="0">
              <a:lnSpc>
                <a:spcPct val="100000"/>
              </a:lnSpc>
              <a:buNone/>
            </a:pPr>
            <a:r>
              <a:rPr lang="en-US" sz="1600" dirty="0">
                <a:solidFill>
                  <a:srgbClr val="A8A39A"/>
                </a:solidFill>
                <a:latin typeface="Aptos" pitchFamily="34" charset="0"/>
                <a:ea typeface="Aptos" pitchFamily="34" charset="-122"/>
                <a:cs typeface="Aptos" pitchFamily="34" charset="-120"/>
              </a:rPr>
              <a:t>Routers, CRUD and query handling</a:t>
            </a:r>
            <a:endParaRPr lang="en-US" sz="1600" dirty="0"/>
          </a:p>
          <a:p>
            <a:pPr algn="l" indent="0" marL="0">
              <a:lnSpc>
                <a:spcPct val="100000"/>
              </a:lnSpc>
              <a:buNone/>
            </a:pPr>
            <a:r>
              <a:rPr lang="en-US" sz="1600" dirty="0">
                <a:solidFill>
                  <a:srgbClr val="A8A39A"/>
                </a:solidFill>
                <a:latin typeface="Aptos" pitchFamily="34" charset="0"/>
                <a:ea typeface="Aptos" pitchFamily="34" charset="-122"/>
                <a:cs typeface="Aptos" pitchFamily="34" charset="-120"/>
              </a:rPr>
              <a:t>SQLAlchemy / database integration</a:t>
            </a:r>
            <a:endParaRPr lang="en-US" sz="1600" dirty="0"/>
          </a:p>
          <a:p>
            <a:pPr algn="l" indent="0" marL="0">
              <a:lnSpc>
                <a:spcPct val="100000"/>
              </a:lnSpc>
              <a:buNone/>
            </a:pPr>
            <a:r>
              <a:rPr lang="en-US" sz="1600" dirty="0">
                <a:solidFill>
                  <a:srgbClr val="A8A39A"/>
                </a:solidFill>
                <a:latin typeface="Aptos" pitchFamily="34" charset="0"/>
                <a:ea typeface="Aptos" pitchFamily="34" charset="-122"/>
                <a:cs typeface="Aptos" pitchFamily="34" charset="-120"/>
              </a:rPr>
              <a:t>Validation and protected endpoints</a:t>
            </a:r>
            <a:endParaRPr lang="en-US" sz="1600" dirty="0"/>
          </a:p>
        </p:txBody>
      </p:sp>
      <p:sp>
        <p:nvSpPr>
          <p:cNvPr id="11" name="Text 9"/>
          <p:cNvSpPr/>
          <p:nvPr/>
        </p:nvSpPr>
        <p:spPr>
          <a:xfrm>
            <a:off x="4681728" y="1828800"/>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C9A96E"/>
                </a:solidFill>
                <a:latin typeface="Aptos" pitchFamily="34" charset="0"/>
                <a:ea typeface="Aptos" pitchFamily="34" charset="-122"/>
                <a:cs typeface="Aptos" pitchFamily="34" charset="-120"/>
              </a:rPr>
              <a:t>SHARED</a:t>
            </a:r>
            <a:endParaRPr lang="en-US" sz="1000" dirty="0"/>
          </a:p>
        </p:txBody>
      </p:sp>
      <p:sp>
        <p:nvSpPr>
          <p:cNvPr id="12" name="Shape 10"/>
          <p:cNvSpPr/>
          <p:nvPr/>
        </p:nvSpPr>
        <p:spPr>
          <a:xfrm>
            <a:off x="4480560" y="2121408"/>
            <a:ext cx="3154680" cy="2532888"/>
          </a:xfrm>
          <a:prstGeom prst="roundRect">
            <a:avLst>
              <a:gd name="adj" fmla="val 4332"/>
            </a:avLst>
          </a:prstGeom>
          <a:solidFill>
            <a:srgbClr val="1D1D26"/>
          </a:solidFill>
          <a:ln w="17780">
            <a:solidFill>
              <a:srgbClr val="C9A96E"/>
            </a:solidFill>
            <a:prstDash val="solid"/>
          </a:ln>
        </p:spPr>
      </p:sp>
      <p:sp>
        <p:nvSpPr>
          <p:cNvPr id="13" name="Text 11"/>
          <p:cNvSpPr/>
          <p:nvPr/>
        </p:nvSpPr>
        <p:spPr>
          <a:xfrm>
            <a:off x="4800600" y="2468880"/>
            <a:ext cx="2514600" cy="749808"/>
          </a:xfrm>
          <a:prstGeom prst="rect">
            <a:avLst/>
          </a:prstGeom>
          <a:noFill/>
          <a:ln/>
        </p:spPr>
        <p:txBody>
          <a:bodyPr wrap="square" lIns="0" tIns="0" rIns="0" bIns="0" rtlCol="0" anchor="ctr">
            <a:normAutofit/>
          </a:bodyPr>
          <a:lstStyle/>
          <a:p>
            <a:pPr algn="ctr" indent="0" marL="0">
              <a:lnSpc>
                <a:spcPct val="100000"/>
              </a:lnSpc>
              <a:buNone/>
            </a:pPr>
            <a:r>
              <a:rPr lang="en-US" sz="2500" b="1" dirty="0">
                <a:solidFill>
                  <a:srgbClr val="E8D7B4"/>
                </a:solidFill>
                <a:latin typeface="Georgia" pitchFamily="34" charset="0"/>
                <a:ea typeface="Georgia" pitchFamily="34" charset="-122"/>
                <a:cs typeface="Georgia" pitchFamily="34" charset="-120"/>
              </a:rPr>
              <a:t>DATABASE</a:t>
            </a:r>
            <a:endParaRPr lang="en-US" sz="2500" dirty="0"/>
          </a:p>
          <a:p>
            <a:pPr algn="ctr" indent="0" marL="0">
              <a:lnSpc>
                <a:spcPct val="100000"/>
              </a:lnSpc>
              <a:buNone/>
            </a:pPr>
            <a:r>
              <a:rPr lang="en-US" sz="2500" b="1" dirty="0">
                <a:solidFill>
                  <a:srgbClr val="E8D7B4"/>
                </a:solidFill>
                <a:latin typeface="Georgia" pitchFamily="34" charset="0"/>
                <a:ea typeface="Georgia" pitchFamily="34" charset="-122"/>
                <a:cs typeface="Georgia" pitchFamily="34" charset="-120"/>
              </a:rPr>
              <a:t>DESIGN</a:t>
            </a:r>
            <a:endParaRPr lang="en-US" sz="2500" dirty="0"/>
          </a:p>
        </p:txBody>
      </p:sp>
      <p:sp>
        <p:nvSpPr>
          <p:cNvPr id="14" name="Text 12"/>
          <p:cNvSpPr/>
          <p:nvPr/>
        </p:nvSpPr>
        <p:spPr>
          <a:xfrm>
            <a:off x="4800600" y="3401568"/>
            <a:ext cx="2514600" cy="896112"/>
          </a:xfrm>
          <a:prstGeom prst="rect">
            <a:avLst/>
          </a:prstGeom>
          <a:noFill/>
          <a:ln/>
        </p:spPr>
        <p:txBody>
          <a:bodyPr wrap="square" lIns="0" tIns="0" rIns="0" bIns="0" rtlCol="0" anchor="t">
            <a:normAutofit/>
          </a:bodyPr>
          <a:lstStyle/>
          <a:p>
            <a:pPr algn="ctr" indent="0" marL="0">
              <a:lnSpc>
                <a:spcPct val="100000"/>
              </a:lnSpc>
              <a:buNone/>
            </a:pPr>
            <a:r>
              <a:rPr lang="en-US" sz="1500" b="1" dirty="0">
                <a:solidFill>
                  <a:srgbClr val="F4F0E8"/>
                </a:solidFill>
                <a:latin typeface="Aptos" pitchFamily="34" charset="0"/>
                <a:ea typeface="Aptos" pitchFamily="34" charset="-122"/>
                <a:cs typeface="Aptos" pitchFamily="34" charset="-120"/>
              </a:rPr>
              <a:t>Normalization decisions</a:t>
            </a:r>
            <a:endParaRPr lang="en-US" sz="1500" dirty="0"/>
          </a:p>
          <a:p>
            <a:pPr algn="ctr" indent="0" marL="0">
              <a:lnSpc>
                <a:spcPct val="100000"/>
              </a:lnSpc>
              <a:buNone/>
            </a:pPr>
            <a:r>
              <a:rPr lang="en-US" sz="1500" b="1" dirty="0">
                <a:solidFill>
                  <a:srgbClr val="F4F0E8"/>
                </a:solidFill>
                <a:latin typeface="Aptos" pitchFamily="34" charset="0"/>
                <a:ea typeface="Aptos" pitchFamily="34" charset="-122"/>
                <a:cs typeface="Aptos" pitchFamily="34" charset="-120"/>
              </a:rPr>
              <a:t>Query handling</a:t>
            </a:r>
            <a:endParaRPr lang="en-US" sz="1500" dirty="0"/>
          </a:p>
          <a:p>
            <a:pPr algn="ctr" indent="0" marL="0">
              <a:lnSpc>
                <a:spcPct val="100000"/>
              </a:lnSpc>
              <a:buNone/>
            </a:pPr>
            <a:r>
              <a:rPr lang="en-US" sz="1500" b="1" dirty="0">
                <a:solidFill>
                  <a:srgbClr val="F4F0E8"/>
                </a:solidFill>
                <a:latin typeface="Aptos" pitchFamily="34" charset="0"/>
                <a:ea typeface="Aptos" pitchFamily="34" charset="-122"/>
                <a:cs typeface="Aptos" pitchFamily="34" charset="-120"/>
              </a:rPr>
              <a:t>Integration testing + debugging</a:t>
            </a:r>
            <a:endParaRPr lang="en-US" sz="1500" dirty="0"/>
          </a:p>
        </p:txBody>
      </p:sp>
      <p:sp>
        <p:nvSpPr>
          <p:cNvPr id="15" name="Text 13"/>
          <p:cNvSpPr/>
          <p:nvPr/>
        </p:nvSpPr>
        <p:spPr>
          <a:xfrm>
            <a:off x="8275320" y="1828800"/>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79A7D8"/>
                </a:solidFill>
                <a:latin typeface="Aptos" pitchFamily="34" charset="0"/>
                <a:ea typeface="Aptos" pitchFamily="34" charset="-122"/>
                <a:cs typeface="Aptos" pitchFamily="34" charset="-120"/>
              </a:rPr>
              <a:t>RIYAD</a:t>
            </a:r>
            <a:endParaRPr lang="en-US" sz="1000" dirty="0"/>
          </a:p>
        </p:txBody>
      </p:sp>
      <p:sp>
        <p:nvSpPr>
          <p:cNvPr id="16" name="Text 14"/>
          <p:cNvSpPr/>
          <p:nvPr/>
        </p:nvSpPr>
        <p:spPr>
          <a:xfrm>
            <a:off x="8275320" y="2176272"/>
            <a:ext cx="3063240" cy="274320"/>
          </a:xfrm>
          <a:prstGeom prst="rect">
            <a:avLst/>
          </a:prstGeom>
          <a:noFill/>
          <a:ln/>
        </p:spPr>
        <p:txBody>
          <a:bodyPr wrap="square" lIns="0" tIns="0" rIns="0" bIns="0" rtlCol="0" anchor="t">
            <a:normAutofit/>
          </a:bodyPr>
          <a:lstStyle/>
          <a:p>
            <a:pPr algn="l" indent="0" marL="0">
              <a:lnSpc>
                <a:spcPct val="100000"/>
              </a:lnSpc>
              <a:buNone/>
            </a:pPr>
            <a:r>
              <a:rPr lang="en-US" sz="2200" b="1" dirty="0">
                <a:solidFill>
                  <a:srgbClr val="F4F0E8"/>
                </a:solidFill>
                <a:latin typeface="Georgia" pitchFamily="34" charset="0"/>
                <a:ea typeface="Georgia" pitchFamily="34" charset="-122"/>
                <a:cs typeface="Georgia" pitchFamily="34" charset="-120"/>
              </a:rPr>
              <a:t>FRONTEND OWNER</a:t>
            </a:r>
            <a:endParaRPr lang="en-US" sz="2200" dirty="0"/>
          </a:p>
        </p:txBody>
      </p:sp>
      <p:sp>
        <p:nvSpPr>
          <p:cNvPr id="17" name="Text 15"/>
          <p:cNvSpPr/>
          <p:nvPr/>
        </p:nvSpPr>
        <p:spPr>
          <a:xfrm>
            <a:off x="8275320" y="2724912"/>
            <a:ext cx="3246120" cy="1783080"/>
          </a:xfrm>
          <a:prstGeom prst="rect">
            <a:avLst/>
          </a:prstGeom>
          <a:noFill/>
          <a:ln/>
        </p:spPr>
        <p:txBody>
          <a:bodyPr wrap="square" lIns="0" tIns="0" rIns="0" bIns="0" rtlCol="0" anchor="t">
            <a:normAutofit/>
          </a:bodyPr>
          <a:lstStyle/>
          <a:p>
            <a:pPr algn="l" indent="0" marL="0">
              <a:lnSpc>
                <a:spcPct val="100000"/>
              </a:lnSpc>
              <a:buNone/>
            </a:pPr>
            <a:r>
              <a:rPr lang="en-US" sz="1600" dirty="0">
                <a:solidFill>
                  <a:srgbClr val="A8A39A"/>
                </a:solidFill>
                <a:latin typeface="Aptos" pitchFamily="34" charset="0"/>
                <a:ea typeface="Aptos" pitchFamily="34" charset="-122"/>
                <a:cs typeface="Aptos" pitchFamily="34" charset="-120"/>
              </a:rPr>
              <a:t>React interface implementation</a:t>
            </a:r>
            <a:endParaRPr lang="en-US" sz="1600" dirty="0"/>
          </a:p>
          <a:p>
            <a:pPr algn="l" indent="0" marL="0">
              <a:lnSpc>
                <a:spcPct val="100000"/>
              </a:lnSpc>
              <a:buNone/>
            </a:pPr>
            <a:r>
              <a:rPr lang="en-US" sz="1600" dirty="0">
                <a:solidFill>
                  <a:srgbClr val="A8A39A"/>
                </a:solidFill>
                <a:latin typeface="Aptos" pitchFamily="34" charset="0"/>
                <a:ea typeface="Aptos" pitchFamily="34" charset="-122"/>
                <a:cs typeface="Aptos" pitchFamily="34" charset="-120"/>
              </a:rPr>
              <a:t>Customer and manager route trees</a:t>
            </a:r>
            <a:endParaRPr lang="en-US" sz="1600" dirty="0"/>
          </a:p>
          <a:p>
            <a:pPr algn="l" indent="0" marL="0">
              <a:lnSpc>
                <a:spcPct val="100000"/>
              </a:lnSpc>
              <a:buNone/>
            </a:pPr>
            <a:r>
              <a:rPr lang="en-US" sz="1600" dirty="0">
                <a:solidFill>
                  <a:srgbClr val="A8A39A"/>
                </a:solidFill>
                <a:latin typeface="Aptos" pitchFamily="34" charset="0"/>
                <a:ea typeface="Aptos" pitchFamily="34" charset="-122"/>
                <a:cs typeface="Aptos" pitchFamily="34" charset="-120"/>
              </a:rPr>
              <a:t>Authentication flows and route guards</a:t>
            </a:r>
            <a:endParaRPr lang="en-US" sz="1600" dirty="0"/>
          </a:p>
          <a:p>
            <a:pPr algn="l" indent="0" marL="0">
              <a:lnSpc>
                <a:spcPct val="100000"/>
              </a:lnSpc>
              <a:buNone/>
            </a:pPr>
            <a:r>
              <a:rPr lang="en-US" sz="1600" dirty="0">
                <a:solidFill>
                  <a:srgbClr val="A8A39A"/>
                </a:solidFill>
                <a:latin typeface="Aptos" pitchFamily="34" charset="0"/>
                <a:ea typeface="Aptos" pitchFamily="34" charset="-122"/>
                <a:cs typeface="Aptos" pitchFamily="34" charset="-120"/>
              </a:rPr>
              <a:t>Frontend service / API integration</a:t>
            </a:r>
            <a:endParaRPr lang="en-US" sz="1600" dirty="0"/>
          </a:p>
        </p:txBody>
      </p:sp>
      <p:sp>
        <p:nvSpPr>
          <p:cNvPr id="18" name="Shape 16"/>
          <p:cNvSpPr/>
          <p:nvPr/>
        </p:nvSpPr>
        <p:spPr>
          <a:xfrm>
            <a:off x="777240" y="4956048"/>
            <a:ext cx="10561320" cy="0"/>
          </a:xfrm>
          <a:prstGeom prst="line">
            <a:avLst/>
          </a:prstGeom>
          <a:noFill/>
          <a:ln w="10160">
            <a:solidFill>
              <a:srgbClr val="34343E"/>
            </a:solidFill>
            <a:prstDash val="solid"/>
            <a:headEnd type="none"/>
            <a:tailEnd type="none"/>
          </a:ln>
        </p:spPr>
      </p:sp>
      <p:sp>
        <p:nvSpPr>
          <p:cNvPr id="19" name="Text 17"/>
          <p:cNvSpPr/>
          <p:nvPr/>
        </p:nvSpPr>
        <p:spPr>
          <a:xfrm>
            <a:off x="777240" y="5184648"/>
            <a:ext cx="1645920" cy="210312"/>
          </a:xfrm>
          <a:prstGeom prst="rect">
            <a:avLst/>
          </a:prstGeom>
          <a:noFill/>
          <a:ln/>
        </p:spPr>
        <p:txBody>
          <a:bodyPr wrap="square" lIns="0" tIns="0" rIns="0" bIns="0" rtlCol="0" anchor="t">
            <a:normAutofit/>
          </a:bodyPr>
          <a:lstStyle/>
          <a:p>
            <a:pPr algn="l" indent="0" marL="0">
              <a:lnSpc>
                <a:spcPct val="100000"/>
              </a:lnSpc>
              <a:buNone/>
            </a:pPr>
            <a:r>
              <a:rPr lang="en-US" sz="1000" b="1" spc="120" kern="0" dirty="0">
                <a:solidFill>
                  <a:srgbClr val="C9A96E"/>
                </a:solidFill>
                <a:latin typeface="Aptos" pitchFamily="34" charset="0"/>
                <a:ea typeface="Aptos" pitchFamily="34" charset="-122"/>
                <a:cs typeface="Aptos" pitchFamily="34" charset="-120"/>
              </a:rPr>
              <a:t>WHAT WE LEARNED</a:t>
            </a:r>
            <a:endParaRPr lang="en-US" sz="1000" dirty="0"/>
          </a:p>
        </p:txBody>
      </p:sp>
      <p:sp>
        <p:nvSpPr>
          <p:cNvPr id="20" name="Text 18"/>
          <p:cNvSpPr/>
          <p:nvPr/>
        </p:nvSpPr>
        <p:spPr>
          <a:xfrm>
            <a:off x="777240" y="5577840"/>
            <a:ext cx="10561320" cy="429768"/>
          </a:xfrm>
          <a:prstGeom prst="rect">
            <a:avLst/>
          </a:prstGeom>
          <a:noFill/>
          <a:ln/>
        </p:spPr>
        <p:txBody>
          <a:bodyPr wrap="square" lIns="0" tIns="0" rIns="0" bIns="0" rtlCol="0" anchor="t">
            <a:normAutofit/>
          </a:bodyPr>
          <a:lstStyle/>
          <a:p>
            <a:pPr algn="ctr" indent="0" marL="0">
              <a:lnSpc>
                <a:spcPct val="100000"/>
              </a:lnSpc>
              <a:buNone/>
            </a:pPr>
            <a:r>
              <a:rPr lang="en-US" sz="1330" b="1" dirty="0">
                <a:solidFill>
                  <a:srgbClr val="F4F0E8"/>
                </a:solidFill>
                <a:latin typeface="Aptos" pitchFamily="34" charset="0"/>
                <a:ea typeface="Aptos" pitchFamily="34" charset="-122"/>
                <a:cs typeface="Aptos" pitchFamily="34" charset="-120"/>
              </a:rPr>
              <a:t>requirements → entities + keys     •     protected React ↔ FastAPI flow     •     Supabase identity ↔ relational profile     •     normalization ↔ performance     •     schema ↔ API debugging</a:t>
            </a:r>
            <a:endParaRPr lang="en-US" sz="1330" dirty="0"/>
          </a:p>
        </p:txBody>
      </p:sp>
    </p:spTree>
  </p:cSld>
  <p:clrMapOvr>
    <a:masterClrMapping/>
  </p:clrMapOvr>
  <p:transition spd="med" advClick="1">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LIMITATIONS + FUTURE PLAN</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3000" b="1" dirty="0">
                <a:solidFill>
                  <a:srgbClr val="F4F0E8"/>
                </a:solidFill>
                <a:latin typeface="Georgia" pitchFamily="34" charset="0"/>
                <a:ea typeface="Georgia" pitchFamily="34" charset="-122"/>
                <a:cs typeface="Georgia" pitchFamily="34" charset="-120"/>
              </a:rPr>
              <a:t>The next milestone is one deployable source of truth</a:t>
            </a:r>
            <a:endParaRPr lang="en-US" sz="30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The prototype proves the workflow; production readiness now depends on schema alignment.</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10</a:t>
            </a:r>
            <a:endParaRPr lang="en-US" sz="950" dirty="0"/>
          </a:p>
        </p:txBody>
      </p:sp>
      <p:sp>
        <p:nvSpPr>
          <p:cNvPr id="8" name="Text 6"/>
          <p:cNvSpPr/>
          <p:nvPr/>
        </p:nvSpPr>
        <p:spPr>
          <a:xfrm>
            <a:off x="749808" y="1828800"/>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D9796D"/>
                </a:solidFill>
                <a:latin typeface="Aptos" pitchFamily="34" charset="0"/>
                <a:ea typeface="Aptos" pitchFamily="34" charset="-122"/>
                <a:cs typeface="Aptos" pitchFamily="34" charset="-120"/>
              </a:rPr>
              <a:t>CURRENT LIMITATIONS</a:t>
            </a:r>
            <a:endParaRPr lang="en-US" sz="1000" dirty="0"/>
          </a:p>
        </p:txBody>
      </p:sp>
      <p:sp>
        <p:nvSpPr>
          <p:cNvPr id="9" name="Text 7"/>
          <p:cNvSpPr/>
          <p:nvPr/>
        </p:nvSpPr>
        <p:spPr>
          <a:xfrm>
            <a:off x="758952" y="2240280"/>
            <a:ext cx="384048" cy="201168"/>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D9796D"/>
                </a:solidFill>
                <a:latin typeface="Georgia" pitchFamily="34" charset="0"/>
                <a:ea typeface="Georgia" pitchFamily="34" charset="-122"/>
                <a:cs typeface="Georgia" pitchFamily="34" charset="-120"/>
              </a:rPr>
              <a:t>01</a:t>
            </a:r>
            <a:endParaRPr lang="en-US" sz="1300" dirty="0"/>
          </a:p>
        </p:txBody>
      </p:sp>
      <p:sp>
        <p:nvSpPr>
          <p:cNvPr id="10" name="Text 8"/>
          <p:cNvSpPr/>
          <p:nvPr/>
        </p:nvSpPr>
        <p:spPr>
          <a:xfrm>
            <a:off x="1298448" y="2221992"/>
            <a:ext cx="431596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45-table target is not fully mapped by the active 10-model API</a:t>
            </a:r>
            <a:endParaRPr lang="en-US" sz="1480" dirty="0"/>
          </a:p>
        </p:txBody>
      </p:sp>
      <p:sp>
        <p:nvSpPr>
          <p:cNvPr id="11" name="Text 9"/>
          <p:cNvSpPr/>
          <p:nvPr/>
        </p:nvSpPr>
        <p:spPr>
          <a:xfrm>
            <a:off x="758952" y="2880360"/>
            <a:ext cx="384048" cy="201168"/>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D9796D"/>
                </a:solidFill>
                <a:latin typeface="Georgia" pitchFamily="34" charset="0"/>
                <a:ea typeface="Georgia" pitchFamily="34" charset="-122"/>
                <a:cs typeface="Georgia" pitchFamily="34" charset="-120"/>
              </a:rPr>
              <a:t>02</a:t>
            </a:r>
            <a:endParaRPr lang="en-US" sz="1300" dirty="0"/>
          </a:p>
        </p:txBody>
      </p:sp>
      <p:sp>
        <p:nvSpPr>
          <p:cNvPr id="12" name="Text 10"/>
          <p:cNvSpPr/>
          <p:nvPr/>
        </p:nvSpPr>
        <p:spPr>
          <a:xfrm>
            <a:off x="1298448" y="2862072"/>
            <a:ext cx="431596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Extended catalog, inventory, coupon, return and analytics routers remain disabled</a:t>
            </a:r>
            <a:endParaRPr lang="en-US" sz="1480" dirty="0"/>
          </a:p>
        </p:txBody>
      </p:sp>
      <p:sp>
        <p:nvSpPr>
          <p:cNvPr id="13" name="Text 11"/>
          <p:cNvSpPr/>
          <p:nvPr/>
        </p:nvSpPr>
        <p:spPr>
          <a:xfrm>
            <a:off x="758952" y="3520440"/>
            <a:ext cx="384048" cy="201168"/>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D9796D"/>
                </a:solidFill>
                <a:latin typeface="Georgia" pitchFamily="34" charset="0"/>
                <a:ea typeface="Georgia" pitchFamily="34" charset="-122"/>
                <a:cs typeface="Georgia" pitchFamily="34" charset="-120"/>
              </a:rPr>
              <a:t>03</a:t>
            </a:r>
            <a:endParaRPr lang="en-US" sz="1300" dirty="0"/>
          </a:p>
        </p:txBody>
      </p:sp>
      <p:sp>
        <p:nvSpPr>
          <p:cNvPr id="14" name="Text 12"/>
          <p:cNvSpPr/>
          <p:nvPr/>
        </p:nvSpPr>
        <p:spPr>
          <a:xfrm>
            <a:off x="1298448" y="3502152"/>
            <a:ext cx="431596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No production payment gateway or courier integration</a:t>
            </a:r>
            <a:endParaRPr lang="en-US" sz="1480" dirty="0"/>
          </a:p>
        </p:txBody>
      </p:sp>
      <p:sp>
        <p:nvSpPr>
          <p:cNvPr id="15" name="Text 13"/>
          <p:cNvSpPr/>
          <p:nvPr/>
        </p:nvSpPr>
        <p:spPr>
          <a:xfrm>
            <a:off x="758952" y="4160520"/>
            <a:ext cx="384048" cy="201168"/>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D9796D"/>
                </a:solidFill>
                <a:latin typeface="Georgia" pitchFamily="34" charset="0"/>
                <a:ea typeface="Georgia" pitchFamily="34" charset="-122"/>
                <a:cs typeface="Georgia" pitchFamily="34" charset="-120"/>
              </a:rPr>
              <a:t>04</a:t>
            </a:r>
            <a:endParaRPr lang="en-US" sz="1300" dirty="0"/>
          </a:p>
        </p:txBody>
      </p:sp>
      <p:sp>
        <p:nvSpPr>
          <p:cNvPr id="16" name="Text 14"/>
          <p:cNvSpPr/>
          <p:nvPr/>
        </p:nvSpPr>
        <p:spPr>
          <a:xfrm>
            <a:off x="1298448" y="4142232"/>
            <a:ext cx="431596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Limited automated testing, monitoring, backup and deployment</a:t>
            </a:r>
            <a:endParaRPr lang="en-US" sz="1480" dirty="0"/>
          </a:p>
        </p:txBody>
      </p:sp>
      <p:sp>
        <p:nvSpPr>
          <p:cNvPr id="17" name="Text 15"/>
          <p:cNvSpPr/>
          <p:nvPr/>
        </p:nvSpPr>
        <p:spPr>
          <a:xfrm>
            <a:off x="758952" y="4800600"/>
            <a:ext cx="384048" cy="201168"/>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D9796D"/>
                </a:solidFill>
                <a:latin typeface="Georgia" pitchFamily="34" charset="0"/>
                <a:ea typeface="Georgia" pitchFamily="34" charset="-122"/>
                <a:cs typeface="Georgia" pitchFamily="34" charset="-120"/>
              </a:rPr>
              <a:t>05</a:t>
            </a:r>
            <a:endParaRPr lang="en-US" sz="1300" dirty="0"/>
          </a:p>
        </p:txBody>
      </p:sp>
      <p:sp>
        <p:nvSpPr>
          <p:cNvPr id="18" name="Text 16"/>
          <p:cNvSpPr/>
          <p:nvPr/>
        </p:nvSpPr>
        <p:spPr>
          <a:xfrm>
            <a:off x="1298448" y="4782312"/>
            <a:ext cx="431596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localStorage token strategy has an XSS security tradeoff</a:t>
            </a:r>
            <a:endParaRPr lang="en-US" sz="1480" dirty="0"/>
          </a:p>
        </p:txBody>
      </p:sp>
      <p:sp>
        <p:nvSpPr>
          <p:cNvPr id="19" name="Shape 17"/>
          <p:cNvSpPr/>
          <p:nvPr/>
        </p:nvSpPr>
        <p:spPr>
          <a:xfrm>
            <a:off x="5870448" y="1938528"/>
            <a:ext cx="0" cy="3474720"/>
          </a:xfrm>
          <a:prstGeom prst="line">
            <a:avLst/>
          </a:prstGeom>
          <a:noFill/>
          <a:ln w="12700">
            <a:solidFill>
              <a:srgbClr val="34343E"/>
            </a:solidFill>
            <a:prstDash val="solid"/>
            <a:headEnd type="none"/>
            <a:tailEnd type="none"/>
          </a:ln>
        </p:spPr>
      </p:sp>
      <p:sp>
        <p:nvSpPr>
          <p:cNvPr id="20" name="Shape 18"/>
          <p:cNvSpPr/>
          <p:nvPr/>
        </p:nvSpPr>
        <p:spPr>
          <a:xfrm>
            <a:off x="6053328" y="5285232"/>
            <a:ext cx="585216" cy="0"/>
          </a:xfrm>
          <a:prstGeom prst="line">
            <a:avLst/>
          </a:prstGeom>
          <a:noFill/>
          <a:ln w="22860">
            <a:solidFill>
              <a:srgbClr val="C9A96E"/>
            </a:solidFill>
            <a:prstDash val="solid"/>
            <a:headEnd type="none"/>
            <a:tailEnd type="triangle"/>
          </a:ln>
        </p:spPr>
      </p:sp>
      <p:sp>
        <p:nvSpPr>
          <p:cNvPr id="21" name="Text 19"/>
          <p:cNvSpPr/>
          <p:nvPr/>
        </p:nvSpPr>
        <p:spPr>
          <a:xfrm>
            <a:off x="6565392" y="1828800"/>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65B88A"/>
                </a:solidFill>
                <a:latin typeface="Aptos" pitchFamily="34" charset="0"/>
                <a:ea typeface="Aptos" pitchFamily="34" charset="-122"/>
                <a:cs typeface="Aptos" pitchFamily="34" charset="-120"/>
              </a:rPr>
              <a:t>ORDERED ROADMAP</a:t>
            </a:r>
            <a:endParaRPr lang="en-US" sz="1000" dirty="0"/>
          </a:p>
        </p:txBody>
      </p:sp>
      <p:sp>
        <p:nvSpPr>
          <p:cNvPr id="22" name="Text 20"/>
          <p:cNvSpPr/>
          <p:nvPr/>
        </p:nvSpPr>
        <p:spPr>
          <a:xfrm>
            <a:off x="6565392" y="2221992"/>
            <a:ext cx="384048" cy="219456"/>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65B88A"/>
                </a:solidFill>
                <a:latin typeface="Georgia" pitchFamily="34" charset="0"/>
                <a:ea typeface="Georgia" pitchFamily="34" charset="-122"/>
                <a:cs typeface="Georgia" pitchFamily="34" charset="-120"/>
              </a:rPr>
              <a:t>01</a:t>
            </a:r>
            <a:endParaRPr lang="en-US" sz="1300" dirty="0"/>
          </a:p>
        </p:txBody>
      </p:sp>
      <p:sp>
        <p:nvSpPr>
          <p:cNvPr id="23" name="Text 21"/>
          <p:cNvSpPr/>
          <p:nvPr/>
        </p:nvSpPr>
        <p:spPr>
          <a:xfrm>
            <a:off x="7104888" y="2203704"/>
            <a:ext cx="422452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Unify SQL migrations, Alembic, ORM models and API schemas</a:t>
            </a:r>
            <a:endParaRPr lang="en-US" sz="1480" dirty="0"/>
          </a:p>
        </p:txBody>
      </p:sp>
      <p:sp>
        <p:nvSpPr>
          <p:cNvPr id="24" name="Text 22"/>
          <p:cNvSpPr/>
          <p:nvPr/>
        </p:nvSpPr>
        <p:spPr>
          <a:xfrm>
            <a:off x="6565392" y="2862072"/>
            <a:ext cx="384048" cy="219456"/>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65B88A"/>
                </a:solidFill>
                <a:latin typeface="Georgia" pitchFamily="34" charset="0"/>
                <a:ea typeface="Georgia" pitchFamily="34" charset="-122"/>
                <a:cs typeface="Georgia" pitchFamily="34" charset="-120"/>
              </a:rPr>
              <a:t>02</a:t>
            </a:r>
            <a:endParaRPr lang="en-US" sz="1300" dirty="0"/>
          </a:p>
        </p:txBody>
      </p:sp>
      <p:sp>
        <p:nvSpPr>
          <p:cNvPr id="25" name="Text 23"/>
          <p:cNvSpPr/>
          <p:nvPr/>
        </p:nvSpPr>
        <p:spPr>
          <a:xfrm>
            <a:off x="7104888" y="2843784"/>
            <a:ext cx="422452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Map and enable the remaining domain routers</a:t>
            </a:r>
            <a:endParaRPr lang="en-US" sz="1480" dirty="0"/>
          </a:p>
        </p:txBody>
      </p:sp>
      <p:sp>
        <p:nvSpPr>
          <p:cNvPr id="26" name="Text 24"/>
          <p:cNvSpPr/>
          <p:nvPr/>
        </p:nvSpPr>
        <p:spPr>
          <a:xfrm>
            <a:off x="6565392" y="3502152"/>
            <a:ext cx="384048" cy="219456"/>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65B88A"/>
                </a:solidFill>
                <a:latin typeface="Georgia" pitchFamily="34" charset="0"/>
                <a:ea typeface="Georgia" pitchFamily="34" charset="-122"/>
                <a:cs typeface="Georgia" pitchFamily="34" charset="-120"/>
              </a:rPr>
              <a:t>03</a:t>
            </a:r>
            <a:endParaRPr lang="en-US" sz="1300" dirty="0"/>
          </a:p>
        </p:txBody>
      </p:sp>
      <p:sp>
        <p:nvSpPr>
          <p:cNvPr id="27" name="Text 25"/>
          <p:cNvSpPr/>
          <p:nvPr/>
        </p:nvSpPr>
        <p:spPr>
          <a:xfrm>
            <a:off x="7104888" y="3483864"/>
            <a:ext cx="422452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Integrate real payment, courier and secure-session flows</a:t>
            </a:r>
            <a:endParaRPr lang="en-US" sz="1480" dirty="0"/>
          </a:p>
        </p:txBody>
      </p:sp>
      <p:sp>
        <p:nvSpPr>
          <p:cNvPr id="28" name="Text 26"/>
          <p:cNvSpPr/>
          <p:nvPr/>
        </p:nvSpPr>
        <p:spPr>
          <a:xfrm>
            <a:off x="6565392" y="4142232"/>
            <a:ext cx="384048" cy="219456"/>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65B88A"/>
                </a:solidFill>
                <a:latin typeface="Georgia" pitchFamily="34" charset="0"/>
                <a:ea typeface="Georgia" pitchFamily="34" charset="-122"/>
                <a:cs typeface="Georgia" pitchFamily="34" charset="-120"/>
              </a:rPr>
              <a:t>04</a:t>
            </a:r>
            <a:endParaRPr lang="en-US" sz="1300" dirty="0"/>
          </a:p>
        </p:txBody>
      </p:sp>
      <p:sp>
        <p:nvSpPr>
          <p:cNvPr id="29" name="Text 27"/>
          <p:cNvSpPr/>
          <p:nvPr/>
        </p:nvSpPr>
        <p:spPr>
          <a:xfrm>
            <a:off x="7104888" y="4123944"/>
            <a:ext cx="422452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Add tests, CI/CD, load checks, monitoring and backups</a:t>
            </a:r>
            <a:endParaRPr lang="en-US" sz="1480" dirty="0"/>
          </a:p>
        </p:txBody>
      </p:sp>
      <p:sp>
        <p:nvSpPr>
          <p:cNvPr id="30" name="Text 28"/>
          <p:cNvSpPr/>
          <p:nvPr/>
        </p:nvSpPr>
        <p:spPr>
          <a:xfrm>
            <a:off x="6565392" y="4782312"/>
            <a:ext cx="384048" cy="219456"/>
          </a:xfrm>
          <a:prstGeom prst="rect">
            <a:avLst/>
          </a:prstGeom>
          <a:noFill/>
          <a:ln/>
        </p:spPr>
        <p:txBody>
          <a:bodyPr wrap="square" lIns="0" tIns="0" rIns="0" bIns="0" rtlCol="0" anchor="t">
            <a:normAutofit/>
          </a:bodyPr>
          <a:lstStyle/>
          <a:p>
            <a:pPr algn="l" indent="0" marL="0">
              <a:lnSpc>
                <a:spcPct val="100000"/>
              </a:lnSpc>
              <a:buNone/>
            </a:pPr>
            <a:r>
              <a:rPr lang="en-US" sz="1300" b="1" dirty="0">
                <a:solidFill>
                  <a:srgbClr val="65B88A"/>
                </a:solidFill>
                <a:latin typeface="Georgia" pitchFamily="34" charset="0"/>
                <a:ea typeface="Georgia" pitchFamily="34" charset="-122"/>
                <a:cs typeface="Georgia" pitchFamily="34" charset="-120"/>
              </a:rPr>
              <a:t>05</a:t>
            </a:r>
            <a:endParaRPr lang="en-US" sz="1300" dirty="0"/>
          </a:p>
        </p:txBody>
      </p:sp>
      <p:sp>
        <p:nvSpPr>
          <p:cNvPr id="31" name="Text 29"/>
          <p:cNvSpPr/>
          <p:nvPr/>
        </p:nvSpPr>
        <p:spPr>
          <a:xfrm>
            <a:off x="7104888" y="4764024"/>
            <a:ext cx="4224528" cy="438912"/>
          </a:xfrm>
          <a:prstGeom prst="rect">
            <a:avLst/>
          </a:prstGeom>
          <a:noFill/>
          <a:ln/>
        </p:spPr>
        <p:txBody>
          <a:bodyPr wrap="square" lIns="0" tIns="0" rIns="0" bIns="0" rtlCol="0" anchor="t">
            <a:normAutofit/>
          </a:bodyPr>
          <a:lstStyle/>
          <a:p>
            <a:pPr algn="l" indent="0" marL="0">
              <a:lnSpc>
                <a:spcPct val="100000"/>
              </a:lnSpc>
              <a:buNone/>
            </a:pPr>
            <a:r>
              <a:rPr lang="en-US" sz="1480" dirty="0">
                <a:solidFill>
                  <a:srgbClr val="F4F0E8"/>
                </a:solidFill>
                <a:latin typeface="Aptos" pitchFamily="34" charset="0"/>
                <a:ea typeface="Aptos" pitchFamily="34" charset="-122"/>
                <a:cs typeface="Aptos" pitchFamily="34" charset="-120"/>
              </a:rPr>
              <a:t>Add full-text search, recommendations and richer analytics</a:t>
            </a:r>
            <a:endParaRPr lang="en-US" sz="1480" dirty="0"/>
          </a:p>
        </p:txBody>
      </p:sp>
      <p:sp>
        <p:nvSpPr>
          <p:cNvPr id="32" name="Shape 30"/>
          <p:cNvSpPr/>
          <p:nvPr/>
        </p:nvSpPr>
        <p:spPr>
          <a:xfrm>
            <a:off x="749808" y="5596128"/>
            <a:ext cx="10588752" cy="0"/>
          </a:xfrm>
          <a:prstGeom prst="line">
            <a:avLst/>
          </a:prstGeom>
          <a:noFill/>
          <a:ln w="15240">
            <a:solidFill>
              <a:srgbClr val="C9A96E"/>
            </a:solidFill>
            <a:prstDash val="solid"/>
            <a:headEnd type="none"/>
            <a:tailEnd type="none"/>
          </a:ln>
        </p:spPr>
      </p:sp>
      <p:sp>
        <p:nvSpPr>
          <p:cNvPr id="33" name="Text 31"/>
          <p:cNvSpPr/>
          <p:nvPr/>
        </p:nvSpPr>
        <p:spPr>
          <a:xfrm>
            <a:off x="987552" y="5797296"/>
            <a:ext cx="10104120" cy="384048"/>
          </a:xfrm>
          <a:prstGeom prst="rect">
            <a:avLst/>
          </a:prstGeom>
          <a:noFill/>
          <a:ln/>
        </p:spPr>
        <p:txBody>
          <a:bodyPr wrap="square" lIns="0" tIns="0" rIns="0" bIns="0" rtlCol="0" anchor="t">
            <a:normAutofit/>
          </a:bodyPr>
          <a:lstStyle/>
          <a:p>
            <a:pPr algn="ctr" indent="0" marL="0">
              <a:lnSpc>
                <a:spcPct val="100000"/>
              </a:lnSpc>
              <a:buNone/>
            </a:pPr>
            <a:r>
              <a:rPr lang="en-US" sz="2100" b="1" dirty="0">
                <a:solidFill>
                  <a:srgbClr val="E8D7B4"/>
                </a:solidFill>
                <a:latin typeface="Georgia" pitchFamily="34" charset="0"/>
                <a:ea typeface="Georgia" pitchFamily="34" charset="-122"/>
                <a:cs typeface="Georgia" pitchFamily="34" charset="-120"/>
              </a:rPr>
              <a:t>The database is not behind GoDrip—it is the coordination layer that makes the product work.</a:t>
            </a:r>
            <a:endParaRPr lang="en-US" sz="2100" dirty="0"/>
          </a:p>
        </p:txBody>
      </p:sp>
    </p:spTree>
  </p:cSld>
  <p:clrMapOvr>
    <a:masterClrMapping/>
  </p:clrMapOvr>
  <p:transition spd="med" advClick="1">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APPENDIX A</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3000" b="1" dirty="0">
                <a:solidFill>
                  <a:srgbClr val="F4F0E8"/>
                </a:solidFill>
                <a:latin typeface="Georgia" pitchFamily="34" charset="0"/>
                <a:ea typeface="Georgia" pitchFamily="34" charset="-122"/>
                <a:cs typeface="Georgia" pitchFamily="34" charset="-120"/>
              </a:rPr>
              <a:t>Complete 45-table dictionary</a:t>
            </a:r>
            <a:endParaRPr lang="en-US" sz="30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Reference view for questions; all tables are grouped by responsibility.</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11</a:t>
            </a:r>
            <a:endParaRPr lang="en-US" sz="950" dirty="0"/>
          </a:p>
        </p:txBody>
      </p:sp>
      <p:sp>
        <p:nvSpPr>
          <p:cNvPr id="8" name="Shape 6"/>
          <p:cNvSpPr/>
          <p:nvPr/>
        </p:nvSpPr>
        <p:spPr>
          <a:xfrm>
            <a:off x="658368" y="1810512"/>
            <a:ext cx="3456432" cy="1298448"/>
          </a:xfrm>
          <a:prstGeom prst="roundRect">
            <a:avLst>
              <a:gd name="adj" fmla="val 8451"/>
            </a:avLst>
          </a:prstGeom>
          <a:solidFill>
            <a:srgbClr val="15151C"/>
          </a:solidFill>
          <a:ln w="12700">
            <a:solidFill>
              <a:srgbClr val="34343E"/>
            </a:solidFill>
            <a:prstDash val="solid"/>
          </a:ln>
        </p:spPr>
      </p:sp>
      <p:sp>
        <p:nvSpPr>
          <p:cNvPr id="9" name="Text 7"/>
          <p:cNvSpPr/>
          <p:nvPr/>
        </p:nvSpPr>
        <p:spPr>
          <a:xfrm>
            <a:off x="841248" y="1975104"/>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79A7D8"/>
                </a:solidFill>
                <a:latin typeface="Aptos" pitchFamily="34" charset="0"/>
                <a:ea typeface="Aptos" pitchFamily="34" charset="-122"/>
                <a:cs typeface="Aptos" pitchFamily="34" charset="-120"/>
              </a:rPr>
              <a:t>LOOKUP / 5</a:t>
            </a:r>
            <a:endParaRPr lang="en-US" sz="1000" dirty="0"/>
          </a:p>
        </p:txBody>
      </p:sp>
      <p:sp>
        <p:nvSpPr>
          <p:cNvPr id="10" name="Text 8"/>
          <p:cNvSpPr/>
          <p:nvPr/>
        </p:nvSpPr>
        <p:spPr>
          <a:xfrm>
            <a:off x="841248" y="2286000"/>
            <a:ext cx="3063240" cy="749808"/>
          </a:xfrm>
          <a:prstGeom prst="rect">
            <a:avLst/>
          </a:prstGeom>
          <a:noFill/>
          <a:ln/>
        </p:spPr>
        <p:txBody>
          <a:bodyPr wrap="square" lIns="0" tIns="0" rIns="0" bIns="0" rtlCol="0" anchor="t">
            <a:normAutofit/>
          </a:bodyPr>
          <a:lstStyle/>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genders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colors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sizes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materials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seasons</a:t>
            </a:r>
            <a:endParaRPr lang="en-US" sz="1070" dirty="0"/>
          </a:p>
        </p:txBody>
      </p:sp>
      <p:sp>
        <p:nvSpPr>
          <p:cNvPr id="11" name="Shape 9"/>
          <p:cNvSpPr/>
          <p:nvPr/>
        </p:nvSpPr>
        <p:spPr>
          <a:xfrm>
            <a:off x="4361688" y="1810512"/>
            <a:ext cx="3456432" cy="1298448"/>
          </a:xfrm>
          <a:prstGeom prst="roundRect">
            <a:avLst>
              <a:gd name="adj" fmla="val 8451"/>
            </a:avLst>
          </a:prstGeom>
          <a:solidFill>
            <a:srgbClr val="15151C"/>
          </a:solidFill>
          <a:ln w="12700">
            <a:solidFill>
              <a:srgbClr val="34343E"/>
            </a:solidFill>
            <a:prstDash val="solid"/>
          </a:ln>
        </p:spPr>
      </p:sp>
      <p:sp>
        <p:nvSpPr>
          <p:cNvPr id="12" name="Text 10"/>
          <p:cNvSpPr/>
          <p:nvPr/>
        </p:nvSpPr>
        <p:spPr>
          <a:xfrm>
            <a:off x="4544568" y="1975104"/>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A68BC6"/>
                </a:solidFill>
                <a:latin typeface="Aptos" pitchFamily="34" charset="0"/>
                <a:ea typeface="Aptos" pitchFamily="34" charset="-122"/>
                <a:cs typeface="Aptos" pitchFamily="34" charset="-120"/>
              </a:rPr>
              <a:t>ADMIN / 5</a:t>
            </a:r>
            <a:endParaRPr lang="en-US" sz="1000" dirty="0"/>
          </a:p>
        </p:txBody>
      </p:sp>
      <p:sp>
        <p:nvSpPr>
          <p:cNvPr id="13" name="Text 11"/>
          <p:cNvSpPr/>
          <p:nvPr/>
        </p:nvSpPr>
        <p:spPr>
          <a:xfrm>
            <a:off x="4544568" y="2286000"/>
            <a:ext cx="3063240" cy="749808"/>
          </a:xfrm>
          <a:prstGeom prst="rect">
            <a:avLst/>
          </a:prstGeom>
          <a:noFill/>
          <a:ln/>
        </p:spPr>
        <p:txBody>
          <a:bodyPr wrap="square" lIns="0" tIns="0" rIns="0" bIns="0" rtlCol="0" anchor="t">
            <a:normAutofit/>
          </a:bodyPr>
          <a:lstStyle/>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roles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permissions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role_permissions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admins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activity_logs</a:t>
            </a:r>
            <a:endParaRPr lang="en-US" sz="1070" dirty="0"/>
          </a:p>
        </p:txBody>
      </p:sp>
      <p:sp>
        <p:nvSpPr>
          <p:cNvPr id="14" name="Shape 12"/>
          <p:cNvSpPr/>
          <p:nvPr/>
        </p:nvSpPr>
        <p:spPr>
          <a:xfrm>
            <a:off x="8065008" y="1810512"/>
            <a:ext cx="3456432" cy="1298448"/>
          </a:xfrm>
          <a:prstGeom prst="roundRect">
            <a:avLst>
              <a:gd name="adj" fmla="val 8451"/>
            </a:avLst>
          </a:prstGeom>
          <a:solidFill>
            <a:srgbClr val="15151C"/>
          </a:solidFill>
          <a:ln w="12700">
            <a:solidFill>
              <a:srgbClr val="34343E"/>
            </a:solidFill>
            <a:prstDash val="solid"/>
          </a:ln>
        </p:spPr>
      </p:sp>
      <p:sp>
        <p:nvSpPr>
          <p:cNvPr id="15" name="Text 13"/>
          <p:cNvSpPr/>
          <p:nvPr/>
        </p:nvSpPr>
        <p:spPr>
          <a:xfrm>
            <a:off x="8247888" y="1975104"/>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C9A96E"/>
                </a:solidFill>
                <a:latin typeface="Aptos" pitchFamily="34" charset="0"/>
                <a:ea typeface="Aptos" pitchFamily="34" charset="-122"/>
                <a:cs typeface="Aptos" pitchFamily="34" charset="-120"/>
              </a:rPr>
              <a:t>CATALOG / 5</a:t>
            </a:r>
            <a:endParaRPr lang="en-US" sz="1000" dirty="0"/>
          </a:p>
        </p:txBody>
      </p:sp>
      <p:sp>
        <p:nvSpPr>
          <p:cNvPr id="16" name="Text 14"/>
          <p:cNvSpPr/>
          <p:nvPr/>
        </p:nvSpPr>
        <p:spPr>
          <a:xfrm>
            <a:off x="8247888" y="2286000"/>
            <a:ext cx="3063240" cy="749808"/>
          </a:xfrm>
          <a:prstGeom prst="rect">
            <a:avLst/>
          </a:prstGeom>
          <a:noFill/>
          <a:ln/>
        </p:spPr>
        <p:txBody>
          <a:bodyPr wrap="square" lIns="0" tIns="0" rIns="0" bIns="0" rtlCol="0" anchor="t">
            <a:normAutofit/>
          </a:bodyPr>
          <a:lstStyle/>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brands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suppliers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categories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subcategories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collections</a:t>
            </a:r>
            <a:endParaRPr lang="en-US" sz="1070" dirty="0"/>
          </a:p>
        </p:txBody>
      </p:sp>
      <p:sp>
        <p:nvSpPr>
          <p:cNvPr id="17" name="Shape 15"/>
          <p:cNvSpPr/>
          <p:nvPr/>
        </p:nvSpPr>
        <p:spPr>
          <a:xfrm>
            <a:off x="658368" y="3291840"/>
            <a:ext cx="3456432" cy="1298448"/>
          </a:xfrm>
          <a:prstGeom prst="roundRect">
            <a:avLst>
              <a:gd name="adj" fmla="val 8451"/>
            </a:avLst>
          </a:prstGeom>
          <a:solidFill>
            <a:srgbClr val="15151C"/>
          </a:solidFill>
          <a:ln w="12700">
            <a:solidFill>
              <a:srgbClr val="34343E"/>
            </a:solidFill>
            <a:prstDash val="solid"/>
          </a:ln>
        </p:spPr>
      </p:sp>
      <p:sp>
        <p:nvSpPr>
          <p:cNvPr id="18" name="Text 16"/>
          <p:cNvSpPr/>
          <p:nvPr/>
        </p:nvSpPr>
        <p:spPr>
          <a:xfrm>
            <a:off x="841248" y="345643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79A7D8"/>
                </a:solidFill>
                <a:latin typeface="Aptos" pitchFamily="34" charset="0"/>
                <a:ea typeface="Aptos" pitchFamily="34" charset="-122"/>
                <a:cs typeface="Aptos" pitchFamily="34" charset="-120"/>
              </a:rPr>
              <a:t>CUSTOMER / 8</a:t>
            </a:r>
            <a:endParaRPr lang="en-US" sz="1000" dirty="0"/>
          </a:p>
        </p:txBody>
      </p:sp>
      <p:sp>
        <p:nvSpPr>
          <p:cNvPr id="19" name="Text 17"/>
          <p:cNvSpPr/>
          <p:nvPr/>
        </p:nvSpPr>
        <p:spPr>
          <a:xfrm>
            <a:off x="841248" y="3767328"/>
            <a:ext cx="1517904" cy="74980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F4F0E8"/>
                </a:solidFill>
                <a:latin typeface="Aptos Mono" pitchFamily="34" charset="0"/>
                <a:ea typeface="Aptos Mono" pitchFamily="34" charset="-122"/>
                <a:cs typeface="Aptos Mono" pitchFamily="34" charset="-120"/>
              </a:rPr>
              <a:t>customers</a:t>
            </a:r>
            <a:endParaRPr lang="en-US" sz="1000" dirty="0"/>
          </a:p>
          <a:p>
            <a:pPr algn="l" indent="0" marL="0">
              <a:lnSpc>
                <a:spcPct val="100000"/>
              </a:lnSpc>
              <a:buNone/>
            </a:pPr>
            <a:r>
              <a:rPr lang="en-US" sz="1000" dirty="0">
                <a:solidFill>
                  <a:srgbClr val="F4F0E8"/>
                </a:solidFill>
                <a:latin typeface="Aptos Mono" pitchFamily="34" charset="0"/>
                <a:ea typeface="Aptos Mono" pitchFamily="34" charset="-122"/>
                <a:cs typeface="Aptos Mono" pitchFamily="34" charset="-120"/>
              </a:rPr>
              <a:t>customer_profiles</a:t>
            </a:r>
            <a:endParaRPr lang="en-US" sz="1000" dirty="0"/>
          </a:p>
          <a:p>
            <a:pPr algn="l" indent="0" marL="0">
              <a:lnSpc>
                <a:spcPct val="100000"/>
              </a:lnSpc>
              <a:buNone/>
            </a:pPr>
            <a:r>
              <a:rPr lang="en-US" sz="1000" dirty="0">
                <a:solidFill>
                  <a:srgbClr val="F4F0E8"/>
                </a:solidFill>
                <a:latin typeface="Aptos Mono" pitchFamily="34" charset="0"/>
                <a:ea typeface="Aptos Mono" pitchFamily="34" charset="-122"/>
                <a:cs typeface="Aptos Mono" pitchFamily="34" charset="-120"/>
              </a:rPr>
              <a:t>customer_addresses</a:t>
            </a:r>
            <a:endParaRPr lang="en-US" sz="1000" dirty="0"/>
          </a:p>
          <a:p>
            <a:pPr algn="l" indent="0" marL="0">
              <a:lnSpc>
                <a:spcPct val="100000"/>
              </a:lnSpc>
              <a:buNone/>
            </a:pPr>
            <a:r>
              <a:rPr lang="en-US" sz="1000" dirty="0">
                <a:solidFill>
                  <a:srgbClr val="F4F0E8"/>
                </a:solidFill>
                <a:latin typeface="Aptos Mono" pitchFamily="34" charset="0"/>
                <a:ea typeface="Aptos Mono" pitchFamily="34" charset="-122"/>
                <a:cs typeface="Aptos Mono" pitchFamily="34" charset="-120"/>
              </a:rPr>
              <a:t>wishlists</a:t>
            </a:r>
            <a:endParaRPr lang="en-US" sz="1000" dirty="0"/>
          </a:p>
        </p:txBody>
      </p:sp>
      <p:sp>
        <p:nvSpPr>
          <p:cNvPr id="20" name="Text 18"/>
          <p:cNvSpPr/>
          <p:nvPr/>
        </p:nvSpPr>
        <p:spPr>
          <a:xfrm>
            <a:off x="2340864" y="3767328"/>
            <a:ext cx="1700784" cy="749808"/>
          </a:xfrm>
          <a:prstGeom prst="rect">
            <a:avLst/>
          </a:prstGeom>
          <a:noFill/>
          <a:ln/>
        </p:spPr>
        <p:txBody>
          <a:bodyPr wrap="square" lIns="0" tIns="0" rIns="0" bIns="0" rtlCol="0" anchor="t">
            <a:normAutofit/>
          </a:bodyPr>
          <a:lstStyle/>
          <a:p>
            <a:pPr algn="l" indent="0" marL="0">
              <a:lnSpc>
                <a:spcPct val="100000"/>
              </a:lnSpc>
              <a:buNone/>
            </a:pPr>
            <a:r>
              <a:rPr lang="en-US" sz="1000" dirty="0">
                <a:solidFill>
                  <a:srgbClr val="F4F0E8"/>
                </a:solidFill>
                <a:latin typeface="Aptos Mono" pitchFamily="34" charset="0"/>
                <a:ea typeface="Aptos Mono" pitchFamily="34" charset="-122"/>
                <a:cs typeface="Aptos Mono" pitchFamily="34" charset="-120"/>
              </a:rPr>
              <a:t>wishlist_items</a:t>
            </a:r>
            <a:endParaRPr lang="en-US" sz="1000" dirty="0"/>
          </a:p>
          <a:p>
            <a:pPr algn="l" indent="0" marL="0">
              <a:lnSpc>
                <a:spcPct val="100000"/>
              </a:lnSpc>
              <a:buNone/>
            </a:pPr>
            <a:r>
              <a:rPr lang="en-US" sz="1000" dirty="0">
                <a:solidFill>
                  <a:srgbClr val="F4F0E8"/>
                </a:solidFill>
                <a:latin typeface="Aptos Mono" pitchFamily="34" charset="0"/>
                <a:ea typeface="Aptos Mono" pitchFamily="34" charset="-122"/>
                <a:cs typeface="Aptos Mono" pitchFamily="34" charset="-120"/>
              </a:rPr>
              <a:t>carts</a:t>
            </a:r>
            <a:endParaRPr lang="en-US" sz="1000" dirty="0"/>
          </a:p>
          <a:p>
            <a:pPr algn="l" indent="0" marL="0">
              <a:lnSpc>
                <a:spcPct val="100000"/>
              </a:lnSpc>
              <a:buNone/>
            </a:pPr>
            <a:r>
              <a:rPr lang="en-US" sz="1000" dirty="0">
                <a:solidFill>
                  <a:srgbClr val="F4F0E8"/>
                </a:solidFill>
                <a:latin typeface="Aptos Mono" pitchFamily="34" charset="0"/>
                <a:ea typeface="Aptos Mono" pitchFamily="34" charset="-122"/>
                <a:cs typeface="Aptos Mono" pitchFamily="34" charset="-120"/>
              </a:rPr>
              <a:t>cart_items</a:t>
            </a:r>
            <a:endParaRPr lang="en-US" sz="1000" dirty="0"/>
          </a:p>
          <a:p>
            <a:pPr algn="l" indent="0" marL="0">
              <a:lnSpc>
                <a:spcPct val="100000"/>
              </a:lnSpc>
              <a:buNone/>
            </a:pPr>
            <a:r>
              <a:rPr lang="en-US" sz="1000" dirty="0">
                <a:solidFill>
                  <a:srgbClr val="F4F0E8"/>
                </a:solidFill>
                <a:latin typeface="Aptos Mono" pitchFamily="34" charset="0"/>
                <a:ea typeface="Aptos Mono" pitchFamily="34" charset="-122"/>
                <a:cs typeface="Aptos Mono" pitchFamily="34" charset="-120"/>
              </a:rPr>
              <a:t>customer_notifications</a:t>
            </a:r>
            <a:endParaRPr lang="en-US" sz="1000" dirty="0"/>
          </a:p>
        </p:txBody>
      </p:sp>
      <p:sp>
        <p:nvSpPr>
          <p:cNvPr id="21" name="Shape 19"/>
          <p:cNvSpPr/>
          <p:nvPr/>
        </p:nvSpPr>
        <p:spPr>
          <a:xfrm>
            <a:off x="4361688" y="3291840"/>
            <a:ext cx="3456432" cy="1298448"/>
          </a:xfrm>
          <a:prstGeom prst="roundRect">
            <a:avLst>
              <a:gd name="adj" fmla="val 8451"/>
            </a:avLst>
          </a:prstGeom>
          <a:solidFill>
            <a:srgbClr val="15151C"/>
          </a:solidFill>
          <a:ln w="12700">
            <a:solidFill>
              <a:srgbClr val="34343E"/>
            </a:solidFill>
            <a:prstDash val="solid"/>
          </a:ln>
        </p:spPr>
      </p:sp>
      <p:sp>
        <p:nvSpPr>
          <p:cNvPr id="22" name="Text 20"/>
          <p:cNvSpPr/>
          <p:nvPr/>
        </p:nvSpPr>
        <p:spPr>
          <a:xfrm>
            <a:off x="4544568" y="345643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C9A96E"/>
                </a:solidFill>
                <a:latin typeface="Aptos" pitchFamily="34" charset="0"/>
                <a:ea typeface="Aptos" pitchFamily="34" charset="-122"/>
                <a:cs typeface="Aptos" pitchFamily="34" charset="-120"/>
              </a:rPr>
              <a:t>PRODUCT / 5</a:t>
            </a:r>
            <a:endParaRPr lang="en-US" sz="1000" dirty="0"/>
          </a:p>
        </p:txBody>
      </p:sp>
      <p:sp>
        <p:nvSpPr>
          <p:cNvPr id="23" name="Text 21"/>
          <p:cNvSpPr/>
          <p:nvPr/>
        </p:nvSpPr>
        <p:spPr>
          <a:xfrm>
            <a:off x="4544568" y="3767328"/>
            <a:ext cx="3063240" cy="749808"/>
          </a:xfrm>
          <a:prstGeom prst="rect">
            <a:avLst/>
          </a:prstGeom>
          <a:noFill/>
          <a:ln/>
        </p:spPr>
        <p:txBody>
          <a:bodyPr wrap="square" lIns="0" tIns="0" rIns="0" bIns="0" rtlCol="0" anchor="t">
            <a:normAutofit/>
          </a:bodyPr>
          <a:lstStyle/>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products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product_images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product_variants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product_specifications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product_collections</a:t>
            </a:r>
            <a:endParaRPr lang="en-US" sz="1070" dirty="0"/>
          </a:p>
        </p:txBody>
      </p:sp>
      <p:sp>
        <p:nvSpPr>
          <p:cNvPr id="24" name="Shape 22"/>
          <p:cNvSpPr/>
          <p:nvPr/>
        </p:nvSpPr>
        <p:spPr>
          <a:xfrm>
            <a:off x="8065008" y="3291840"/>
            <a:ext cx="3456432" cy="1298448"/>
          </a:xfrm>
          <a:prstGeom prst="roundRect">
            <a:avLst>
              <a:gd name="adj" fmla="val 8451"/>
            </a:avLst>
          </a:prstGeom>
          <a:solidFill>
            <a:srgbClr val="15151C"/>
          </a:solidFill>
          <a:ln w="12700">
            <a:solidFill>
              <a:srgbClr val="34343E"/>
            </a:solidFill>
            <a:prstDash val="solid"/>
          </a:ln>
        </p:spPr>
      </p:sp>
      <p:sp>
        <p:nvSpPr>
          <p:cNvPr id="25" name="Text 23"/>
          <p:cNvSpPr/>
          <p:nvPr/>
        </p:nvSpPr>
        <p:spPr>
          <a:xfrm>
            <a:off x="8247888" y="345643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65B88A"/>
                </a:solidFill>
                <a:latin typeface="Aptos" pitchFamily="34" charset="0"/>
                <a:ea typeface="Aptos" pitchFamily="34" charset="-122"/>
                <a:cs typeface="Aptos" pitchFamily="34" charset="-120"/>
              </a:rPr>
              <a:t>INVENTORY / 3</a:t>
            </a:r>
            <a:endParaRPr lang="en-US" sz="1000" dirty="0"/>
          </a:p>
        </p:txBody>
      </p:sp>
      <p:sp>
        <p:nvSpPr>
          <p:cNvPr id="26" name="Text 24"/>
          <p:cNvSpPr/>
          <p:nvPr/>
        </p:nvSpPr>
        <p:spPr>
          <a:xfrm>
            <a:off x="8247888" y="3767328"/>
            <a:ext cx="3063240" cy="749808"/>
          </a:xfrm>
          <a:prstGeom prst="rect">
            <a:avLst/>
          </a:prstGeom>
          <a:noFill/>
          <a:ln/>
        </p:spPr>
        <p:txBody>
          <a:bodyPr wrap="square" lIns="0" tIns="0" rIns="0" bIns="0" rtlCol="0" anchor="t">
            <a:normAutofit/>
          </a:bodyPr>
          <a:lstStyle/>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warehouses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inventory</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inventory_movements</a:t>
            </a:r>
            <a:endParaRPr lang="en-US" sz="1070" dirty="0"/>
          </a:p>
        </p:txBody>
      </p:sp>
      <p:sp>
        <p:nvSpPr>
          <p:cNvPr id="27" name="Shape 25"/>
          <p:cNvSpPr/>
          <p:nvPr/>
        </p:nvSpPr>
        <p:spPr>
          <a:xfrm>
            <a:off x="658368" y="4773168"/>
            <a:ext cx="3456432" cy="1298448"/>
          </a:xfrm>
          <a:prstGeom prst="roundRect">
            <a:avLst>
              <a:gd name="adj" fmla="val 8451"/>
            </a:avLst>
          </a:prstGeom>
          <a:solidFill>
            <a:srgbClr val="15151C"/>
          </a:solidFill>
          <a:ln w="12700">
            <a:solidFill>
              <a:srgbClr val="34343E"/>
            </a:solidFill>
            <a:prstDash val="solid"/>
          </a:ln>
        </p:spPr>
      </p:sp>
      <p:sp>
        <p:nvSpPr>
          <p:cNvPr id="28" name="Text 26"/>
          <p:cNvSpPr/>
          <p:nvPr/>
        </p:nvSpPr>
        <p:spPr>
          <a:xfrm>
            <a:off x="841248" y="4937760"/>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C9A96E"/>
                </a:solidFill>
                <a:latin typeface="Aptos" pitchFamily="34" charset="0"/>
                <a:ea typeface="Aptos" pitchFamily="34" charset="-122"/>
                <a:cs typeface="Aptos" pitchFamily="34" charset="-120"/>
              </a:rPr>
              <a:t>SALES / 6</a:t>
            </a:r>
            <a:endParaRPr lang="en-US" sz="1000" dirty="0"/>
          </a:p>
        </p:txBody>
      </p:sp>
      <p:sp>
        <p:nvSpPr>
          <p:cNvPr id="29" name="Text 27"/>
          <p:cNvSpPr/>
          <p:nvPr/>
        </p:nvSpPr>
        <p:spPr>
          <a:xfrm>
            <a:off x="841248" y="5248656"/>
            <a:ext cx="3063240" cy="749808"/>
          </a:xfrm>
          <a:prstGeom prst="rect">
            <a:avLst/>
          </a:prstGeom>
          <a:noFill/>
          <a:ln/>
        </p:spPr>
        <p:txBody>
          <a:bodyPr wrap="square" lIns="0" tIns="0" rIns="0" bIns="0" rtlCol="0" anchor="t">
            <a:normAutofit/>
          </a:bodyPr>
          <a:lstStyle/>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shipping_methods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coupons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coupon_usages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orders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order_items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order_status_history</a:t>
            </a:r>
            <a:endParaRPr lang="en-US" sz="1070" dirty="0"/>
          </a:p>
        </p:txBody>
      </p:sp>
      <p:sp>
        <p:nvSpPr>
          <p:cNvPr id="30" name="Shape 28"/>
          <p:cNvSpPr/>
          <p:nvPr/>
        </p:nvSpPr>
        <p:spPr>
          <a:xfrm>
            <a:off x="4361688" y="4773168"/>
            <a:ext cx="3456432" cy="1298448"/>
          </a:xfrm>
          <a:prstGeom prst="roundRect">
            <a:avLst>
              <a:gd name="adj" fmla="val 8451"/>
            </a:avLst>
          </a:prstGeom>
          <a:solidFill>
            <a:srgbClr val="15151C"/>
          </a:solidFill>
          <a:ln w="12700">
            <a:solidFill>
              <a:srgbClr val="34343E"/>
            </a:solidFill>
            <a:prstDash val="solid"/>
          </a:ln>
        </p:spPr>
      </p:sp>
      <p:sp>
        <p:nvSpPr>
          <p:cNvPr id="31" name="Text 29"/>
          <p:cNvSpPr/>
          <p:nvPr/>
        </p:nvSpPr>
        <p:spPr>
          <a:xfrm>
            <a:off x="4544568" y="4937760"/>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65B88A"/>
                </a:solidFill>
                <a:latin typeface="Aptos" pitchFamily="34" charset="0"/>
                <a:ea typeface="Aptos" pitchFamily="34" charset="-122"/>
                <a:cs typeface="Aptos" pitchFamily="34" charset="-120"/>
              </a:rPr>
              <a:t>FULFILMENT / 5</a:t>
            </a:r>
            <a:endParaRPr lang="en-US" sz="1000" dirty="0"/>
          </a:p>
        </p:txBody>
      </p:sp>
      <p:sp>
        <p:nvSpPr>
          <p:cNvPr id="32" name="Text 30"/>
          <p:cNvSpPr/>
          <p:nvPr/>
        </p:nvSpPr>
        <p:spPr>
          <a:xfrm>
            <a:off x="4544568" y="5248656"/>
            <a:ext cx="3063240" cy="749808"/>
          </a:xfrm>
          <a:prstGeom prst="rect">
            <a:avLst/>
          </a:prstGeom>
          <a:noFill/>
          <a:ln/>
        </p:spPr>
        <p:txBody>
          <a:bodyPr wrap="square" lIns="0" tIns="0" rIns="0" bIns="0" rtlCol="0" anchor="t">
            <a:normAutofit/>
          </a:bodyPr>
          <a:lstStyle/>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payments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shipments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invoices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return_requests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refunds</a:t>
            </a:r>
            <a:endParaRPr lang="en-US" sz="1070" dirty="0"/>
          </a:p>
        </p:txBody>
      </p:sp>
      <p:sp>
        <p:nvSpPr>
          <p:cNvPr id="33" name="Shape 31"/>
          <p:cNvSpPr/>
          <p:nvPr/>
        </p:nvSpPr>
        <p:spPr>
          <a:xfrm>
            <a:off x="8065008" y="4773168"/>
            <a:ext cx="3456432" cy="1298448"/>
          </a:xfrm>
          <a:prstGeom prst="roundRect">
            <a:avLst>
              <a:gd name="adj" fmla="val 8451"/>
            </a:avLst>
          </a:prstGeom>
          <a:solidFill>
            <a:srgbClr val="15151C"/>
          </a:solidFill>
          <a:ln w="12700">
            <a:solidFill>
              <a:srgbClr val="34343E"/>
            </a:solidFill>
            <a:prstDash val="solid"/>
          </a:ln>
        </p:spPr>
      </p:sp>
      <p:sp>
        <p:nvSpPr>
          <p:cNvPr id="34" name="Text 32"/>
          <p:cNvSpPr/>
          <p:nvPr/>
        </p:nvSpPr>
        <p:spPr>
          <a:xfrm>
            <a:off x="8247888" y="4937760"/>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D9796D"/>
                </a:solidFill>
                <a:latin typeface="Aptos" pitchFamily="34" charset="0"/>
                <a:ea typeface="Aptos" pitchFamily="34" charset="-122"/>
                <a:cs typeface="Aptos" pitchFamily="34" charset="-120"/>
              </a:rPr>
              <a:t>FEEDBACK / 3</a:t>
            </a:r>
            <a:endParaRPr lang="en-US" sz="1000" dirty="0"/>
          </a:p>
        </p:txBody>
      </p:sp>
      <p:sp>
        <p:nvSpPr>
          <p:cNvPr id="35" name="Text 33"/>
          <p:cNvSpPr/>
          <p:nvPr/>
        </p:nvSpPr>
        <p:spPr>
          <a:xfrm>
            <a:off x="8247888" y="5248656"/>
            <a:ext cx="3063240" cy="749808"/>
          </a:xfrm>
          <a:prstGeom prst="rect">
            <a:avLst/>
          </a:prstGeom>
          <a:noFill/>
          <a:ln/>
        </p:spPr>
        <p:txBody>
          <a:bodyPr wrap="square" lIns="0" tIns="0" rIns="0" bIns="0" rtlCol="0" anchor="t">
            <a:normAutofit/>
          </a:bodyPr>
          <a:lstStyle/>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reviews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review_images</a:t>
            </a:r>
            <a:endParaRPr lang="en-US" sz="1070" dirty="0"/>
          </a:p>
          <a:p>
            <a:pPr algn="l" indent="0" marL="0">
              <a:lnSpc>
                <a:spcPct val="100000"/>
              </a:lnSpc>
              <a:buNone/>
            </a:pPr>
            <a:r>
              <a:rPr lang="en-US" sz="1070" dirty="0">
                <a:solidFill>
                  <a:srgbClr val="F4F0E8"/>
                </a:solidFill>
                <a:latin typeface="Aptos Mono" pitchFamily="34" charset="0"/>
                <a:ea typeface="Aptos Mono" pitchFamily="34" charset="-122"/>
                <a:cs typeface="Aptos Mono" pitchFamily="34" charset="-120"/>
              </a:rPr>
              <a:t>review_replies</a:t>
            </a:r>
            <a:endParaRPr lang="en-US" sz="1070" dirty="0"/>
          </a:p>
        </p:txBody>
      </p:sp>
    </p:spTree>
  </p:cSld>
  <p:clrMapOvr>
    <a:masterClrMapping/>
  </p:clrMapOvr>
  <p:transition spd="med" advClick="1">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APPENDIX B</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3000" b="1" dirty="0">
                <a:solidFill>
                  <a:srgbClr val="F4F0E8"/>
                </a:solidFill>
                <a:latin typeface="Georgia" pitchFamily="34" charset="0"/>
                <a:ea typeface="Georgia" pitchFamily="34" charset="-122"/>
                <a:cs typeface="Georgia" pitchFamily="34" charset="-120"/>
              </a:rPr>
              <a:t>Database automation makes the schema operational</a:t>
            </a:r>
            <a:endParaRPr lang="en-US" sz="30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Functions calculate, triggers protect state, and views package repeatable reporting logic.</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12</a:t>
            </a:r>
            <a:endParaRPr lang="en-US" sz="950" dirty="0"/>
          </a:p>
        </p:txBody>
      </p:sp>
      <p:sp>
        <p:nvSpPr>
          <p:cNvPr id="8" name="Shape 6"/>
          <p:cNvSpPr/>
          <p:nvPr/>
        </p:nvSpPr>
        <p:spPr>
          <a:xfrm>
            <a:off x="658368" y="1828800"/>
            <a:ext cx="3429000" cy="0"/>
          </a:xfrm>
          <a:prstGeom prst="line">
            <a:avLst/>
          </a:prstGeom>
          <a:noFill/>
          <a:ln w="25400">
            <a:solidFill>
              <a:srgbClr val="A68BC6"/>
            </a:solidFill>
            <a:prstDash val="solid"/>
            <a:headEnd type="none"/>
            <a:tailEnd type="none"/>
          </a:ln>
        </p:spPr>
      </p:sp>
      <p:sp>
        <p:nvSpPr>
          <p:cNvPr id="9" name="Text 7"/>
          <p:cNvSpPr/>
          <p:nvPr/>
        </p:nvSpPr>
        <p:spPr>
          <a:xfrm>
            <a:off x="658368" y="2039112"/>
            <a:ext cx="3429000" cy="292608"/>
          </a:xfrm>
          <a:prstGeom prst="rect">
            <a:avLst/>
          </a:prstGeom>
          <a:noFill/>
          <a:ln/>
        </p:spPr>
        <p:txBody>
          <a:bodyPr wrap="square" lIns="0" tIns="0" rIns="0" bIns="0" rtlCol="0" anchor="t">
            <a:normAutofit/>
          </a:bodyPr>
          <a:lstStyle/>
          <a:p>
            <a:pPr algn="l" indent="0" marL="0">
              <a:lnSpc>
                <a:spcPct val="100000"/>
              </a:lnSpc>
              <a:buNone/>
            </a:pPr>
            <a:r>
              <a:rPr lang="en-US" sz="2000" b="1" dirty="0">
                <a:solidFill>
                  <a:srgbClr val="A68BC6"/>
                </a:solidFill>
                <a:latin typeface="Georgia" pitchFamily="34" charset="0"/>
                <a:ea typeface="Georgia" pitchFamily="34" charset="-122"/>
                <a:cs typeface="Georgia" pitchFamily="34" charset="-120"/>
              </a:rPr>
              <a:t>12 FUNCTIONS</a:t>
            </a:r>
            <a:endParaRPr lang="en-US" sz="2000" dirty="0"/>
          </a:p>
        </p:txBody>
      </p:sp>
      <p:sp>
        <p:nvSpPr>
          <p:cNvPr id="10" name="Text 8"/>
          <p:cNvSpPr/>
          <p:nvPr/>
        </p:nvSpPr>
        <p:spPr>
          <a:xfrm>
            <a:off x="658368" y="2578608"/>
            <a:ext cx="3429000" cy="3310128"/>
          </a:xfrm>
          <a:prstGeom prst="rect">
            <a:avLst/>
          </a:prstGeom>
          <a:noFill/>
          <a:ln/>
        </p:spPr>
        <p:txBody>
          <a:bodyPr wrap="square" lIns="0" tIns="0" rIns="0" bIns="0" rtlCol="0" anchor="t">
            <a:normAutofit/>
          </a:bodyPr>
          <a:lstStyle/>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calculate_order_total</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get_customer_lifetime_value</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get_available_stock</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get_product_average_rating</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get_best_selling_products</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get_monthly_revenue</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calculate_stock_valuation</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validate_coupon</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calculate_shipment_eta</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check_return_eligibility</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generate_order_number</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generate_invoice_number</a:t>
            </a:r>
            <a:endParaRPr lang="en-US" sz="1120" dirty="0"/>
          </a:p>
        </p:txBody>
      </p:sp>
      <p:sp>
        <p:nvSpPr>
          <p:cNvPr id="11" name="Shape 9"/>
          <p:cNvSpPr/>
          <p:nvPr/>
        </p:nvSpPr>
        <p:spPr>
          <a:xfrm>
            <a:off x="4379976" y="1828800"/>
            <a:ext cx="3429000" cy="0"/>
          </a:xfrm>
          <a:prstGeom prst="line">
            <a:avLst/>
          </a:prstGeom>
          <a:noFill/>
          <a:ln w="25400">
            <a:solidFill>
              <a:srgbClr val="65B88A"/>
            </a:solidFill>
            <a:prstDash val="solid"/>
            <a:headEnd type="none"/>
            <a:tailEnd type="none"/>
          </a:ln>
        </p:spPr>
      </p:sp>
      <p:sp>
        <p:nvSpPr>
          <p:cNvPr id="12" name="Text 10"/>
          <p:cNvSpPr/>
          <p:nvPr/>
        </p:nvSpPr>
        <p:spPr>
          <a:xfrm>
            <a:off x="4379976" y="2039112"/>
            <a:ext cx="3429000" cy="292608"/>
          </a:xfrm>
          <a:prstGeom prst="rect">
            <a:avLst/>
          </a:prstGeom>
          <a:noFill/>
          <a:ln/>
        </p:spPr>
        <p:txBody>
          <a:bodyPr wrap="square" lIns="0" tIns="0" rIns="0" bIns="0" rtlCol="0" anchor="t">
            <a:normAutofit/>
          </a:bodyPr>
          <a:lstStyle/>
          <a:p>
            <a:pPr algn="l" indent="0" marL="0">
              <a:lnSpc>
                <a:spcPct val="100000"/>
              </a:lnSpc>
              <a:buNone/>
            </a:pPr>
            <a:r>
              <a:rPr lang="en-US" sz="2000" b="1" dirty="0">
                <a:solidFill>
                  <a:srgbClr val="65B88A"/>
                </a:solidFill>
                <a:latin typeface="Georgia" pitchFamily="34" charset="0"/>
                <a:ea typeface="Georgia" pitchFamily="34" charset="-122"/>
                <a:cs typeface="Georgia" pitchFamily="34" charset="-120"/>
              </a:rPr>
              <a:t>11 TRIGGERS</a:t>
            </a:r>
            <a:endParaRPr lang="en-US" sz="2000" dirty="0"/>
          </a:p>
        </p:txBody>
      </p:sp>
      <p:sp>
        <p:nvSpPr>
          <p:cNvPr id="13" name="Text 11"/>
          <p:cNvSpPr/>
          <p:nvPr/>
        </p:nvSpPr>
        <p:spPr>
          <a:xfrm>
            <a:off x="4379976" y="2578608"/>
            <a:ext cx="3429000" cy="3310128"/>
          </a:xfrm>
          <a:prstGeom prst="rect">
            <a:avLst/>
          </a:prstGeom>
          <a:noFill/>
          <a:ln/>
        </p:spPr>
        <p:txBody>
          <a:bodyPr wrap="square" lIns="0" tIns="0" rIns="0" bIns="0" rtlCol="0" anchor="t">
            <a:normAutofit/>
          </a:bodyPr>
          <a:lstStyle/>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generate order number</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log order-status change</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deduct inventory</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reserve inventory</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restore stock on cancellation</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restore stock on return</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prevent negative inventory</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auto-create invoice</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increment coupon usage</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prevent duplicate review</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initialize cart + wishlist</a:t>
            </a:r>
            <a:endParaRPr lang="en-US" sz="1120" dirty="0"/>
          </a:p>
        </p:txBody>
      </p:sp>
      <p:sp>
        <p:nvSpPr>
          <p:cNvPr id="14" name="Shape 12"/>
          <p:cNvSpPr/>
          <p:nvPr/>
        </p:nvSpPr>
        <p:spPr>
          <a:xfrm>
            <a:off x="8101584" y="1828800"/>
            <a:ext cx="3429000" cy="0"/>
          </a:xfrm>
          <a:prstGeom prst="line">
            <a:avLst/>
          </a:prstGeom>
          <a:noFill/>
          <a:ln w="25400">
            <a:solidFill>
              <a:srgbClr val="C9A96E"/>
            </a:solidFill>
            <a:prstDash val="solid"/>
            <a:headEnd type="none"/>
            <a:tailEnd type="none"/>
          </a:ln>
        </p:spPr>
      </p:sp>
      <p:sp>
        <p:nvSpPr>
          <p:cNvPr id="15" name="Text 13"/>
          <p:cNvSpPr/>
          <p:nvPr/>
        </p:nvSpPr>
        <p:spPr>
          <a:xfrm>
            <a:off x="8101584" y="2039112"/>
            <a:ext cx="3429000" cy="292608"/>
          </a:xfrm>
          <a:prstGeom prst="rect">
            <a:avLst/>
          </a:prstGeom>
          <a:noFill/>
          <a:ln/>
        </p:spPr>
        <p:txBody>
          <a:bodyPr wrap="square" lIns="0" tIns="0" rIns="0" bIns="0" rtlCol="0" anchor="t">
            <a:normAutofit/>
          </a:bodyPr>
          <a:lstStyle/>
          <a:p>
            <a:pPr algn="l" indent="0" marL="0">
              <a:lnSpc>
                <a:spcPct val="100000"/>
              </a:lnSpc>
              <a:buNone/>
            </a:pPr>
            <a:r>
              <a:rPr lang="en-US" sz="2000" b="1" dirty="0">
                <a:solidFill>
                  <a:srgbClr val="C9A96E"/>
                </a:solidFill>
                <a:latin typeface="Georgia" pitchFamily="34" charset="0"/>
                <a:ea typeface="Georgia" pitchFamily="34" charset="-122"/>
                <a:cs typeface="Georgia" pitchFamily="34" charset="-120"/>
              </a:rPr>
              <a:t>17 VIEWS</a:t>
            </a:r>
            <a:endParaRPr lang="en-US" sz="2000" dirty="0"/>
          </a:p>
        </p:txBody>
      </p:sp>
      <p:sp>
        <p:nvSpPr>
          <p:cNvPr id="16" name="Text 14"/>
          <p:cNvSpPr/>
          <p:nvPr/>
        </p:nvSpPr>
        <p:spPr>
          <a:xfrm>
            <a:off x="8101584" y="2578608"/>
            <a:ext cx="3429000" cy="3310128"/>
          </a:xfrm>
          <a:prstGeom prst="rect">
            <a:avLst/>
          </a:prstGeom>
          <a:noFill/>
          <a:ln/>
        </p:spPr>
        <p:txBody>
          <a:bodyPr wrap="square" lIns="0" tIns="0" rIns="0" bIns="0" rtlCol="0" anchor="t">
            <a:normAutofit/>
          </a:bodyPr>
          <a:lstStyle/>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available products • best sellers</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customer order history • top rated</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inventory status • low stock</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revenue by brand • category</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monthly sales • warehouse inventory</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customer lifetime value</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coupon performance • return analysis</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supplier performance</a:t>
            </a:r>
            <a:endParaRPr lang="en-US" sz="1120" dirty="0"/>
          </a:p>
          <a:p>
            <a:pPr algn="l" indent="0" marL="0">
              <a:lnSpc>
                <a:spcPct val="100000"/>
              </a:lnSpc>
              <a:buNone/>
            </a:pP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MATERIALIZED</a:t>
            </a:r>
            <a:endParaRPr lang="en-US" sz="1120" dirty="0"/>
          </a:p>
          <a:p>
            <a:pPr algn="l" indent="0" marL="0">
              <a:lnSpc>
                <a:spcPct val="100000"/>
              </a:lnSpc>
              <a:buNone/>
            </a:pPr>
            <a:r>
              <a:rPr lang="en-US" sz="1120" dirty="0">
                <a:solidFill>
                  <a:srgbClr val="F4F0E8"/>
                </a:solidFill>
                <a:latin typeface="Aptos Mono" pitchFamily="34" charset="0"/>
                <a:ea typeface="Aptos Mono" pitchFamily="34" charset="-122"/>
                <a:cs typeface="Aptos Mono" pitchFamily="34" charset="-120"/>
              </a:rPr>
              <a:t>product sales • daily revenue • inventory health</a:t>
            </a:r>
            <a:endParaRPr lang="en-US" sz="1120" dirty="0"/>
          </a:p>
        </p:txBody>
      </p:sp>
    </p:spTree>
  </p:cSld>
  <p:clrMapOvr>
    <a:masterClrMapping/>
  </p:clrMapOvr>
  <p:transition spd="med" advClick="1">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9090D"/>
        </a:solidFill>
      </p:bgPr>
    </p:bg>
    <p:spTree>
      <p:nvGrpSpPr>
        <p:cNvPr id="1" name=""/>
        <p:cNvGrpSpPr/>
        <p:nvPr/>
      </p:nvGrpSpPr>
      <p:grpSpPr>
        <a:xfrm>
          <a:off x="0" y="0"/>
          <a:ext cx="0" cy="0"/>
          <a:chOff x="0" y="0"/>
          <a:chExt cx="0" cy="0"/>
        </a:xfrm>
      </p:grpSpPr>
      <p:sp>
        <p:nvSpPr>
          <p:cNvPr id="2" name="Text 0"/>
          <p:cNvSpPr/>
          <p:nvPr/>
        </p:nvSpPr>
        <p:spPr>
          <a:xfrm>
            <a:off x="658368" y="347472"/>
            <a:ext cx="4114800" cy="228600"/>
          </a:xfrm>
          <a:prstGeom prst="rect">
            <a:avLst/>
          </a:prstGeom>
          <a:noFill/>
          <a:ln/>
        </p:spPr>
        <p:txBody>
          <a:bodyPr wrap="square" lIns="0" tIns="0" rIns="0" bIns="0" rtlCol="0" anchor="t">
            <a:normAutofit/>
          </a:bodyPr>
          <a:lstStyle/>
          <a:p>
            <a:pPr algn="l" indent="0" marL="0">
              <a:lnSpc>
                <a:spcPct val="100000"/>
              </a:lnSpc>
              <a:buNone/>
            </a:pPr>
            <a:r>
              <a:rPr lang="en-US" sz="1050" b="1" spc="180" kern="0" dirty="0">
                <a:solidFill>
                  <a:srgbClr val="C9A96E"/>
                </a:solidFill>
                <a:latin typeface="Aptos" pitchFamily="34" charset="0"/>
                <a:ea typeface="Aptos" pitchFamily="34" charset="-122"/>
                <a:cs typeface="Aptos" pitchFamily="34" charset="-120"/>
              </a:rPr>
              <a:t>APPENDIX C</a:t>
            </a:r>
            <a:endParaRPr lang="en-US" sz="1050" dirty="0"/>
          </a:p>
        </p:txBody>
      </p:sp>
      <p:sp>
        <p:nvSpPr>
          <p:cNvPr id="3" name="Text 1"/>
          <p:cNvSpPr/>
          <p:nvPr/>
        </p:nvSpPr>
        <p:spPr>
          <a:xfrm>
            <a:off x="658368" y="658368"/>
            <a:ext cx="10835640" cy="576072"/>
          </a:xfrm>
          <a:prstGeom prst="rect">
            <a:avLst/>
          </a:prstGeom>
          <a:noFill/>
          <a:ln/>
        </p:spPr>
        <p:txBody>
          <a:bodyPr wrap="square" lIns="0" tIns="0" rIns="0" bIns="0" rtlCol="0" anchor="t">
            <a:normAutofit/>
          </a:bodyPr>
          <a:lstStyle/>
          <a:p>
            <a:pPr algn="l" indent="0" marL="0">
              <a:lnSpc>
                <a:spcPct val="100000"/>
              </a:lnSpc>
              <a:buNone/>
            </a:pPr>
            <a:r>
              <a:rPr lang="en-US" sz="2700" b="1" dirty="0">
                <a:solidFill>
                  <a:srgbClr val="F4F0E8"/>
                </a:solidFill>
                <a:latin typeface="Georgia" pitchFamily="34" charset="0"/>
                <a:ea typeface="Georgia" pitchFamily="34" charset="-122"/>
                <a:cs typeface="Georgia" pitchFamily="34" charset="-120"/>
              </a:rPr>
              <a:t>The repository contains a target model and an active core</a:t>
            </a:r>
            <a:endParaRPr lang="en-US" sz="2700" dirty="0"/>
          </a:p>
        </p:txBody>
      </p:sp>
      <p:sp>
        <p:nvSpPr>
          <p:cNvPr id="4" name="Text 2"/>
          <p:cNvSpPr/>
          <p:nvPr/>
        </p:nvSpPr>
        <p:spPr>
          <a:xfrm>
            <a:off x="658368" y="1271016"/>
            <a:ext cx="10652760" cy="347472"/>
          </a:xfrm>
          <a:prstGeom prst="rect">
            <a:avLst/>
          </a:prstGeom>
          <a:noFill/>
          <a:ln/>
        </p:spPr>
        <p:txBody>
          <a:bodyPr wrap="square" lIns="0" tIns="0" rIns="0" bIns="0" rtlCol="0" anchor="t">
            <a:normAutofit/>
          </a:bodyPr>
          <a:lstStyle/>
          <a:p>
            <a:pPr algn="l" indent="0" marL="0">
              <a:lnSpc>
                <a:spcPct val="100000"/>
              </a:lnSpc>
              <a:buNone/>
            </a:pPr>
            <a:r>
              <a:rPr lang="en-US" sz="1550" dirty="0">
                <a:solidFill>
                  <a:srgbClr val="A8A39A"/>
                </a:solidFill>
                <a:latin typeface="Aptos" pitchFamily="34" charset="0"/>
                <a:ea typeface="Aptos" pitchFamily="34" charset="-122"/>
                <a:cs typeface="Aptos" pitchFamily="34" charset="-120"/>
              </a:rPr>
              <a:t>This distinction explains why some domain routers exist in code but are not yet enabled.</a:t>
            </a:r>
            <a:endParaRPr lang="en-US" sz="1550" dirty="0"/>
          </a:p>
        </p:txBody>
      </p:sp>
      <p:sp>
        <p:nvSpPr>
          <p:cNvPr id="5" name="Shape 3"/>
          <p:cNvSpPr/>
          <p:nvPr/>
        </p:nvSpPr>
        <p:spPr>
          <a:xfrm>
            <a:off x="658368" y="6428232"/>
            <a:ext cx="10863072" cy="0"/>
          </a:xfrm>
          <a:prstGeom prst="line">
            <a:avLst/>
          </a:prstGeom>
          <a:noFill/>
          <a:ln w="10160">
            <a:solidFill>
              <a:srgbClr val="34343E"/>
            </a:solidFill>
            <a:prstDash val="solid"/>
            <a:headEnd type="none"/>
            <a:tailEnd type="none"/>
          </a:ln>
        </p:spPr>
      </p:sp>
      <p:sp>
        <p:nvSpPr>
          <p:cNvPr id="6" name="Text 4"/>
          <p:cNvSpPr/>
          <p:nvPr/>
        </p:nvSpPr>
        <p:spPr>
          <a:xfrm>
            <a:off x="658368" y="6501384"/>
            <a:ext cx="2834640" cy="146304"/>
          </a:xfrm>
          <a:prstGeom prst="rect">
            <a:avLst/>
          </a:prstGeom>
          <a:noFill/>
          <a:ln/>
        </p:spPr>
        <p:txBody>
          <a:bodyPr wrap="square" lIns="0" tIns="0" rIns="0" bIns="0" rtlCol="0" anchor="t">
            <a:normAutofit/>
          </a:bodyPr>
          <a:lstStyle/>
          <a:p>
            <a:pPr algn="l" indent="0" marL="0">
              <a:lnSpc>
                <a:spcPct val="100000"/>
              </a:lnSpc>
              <a:buNone/>
            </a:pPr>
            <a:r>
              <a:rPr lang="en-US" sz="870" b="1" spc="110" kern="0" dirty="0">
                <a:solidFill>
                  <a:srgbClr val="6F6B66"/>
                </a:solidFill>
                <a:latin typeface="Aptos" pitchFamily="34" charset="0"/>
                <a:ea typeface="Aptos" pitchFamily="34" charset="-122"/>
                <a:cs typeface="Aptos" pitchFamily="34" charset="-120"/>
              </a:rPr>
              <a:t>GO DRIP  /  DBMS PROJECT</a:t>
            </a:r>
            <a:endParaRPr lang="en-US" sz="870" dirty="0"/>
          </a:p>
        </p:txBody>
      </p:sp>
      <p:sp>
        <p:nvSpPr>
          <p:cNvPr id="7" name="Text 5"/>
          <p:cNvSpPr/>
          <p:nvPr/>
        </p:nvSpPr>
        <p:spPr>
          <a:xfrm>
            <a:off x="11082528" y="6483096"/>
            <a:ext cx="420624" cy="155448"/>
          </a:xfrm>
          <a:prstGeom prst="rect">
            <a:avLst/>
          </a:prstGeom>
          <a:noFill/>
          <a:ln/>
        </p:spPr>
        <p:txBody>
          <a:bodyPr wrap="square" lIns="0" tIns="0" rIns="0" bIns="0" rtlCol="0" anchor="t">
            <a:normAutofit/>
          </a:bodyPr>
          <a:lstStyle/>
          <a:p>
            <a:pPr algn="r" indent="0" marL="0">
              <a:lnSpc>
                <a:spcPct val="100000"/>
              </a:lnSpc>
              <a:buNone/>
            </a:pPr>
            <a:r>
              <a:rPr lang="en-US" sz="950" b="1" dirty="0">
                <a:solidFill>
                  <a:srgbClr val="C9A96E"/>
                </a:solidFill>
                <a:latin typeface="Aptos" pitchFamily="34" charset="0"/>
                <a:ea typeface="Aptos" pitchFamily="34" charset="-122"/>
                <a:cs typeface="Aptos" pitchFamily="34" charset="-120"/>
              </a:rPr>
              <a:t>13</a:t>
            </a:r>
            <a:endParaRPr lang="en-US" sz="950" dirty="0"/>
          </a:p>
        </p:txBody>
      </p:sp>
      <p:sp>
        <p:nvSpPr>
          <p:cNvPr id="8" name="Shape 6"/>
          <p:cNvSpPr/>
          <p:nvPr/>
        </p:nvSpPr>
        <p:spPr>
          <a:xfrm>
            <a:off x="3886200" y="3429000"/>
            <a:ext cx="777240" cy="0"/>
          </a:xfrm>
          <a:prstGeom prst="line">
            <a:avLst/>
          </a:prstGeom>
          <a:noFill/>
          <a:ln w="22860">
            <a:solidFill>
              <a:srgbClr val="C9A96E"/>
            </a:solidFill>
            <a:prstDash val="solid"/>
            <a:headEnd type="none"/>
            <a:tailEnd type="triangle"/>
          </a:ln>
        </p:spPr>
      </p:sp>
      <p:sp>
        <p:nvSpPr>
          <p:cNvPr id="9" name="Shape 7"/>
          <p:cNvSpPr/>
          <p:nvPr/>
        </p:nvSpPr>
        <p:spPr>
          <a:xfrm>
            <a:off x="7516368" y="3429000"/>
            <a:ext cx="758952" cy="0"/>
          </a:xfrm>
          <a:prstGeom prst="line">
            <a:avLst/>
          </a:prstGeom>
          <a:noFill/>
          <a:ln w="22860">
            <a:solidFill>
              <a:srgbClr val="65B88A"/>
            </a:solidFill>
            <a:prstDash val="solid"/>
            <a:headEnd type="none"/>
            <a:tailEnd type="triangle"/>
          </a:ln>
        </p:spPr>
      </p:sp>
      <p:sp>
        <p:nvSpPr>
          <p:cNvPr id="10" name="Shape 8"/>
          <p:cNvSpPr/>
          <p:nvPr/>
        </p:nvSpPr>
        <p:spPr>
          <a:xfrm>
            <a:off x="713232" y="2057400"/>
            <a:ext cx="3172968" cy="2926080"/>
          </a:xfrm>
          <a:prstGeom prst="roundRect">
            <a:avLst>
              <a:gd name="adj" fmla="val 3750"/>
            </a:avLst>
          </a:prstGeom>
          <a:solidFill>
            <a:srgbClr val="15151C"/>
          </a:solidFill>
          <a:ln w="16510">
            <a:solidFill>
              <a:srgbClr val="C9A96E"/>
            </a:solidFill>
            <a:prstDash val="solid"/>
          </a:ln>
        </p:spPr>
      </p:sp>
      <p:sp>
        <p:nvSpPr>
          <p:cNvPr id="11" name="Text 9"/>
          <p:cNvSpPr/>
          <p:nvPr/>
        </p:nvSpPr>
        <p:spPr>
          <a:xfrm>
            <a:off x="987552" y="235915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C9A96E"/>
                </a:solidFill>
                <a:latin typeface="Aptos" pitchFamily="34" charset="0"/>
                <a:ea typeface="Aptos" pitchFamily="34" charset="-122"/>
                <a:cs typeface="Aptos" pitchFamily="34" charset="-120"/>
              </a:rPr>
              <a:t>TARGET DESIGN</a:t>
            </a:r>
            <a:endParaRPr lang="en-US" sz="1000" dirty="0"/>
          </a:p>
        </p:txBody>
      </p:sp>
      <p:sp>
        <p:nvSpPr>
          <p:cNvPr id="12" name="Text 10"/>
          <p:cNvSpPr/>
          <p:nvPr/>
        </p:nvSpPr>
        <p:spPr>
          <a:xfrm>
            <a:off x="987552" y="2761488"/>
            <a:ext cx="2651760" cy="457200"/>
          </a:xfrm>
          <a:prstGeom prst="rect">
            <a:avLst/>
          </a:prstGeom>
          <a:noFill/>
          <a:ln/>
        </p:spPr>
        <p:txBody>
          <a:bodyPr wrap="square" lIns="0" tIns="0" rIns="0" bIns="0" rtlCol="0" anchor="t">
            <a:normAutofit/>
          </a:bodyPr>
          <a:lstStyle/>
          <a:p>
            <a:pPr algn="l" indent="0" marL="0">
              <a:lnSpc>
                <a:spcPct val="100000"/>
              </a:lnSpc>
              <a:buNone/>
            </a:pPr>
            <a:r>
              <a:rPr lang="en-US" sz="2800" b="1" dirty="0">
                <a:solidFill>
                  <a:srgbClr val="F4F0E8"/>
                </a:solidFill>
                <a:latin typeface="Georgia" pitchFamily="34" charset="0"/>
                <a:ea typeface="Georgia" pitchFamily="34" charset="-122"/>
                <a:cs typeface="Georgia" pitchFamily="34" charset="-120"/>
              </a:rPr>
              <a:t>45 TABLES</a:t>
            </a:r>
            <a:endParaRPr lang="en-US" sz="2800" dirty="0"/>
          </a:p>
        </p:txBody>
      </p:sp>
      <p:sp>
        <p:nvSpPr>
          <p:cNvPr id="13" name="Text 11"/>
          <p:cNvSpPr/>
          <p:nvPr/>
        </p:nvSpPr>
        <p:spPr>
          <a:xfrm>
            <a:off x="987552" y="3456432"/>
            <a:ext cx="2514600" cy="1005840"/>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Normalized PostgreSQL schema</a:t>
            </a:r>
            <a:endParaRPr lang="en-US" sz="1500" dirty="0"/>
          </a:p>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Migrations, constraints and automation</a:t>
            </a:r>
            <a:endParaRPr lang="en-US" sz="1500" dirty="0"/>
          </a:p>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Full domain coverage</a:t>
            </a:r>
            <a:endParaRPr lang="en-US" sz="1500" dirty="0"/>
          </a:p>
        </p:txBody>
      </p:sp>
      <p:sp>
        <p:nvSpPr>
          <p:cNvPr id="14" name="Shape 12"/>
          <p:cNvSpPr/>
          <p:nvPr/>
        </p:nvSpPr>
        <p:spPr>
          <a:xfrm>
            <a:off x="4663440" y="2057400"/>
            <a:ext cx="2852928" cy="2926080"/>
          </a:xfrm>
          <a:prstGeom prst="roundRect">
            <a:avLst>
              <a:gd name="adj" fmla="val 3846"/>
            </a:avLst>
          </a:prstGeom>
          <a:solidFill>
            <a:srgbClr val="1D1D26"/>
          </a:solidFill>
          <a:ln w="16510">
            <a:solidFill>
              <a:srgbClr val="D9796D"/>
            </a:solidFill>
            <a:prstDash val="solid"/>
          </a:ln>
        </p:spPr>
      </p:sp>
      <p:sp>
        <p:nvSpPr>
          <p:cNvPr id="15" name="Text 13"/>
          <p:cNvSpPr/>
          <p:nvPr/>
        </p:nvSpPr>
        <p:spPr>
          <a:xfrm>
            <a:off x="4937760" y="235915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D9796D"/>
                </a:solidFill>
                <a:latin typeface="Aptos" pitchFamily="34" charset="0"/>
                <a:ea typeface="Aptos" pitchFamily="34" charset="-122"/>
                <a:cs typeface="Aptos" pitchFamily="34" charset="-120"/>
              </a:rPr>
              <a:t>ACTIVE API CORE</a:t>
            </a:r>
            <a:endParaRPr lang="en-US" sz="1000" dirty="0"/>
          </a:p>
        </p:txBody>
      </p:sp>
      <p:sp>
        <p:nvSpPr>
          <p:cNvPr id="16" name="Text 14"/>
          <p:cNvSpPr/>
          <p:nvPr/>
        </p:nvSpPr>
        <p:spPr>
          <a:xfrm>
            <a:off x="4937760" y="2761488"/>
            <a:ext cx="2331720" cy="457200"/>
          </a:xfrm>
          <a:prstGeom prst="rect">
            <a:avLst/>
          </a:prstGeom>
          <a:noFill/>
          <a:ln/>
        </p:spPr>
        <p:txBody>
          <a:bodyPr wrap="square" lIns="0" tIns="0" rIns="0" bIns="0" rtlCol="0" anchor="t">
            <a:normAutofit/>
          </a:bodyPr>
          <a:lstStyle/>
          <a:p>
            <a:pPr algn="l" indent="0" marL="0">
              <a:lnSpc>
                <a:spcPct val="100000"/>
              </a:lnSpc>
              <a:buNone/>
            </a:pPr>
            <a:r>
              <a:rPr lang="en-US" sz="2800" b="1" dirty="0">
                <a:solidFill>
                  <a:srgbClr val="F4F0E8"/>
                </a:solidFill>
                <a:latin typeface="Georgia" pitchFamily="34" charset="0"/>
                <a:ea typeface="Georgia" pitchFamily="34" charset="-122"/>
                <a:cs typeface="Georgia" pitchFamily="34" charset="-120"/>
              </a:rPr>
              <a:t>10 MODELS</a:t>
            </a:r>
            <a:endParaRPr lang="en-US" sz="2800" dirty="0"/>
          </a:p>
        </p:txBody>
      </p:sp>
      <p:sp>
        <p:nvSpPr>
          <p:cNvPr id="17" name="Text 15"/>
          <p:cNvSpPr/>
          <p:nvPr/>
        </p:nvSpPr>
        <p:spPr>
          <a:xfrm>
            <a:off x="4937760" y="3456432"/>
            <a:ext cx="2267712" cy="1051560"/>
          </a:xfrm>
          <a:prstGeom prst="rect">
            <a:avLst/>
          </a:prstGeom>
          <a:noFill/>
          <a:ln/>
        </p:spPr>
        <p:txBody>
          <a:bodyPr wrap="square" lIns="0" tIns="0" rIns="0" bIns="0" rtlCol="0" anchor="t">
            <a:normAutofit/>
          </a:bodyPr>
          <a:lstStyle/>
          <a:p>
            <a:pPr algn="l" indent="0" marL="0">
              <a:lnSpc>
                <a:spcPct val="100000"/>
              </a:lnSpc>
              <a:buNone/>
            </a:pPr>
            <a:r>
              <a:rPr lang="en-US" sz="1060" dirty="0">
                <a:solidFill>
                  <a:srgbClr val="A8A39A"/>
                </a:solidFill>
                <a:latin typeface="Aptos Mono" pitchFamily="34" charset="0"/>
                <a:ea typeface="Aptos Mono" pitchFamily="34" charset="-122"/>
                <a:cs typeface="Aptos Mono" pitchFamily="34" charset="-120"/>
              </a:rPr>
              <a:t>customers • categories • suppliers</a:t>
            </a:r>
            <a:endParaRPr lang="en-US" sz="1060" dirty="0"/>
          </a:p>
          <a:p>
            <a:pPr algn="l" indent="0" marL="0">
              <a:lnSpc>
                <a:spcPct val="100000"/>
              </a:lnSpc>
              <a:buNone/>
            </a:pPr>
            <a:r>
              <a:rPr lang="en-US" sz="1060" dirty="0">
                <a:solidFill>
                  <a:srgbClr val="A8A39A"/>
                </a:solidFill>
                <a:latin typeface="Aptos Mono" pitchFamily="34" charset="0"/>
                <a:ea typeface="Aptos Mono" pitchFamily="34" charset="-122"/>
                <a:cs typeface="Aptos Mono" pitchFamily="34" charset="-120"/>
              </a:rPr>
              <a:t>products • orders • order_items</a:t>
            </a:r>
            <a:endParaRPr lang="en-US" sz="1060" dirty="0"/>
          </a:p>
          <a:p>
            <a:pPr algn="l" indent="0" marL="0">
              <a:lnSpc>
                <a:spcPct val="100000"/>
              </a:lnSpc>
              <a:buNone/>
            </a:pPr>
            <a:r>
              <a:rPr lang="en-US" sz="1060" dirty="0">
                <a:solidFill>
                  <a:srgbClr val="A8A39A"/>
                </a:solidFill>
                <a:latin typeface="Aptos Mono" pitchFamily="34" charset="0"/>
                <a:ea typeface="Aptos Mono" pitchFamily="34" charset="-122"/>
                <a:cs typeface="Aptos Mono" pitchFamily="34" charset="-120"/>
              </a:rPr>
              <a:t>payments • shipments • reviews • cart_items</a:t>
            </a:r>
            <a:endParaRPr lang="en-US" sz="1060" dirty="0"/>
          </a:p>
        </p:txBody>
      </p:sp>
      <p:sp>
        <p:nvSpPr>
          <p:cNvPr id="18" name="Shape 16"/>
          <p:cNvSpPr/>
          <p:nvPr/>
        </p:nvSpPr>
        <p:spPr>
          <a:xfrm>
            <a:off x="8275320" y="2057400"/>
            <a:ext cx="3218688" cy="2926080"/>
          </a:xfrm>
          <a:prstGeom prst="roundRect">
            <a:avLst>
              <a:gd name="adj" fmla="val 3750"/>
            </a:avLst>
          </a:prstGeom>
          <a:solidFill>
            <a:srgbClr val="15151C"/>
          </a:solidFill>
          <a:ln w="16510">
            <a:solidFill>
              <a:srgbClr val="65B88A"/>
            </a:solidFill>
            <a:prstDash val="solid"/>
          </a:ln>
        </p:spPr>
      </p:sp>
      <p:sp>
        <p:nvSpPr>
          <p:cNvPr id="19" name="Text 17"/>
          <p:cNvSpPr/>
          <p:nvPr/>
        </p:nvSpPr>
        <p:spPr>
          <a:xfrm>
            <a:off x="8549640" y="2359152"/>
            <a:ext cx="2560320" cy="201168"/>
          </a:xfrm>
          <a:prstGeom prst="rect">
            <a:avLst/>
          </a:prstGeom>
          <a:noFill/>
          <a:ln/>
        </p:spPr>
        <p:txBody>
          <a:bodyPr wrap="square" lIns="0" tIns="0" rIns="0" bIns="0" rtlCol="0" anchor="t">
            <a:normAutofit/>
          </a:bodyPr>
          <a:lstStyle/>
          <a:p>
            <a:pPr algn="l" indent="0" marL="0">
              <a:lnSpc>
                <a:spcPct val="100000"/>
              </a:lnSpc>
              <a:buNone/>
            </a:pPr>
            <a:r>
              <a:rPr lang="en-US" sz="1000" b="1" spc="140" kern="0" dirty="0">
                <a:solidFill>
                  <a:srgbClr val="65B88A"/>
                </a:solidFill>
                <a:latin typeface="Aptos" pitchFamily="34" charset="0"/>
                <a:ea typeface="Aptos" pitchFamily="34" charset="-122"/>
                <a:cs typeface="Aptos" pitchFamily="34" charset="-120"/>
              </a:rPr>
              <a:t>NEXT DEPLOYMENT</a:t>
            </a:r>
            <a:endParaRPr lang="en-US" sz="1000" dirty="0"/>
          </a:p>
        </p:txBody>
      </p:sp>
      <p:sp>
        <p:nvSpPr>
          <p:cNvPr id="20" name="Text 18"/>
          <p:cNvSpPr/>
          <p:nvPr/>
        </p:nvSpPr>
        <p:spPr>
          <a:xfrm>
            <a:off x="8549640" y="2761488"/>
            <a:ext cx="2633472" cy="457200"/>
          </a:xfrm>
          <a:prstGeom prst="rect">
            <a:avLst/>
          </a:prstGeom>
          <a:noFill/>
          <a:ln/>
        </p:spPr>
        <p:txBody>
          <a:bodyPr wrap="square" lIns="0" tIns="0" rIns="0" bIns="0" rtlCol="0" anchor="t">
            <a:normAutofit/>
          </a:bodyPr>
          <a:lstStyle/>
          <a:p>
            <a:pPr algn="l" indent="0" marL="0">
              <a:lnSpc>
                <a:spcPct val="100000"/>
              </a:lnSpc>
              <a:buNone/>
            </a:pPr>
            <a:r>
              <a:rPr lang="en-US" sz="2800" b="1" dirty="0">
                <a:solidFill>
                  <a:srgbClr val="F4F0E8"/>
                </a:solidFill>
                <a:latin typeface="Georgia" pitchFamily="34" charset="0"/>
                <a:ea typeface="Georgia" pitchFamily="34" charset="-122"/>
                <a:cs typeface="Georgia" pitchFamily="34" charset="-120"/>
              </a:rPr>
              <a:t>ONE SCHEMA</a:t>
            </a:r>
            <a:endParaRPr lang="en-US" sz="2800" dirty="0"/>
          </a:p>
        </p:txBody>
      </p:sp>
      <p:sp>
        <p:nvSpPr>
          <p:cNvPr id="21" name="Text 19"/>
          <p:cNvSpPr/>
          <p:nvPr/>
        </p:nvSpPr>
        <p:spPr>
          <a:xfrm>
            <a:off x="8549640" y="3456432"/>
            <a:ext cx="2578608" cy="1005840"/>
          </a:xfrm>
          <a:prstGeom prst="rect">
            <a:avLst/>
          </a:prstGeom>
          <a:noFill/>
          <a:ln/>
        </p:spPr>
        <p:txBody>
          <a:bodyPr wrap="square" lIns="0" tIns="0" rIns="0" bIns="0" rtlCol="0" anchor="t">
            <a:normAutofit/>
          </a:bodyPr>
          <a:lstStyle/>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Align SQL + Alembic + ORM</a:t>
            </a:r>
            <a:endParaRPr lang="en-US" sz="1500" dirty="0"/>
          </a:p>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Map remaining domain models</a:t>
            </a:r>
            <a:endParaRPr lang="en-US" sz="1500" dirty="0"/>
          </a:p>
          <a:p>
            <a:pPr algn="l" indent="0" marL="0">
              <a:lnSpc>
                <a:spcPct val="100000"/>
              </a:lnSpc>
              <a:buNone/>
            </a:pPr>
            <a:r>
              <a:rPr lang="en-US" sz="1500" dirty="0">
                <a:solidFill>
                  <a:srgbClr val="A8A39A"/>
                </a:solidFill>
                <a:latin typeface="Aptos" pitchFamily="34" charset="0"/>
                <a:ea typeface="Aptos" pitchFamily="34" charset="-122"/>
                <a:cs typeface="Aptos" pitchFamily="34" charset="-120"/>
              </a:rPr>
              <a:t>Enable routers and integration tests</a:t>
            </a:r>
            <a:endParaRPr lang="en-US" sz="1500" dirty="0"/>
          </a:p>
        </p:txBody>
      </p:sp>
      <p:sp>
        <p:nvSpPr>
          <p:cNvPr id="22" name="Text 20"/>
          <p:cNvSpPr/>
          <p:nvPr/>
        </p:nvSpPr>
        <p:spPr>
          <a:xfrm>
            <a:off x="1051560" y="5632704"/>
            <a:ext cx="10104120" cy="365760"/>
          </a:xfrm>
          <a:prstGeom prst="rect">
            <a:avLst/>
          </a:prstGeom>
          <a:noFill/>
          <a:ln/>
        </p:spPr>
        <p:txBody>
          <a:bodyPr wrap="square" lIns="0" tIns="0" rIns="0" bIns="0" rtlCol="0" anchor="t">
            <a:normAutofit/>
          </a:bodyPr>
          <a:lstStyle/>
          <a:p>
            <a:pPr algn="ctr" indent="0" marL="0">
              <a:lnSpc>
                <a:spcPct val="100000"/>
              </a:lnSpc>
              <a:buNone/>
            </a:pPr>
            <a:r>
              <a:rPr lang="en-US" sz="1950" b="1" dirty="0">
                <a:solidFill>
                  <a:srgbClr val="E8D7B4"/>
                </a:solidFill>
                <a:latin typeface="Georgia" pitchFamily="34" charset="0"/>
                <a:ea typeface="Georgia" pitchFamily="34" charset="-122"/>
                <a:cs typeface="Georgia" pitchFamily="34" charset="-120"/>
              </a:rPr>
              <a:t>Honest status reporting strengthens the project: the design is complete, while implementation remains incremental.</a:t>
            </a:r>
            <a:endParaRPr lang="en-US" sz="1950" dirty="0"/>
          </a:p>
        </p:txBody>
      </p:sp>
    </p:spTree>
  </p:cSld>
  <p:clrMapOvr>
    <a:masterClrMapping/>
  </p:clrMapOvr>
  <p:transition spd="med" advClick="1">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GoDrip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GoDrip — Database-driven fashion commerce</dc:title>
  <dc:subject>DBMS Project Presentation</dc:subject>
  <dc:creator>Sourav and Riyad</dc:creator>
  <cp:lastModifiedBy>Sourav and Riyad</cp:lastModifiedBy>
  <cp:revision>1</cp:revision>
  <dcterms:created xsi:type="dcterms:W3CDTF">2026-07-23T15:53:06Z</dcterms:created>
  <dcterms:modified xsi:type="dcterms:W3CDTF">2026-07-23T15:53:06Z</dcterms:modified>
</cp:coreProperties>
</file>